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01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pPr>
              <a:defRPr/>
            </a:pPr>
            <a:fld id="{79E3554D-594F-490F-9596-82753FF0AD6C}" type="datetimeFigureOut">
              <a:rPr lang="en-US" altLang="en-US" smtClean="0"/>
              <a:pPr>
                <a:defRPr/>
              </a:pPr>
              <a:t>8/17/2016</a:t>
            </a:fld>
            <a:endParaRPr lang="en-US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1B66FDF9-F7C9-4BBE-B09E-D2F3D8C4E59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1F2481-0CBC-450F-9718-F2815E66A05C}" type="datetimeFigureOut">
              <a:rPr lang="en-US" altLang="en-US" smtClean="0"/>
              <a:pPr>
                <a:defRPr/>
              </a:pPr>
              <a:t>8/17/2016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450E3F-B01D-4E35-AD95-C8714492A0D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1ABAA2-8FF7-455E-BAD8-E7328AAFBAF2}" type="datetimeFigureOut">
              <a:rPr lang="en-US" altLang="en-US" smtClean="0"/>
              <a:pPr>
                <a:defRPr/>
              </a:pPr>
              <a:t>8/17/2016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B67330-A025-4B63-B7BB-ADEC6C60B1D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2F2F14-6C16-45D0-A6A4-2611F7219DDD}" type="datetimeFigureOut">
              <a:rPr lang="en-US" altLang="en-US" smtClean="0"/>
              <a:pPr>
                <a:defRPr/>
              </a:pPr>
              <a:t>8/17/2016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50EFC-A43C-46DA-A57F-1AB1A1073F4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EE7C12-CD6A-46C0-A5A7-D9B8191671E9}" type="datetimeFigureOut">
              <a:rPr lang="en-US" altLang="en-US" smtClean="0"/>
              <a:pPr>
                <a:defRPr/>
              </a:pPr>
              <a:t>8/17/2016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EE050-3F43-4C19-8178-AD8B686BB64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D4569B-C410-4581-BCD4-C143C29801C2}" type="datetimeFigureOut">
              <a:rPr lang="en-US" altLang="en-US" smtClean="0"/>
              <a:pPr>
                <a:defRPr/>
              </a:pPr>
              <a:t>8/17/2016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9C64E-0588-4594-BC56-86FF0B64B4E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EEC300-DCF6-482D-8257-E4A4D697ADAA}" type="datetimeFigureOut">
              <a:rPr lang="en-US" altLang="en-US" smtClean="0"/>
              <a:pPr>
                <a:defRPr/>
              </a:pPr>
              <a:t>8/17/2016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89395-0496-4B45-93E2-8CA07822F14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29F1DB-1F8D-4E7F-8D80-79F24C604A0E}" type="datetimeFigureOut">
              <a:rPr lang="en-US" altLang="en-US" smtClean="0"/>
              <a:pPr>
                <a:defRPr/>
              </a:pPr>
              <a:t>8/17/2016</a:t>
            </a:fld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55E48-7383-42C7-9479-7B679E3D25E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40D3F6-D5B3-4F98-9821-F30D8FAC758D}" type="datetimeFigureOut">
              <a:rPr lang="en-US" altLang="en-US" smtClean="0"/>
              <a:pPr>
                <a:defRPr/>
              </a:pPr>
              <a:t>8/17/2016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65721F-B663-48D1-AA20-32BCB98A1C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C8AA28-4170-436F-AE00-04A70980DE3E}" type="datetimeFigureOut">
              <a:rPr lang="en-US" altLang="en-US" smtClean="0"/>
              <a:pPr>
                <a:defRPr/>
              </a:pPr>
              <a:t>8/17/2016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039F51-3A5A-4D46-92B1-D2D7172FFEC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D3D852-989D-4B4F-B621-B99BB7AA5B4F}" type="datetimeFigureOut">
              <a:rPr lang="en-US" altLang="en-US" smtClean="0"/>
              <a:pPr>
                <a:defRPr/>
              </a:pPr>
              <a:t>8/17/2016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55DADF-31B0-4EDF-B9BC-6B5566361B1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EF43E4D-3D33-4CC9-B39B-D1F08CBE3DC4}" type="datetimeFigureOut">
              <a:rPr lang="en-US" altLang="en-US" smtClean="0">
                <a:ea typeface="MS PGothic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8/17/2016</a:t>
            </a:fld>
            <a:endParaRPr lang="en-US" altLang="en-US">
              <a:ea typeface="MS PGothic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36543269-04D3-400B-9104-024D2CD8C354}" type="slidenum">
              <a:rPr lang="en-US" altLang="en-US" smtClean="0">
                <a:ea typeface="MS PGothic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Straight Arrow Connector 126"/>
          <p:cNvCxnSpPr/>
          <p:nvPr/>
        </p:nvCxnSpPr>
        <p:spPr>
          <a:xfrm>
            <a:off x="6934200" y="5265738"/>
            <a:ext cx="0" cy="509587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 bwMode="auto">
          <a:xfrm>
            <a:off x="706438" y="2513013"/>
            <a:ext cx="7991475" cy="9525"/>
          </a:xfrm>
          <a:prstGeom prst="line">
            <a:avLst/>
          </a:prstGeom>
          <a:ln w="12700" cmpd="sng">
            <a:solidFill>
              <a:srgbClr val="99BA82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>
            <a:off x="2671763" y="2035175"/>
            <a:ext cx="0" cy="781050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/>
          <p:nvPr/>
        </p:nvCxnSpPr>
        <p:spPr>
          <a:xfrm flipH="1">
            <a:off x="3738563" y="3563938"/>
            <a:ext cx="1587" cy="315912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>
            <a:endCxn id="50" idx="1"/>
          </p:cNvCxnSpPr>
          <p:nvPr/>
        </p:nvCxnSpPr>
        <p:spPr>
          <a:xfrm flipH="1">
            <a:off x="3736975" y="2959100"/>
            <a:ext cx="1588" cy="317500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>
            <a:off x="7259638" y="5994400"/>
            <a:ext cx="334962" cy="0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 bwMode="auto">
          <a:xfrm>
            <a:off x="703263" y="4467225"/>
            <a:ext cx="7994650" cy="0"/>
          </a:xfrm>
          <a:prstGeom prst="line">
            <a:avLst/>
          </a:prstGeom>
          <a:ln w="12700" cmpd="sng">
            <a:solidFill>
              <a:srgbClr val="99BA82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>
            <a:off x="5035550" y="5100638"/>
            <a:ext cx="406400" cy="0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>
            <a:off x="6196013" y="5100638"/>
            <a:ext cx="334962" cy="0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5045075" y="3883025"/>
            <a:ext cx="0" cy="884238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4110038" y="4106863"/>
            <a:ext cx="398462" cy="0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 bwMode="auto">
          <a:xfrm rot="5400000">
            <a:off x="-335756" y="5144294"/>
            <a:ext cx="1819275" cy="2460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457200">
              <a:defRPr/>
            </a:pPr>
            <a:r>
              <a:rPr lang="en-US" sz="1000" kern="1000" spc="50" dirty="0">
                <a:solidFill>
                  <a:prstClr val="white"/>
                </a:solidFill>
                <a:latin typeface="Arial"/>
                <a:ea typeface="MS PGothic" pitchFamily="34" charset="-128"/>
                <a:cs typeface="Arial"/>
              </a:rPr>
              <a:t>Coffee Mug</a:t>
            </a:r>
          </a:p>
        </p:txBody>
      </p:sp>
      <p:sp>
        <p:nvSpPr>
          <p:cNvPr id="31" name="Pentagon 4"/>
          <p:cNvSpPr/>
          <p:nvPr/>
        </p:nvSpPr>
        <p:spPr bwMode="auto">
          <a:xfrm rot="5400000">
            <a:off x="-1954212" y="3668713"/>
            <a:ext cx="5067300" cy="247650"/>
          </a:xfrm>
          <a:prstGeom prst="rect">
            <a:avLst/>
          </a:prstGeom>
          <a:solidFill>
            <a:srgbClr val="99BA82"/>
          </a:solidFill>
          <a:ln w="6350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4008" tIns="32004" rIns="16002" bIns="32004" spcCol="1270" anchor="ctr"/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endParaRPr lang="en-US" sz="1100" kern="10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cxnSp>
        <p:nvCxnSpPr>
          <p:cNvPr id="4110" name="Straight Arrow Connector 4109"/>
          <p:cNvCxnSpPr/>
          <p:nvPr/>
        </p:nvCxnSpPr>
        <p:spPr>
          <a:xfrm>
            <a:off x="1946275" y="1862138"/>
            <a:ext cx="360363" cy="0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>
            <a:off x="2849563" y="2952750"/>
            <a:ext cx="404812" cy="0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 bwMode="auto">
          <a:xfrm>
            <a:off x="455613" y="1258888"/>
            <a:ext cx="8242300" cy="5067300"/>
          </a:xfrm>
          <a:prstGeom prst="rect">
            <a:avLst/>
          </a:prstGeom>
          <a:noFill/>
          <a:ln w="12700" cmpd="sng">
            <a:solidFill>
              <a:srgbClr val="99BA8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4114" name="Group 10"/>
          <p:cNvGrpSpPr>
            <a:grpSpLocks/>
          </p:cNvGrpSpPr>
          <p:nvPr/>
        </p:nvGrpSpPr>
        <p:grpSpPr bwMode="auto">
          <a:xfrm>
            <a:off x="987425" y="1617663"/>
            <a:ext cx="958850" cy="460375"/>
            <a:chOff x="1210723" y="1589088"/>
            <a:chExt cx="1152247" cy="568325"/>
          </a:xfrm>
        </p:grpSpPr>
        <p:sp>
          <p:nvSpPr>
            <p:cNvPr id="24" name="Terminator 23"/>
            <p:cNvSpPr>
              <a:spLocks noChangeArrowheads="1"/>
            </p:cNvSpPr>
            <p:nvPr/>
          </p:nvSpPr>
          <p:spPr bwMode="auto">
            <a:xfrm>
              <a:off x="1210723" y="1589088"/>
              <a:ext cx="1152247" cy="568325"/>
            </a:xfrm>
            <a:prstGeom prst="flowChartTerminator">
              <a:avLst/>
            </a:prstGeom>
            <a:solidFill>
              <a:srgbClr val="99BA82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algn="tl" rotWithShape="0">
                <a:srgbClr val="68686D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 defTabSz="457200">
                <a:defRPr/>
              </a:pPr>
              <a:endParaRPr lang="en-US" sz="1600" kern="1000" spc="50" dirty="0">
                <a:solidFill>
                  <a:srgbClr val="D4D4D6">
                    <a:lumMod val="25000"/>
                  </a:srgbClr>
                </a:solidFill>
                <a:ea typeface="MS PGothic" pitchFamily="34" charset="-128"/>
              </a:endParaRPr>
            </a:p>
          </p:txBody>
        </p:sp>
        <p:sp>
          <p:nvSpPr>
            <p:cNvPr id="25" name="TextBox 24"/>
            <p:cNvSpPr txBox="1"/>
            <p:nvPr/>
          </p:nvSpPr>
          <p:spPr bwMode="auto">
            <a:xfrm>
              <a:off x="1210723" y="1700793"/>
              <a:ext cx="1152247" cy="31355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457200">
                <a:defRPr/>
              </a:pPr>
              <a:r>
                <a:rPr lang="en-US" sz="1100" dirty="0">
                  <a:solidFill>
                    <a:srgbClr val="D4D4D6">
                      <a:lumMod val="25000"/>
                    </a:srgbClr>
                  </a:solidFill>
                  <a:ea typeface="MS PGothic" pitchFamily="34" charset="-128"/>
                  <a:cs typeface="Arial"/>
                </a:rPr>
                <a:t>Start</a:t>
              </a:r>
            </a:p>
          </p:txBody>
        </p:sp>
      </p:grpSp>
      <p:sp>
        <p:nvSpPr>
          <p:cNvPr id="100" name="TextBox 99"/>
          <p:cNvSpPr txBox="1"/>
          <p:nvPr/>
        </p:nvSpPr>
        <p:spPr>
          <a:xfrm>
            <a:off x="468312" y="433388"/>
            <a:ext cx="86756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sz="2400" kern="1000" spc="50" dirty="0" smtClean="0">
                <a:solidFill>
                  <a:srgbClr val="68686D"/>
                </a:solidFill>
                <a:latin typeface="Arial"/>
                <a:ea typeface="MS PGothic" pitchFamily="34" charset="-128"/>
                <a:cs typeface="Arial"/>
              </a:rPr>
              <a:t>SERVICE FLOWCHART</a:t>
            </a:r>
            <a:endParaRPr lang="en-US" sz="2400" kern="1000" spc="50" dirty="0">
              <a:solidFill>
                <a:srgbClr val="68686D"/>
              </a:solidFill>
              <a:latin typeface="Arial"/>
              <a:ea typeface="MS PGothic" pitchFamily="34" charset="-128"/>
              <a:cs typeface="Arial"/>
            </a:endParaRPr>
          </a:p>
        </p:txBody>
      </p:sp>
      <p:grpSp>
        <p:nvGrpSpPr>
          <p:cNvPr id="4116" name="Group 33"/>
          <p:cNvGrpSpPr>
            <a:grpSpLocks/>
          </p:cNvGrpSpPr>
          <p:nvPr/>
        </p:nvGrpSpPr>
        <p:grpSpPr bwMode="auto">
          <a:xfrm>
            <a:off x="3192463" y="2671763"/>
            <a:ext cx="1116012" cy="411162"/>
            <a:chOff x="2605202" y="1589088"/>
            <a:chExt cx="1315486" cy="585583"/>
          </a:xfrm>
        </p:grpSpPr>
        <p:sp>
          <p:nvSpPr>
            <p:cNvPr id="54" name="Data 53"/>
            <p:cNvSpPr>
              <a:spLocks noChangeArrowheads="1"/>
            </p:cNvSpPr>
            <p:nvPr/>
          </p:nvSpPr>
          <p:spPr bwMode="auto">
            <a:xfrm>
              <a:off x="2605202" y="1589088"/>
              <a:ext cx="1315486" cy="585583"/>
            </a:xfrm>
            <a:prstGeom prst="flowChartInputOutput">
              <a:avLst/>
            </a:prstGeom>
            <a:solidFill>
              <a:srgbClr val="78C9BA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rotWithShape="0">
                <a:srgbClr val="68686D">
                  <a:alpha val="34998"/>
                </a:srgbClr>
              </a:outerShdw>
            </a:effectLst>
          </p:spPr>
          <p:txBody>
            <a:bodyPr/>
            <a:lstStyle/>
            <a:p>
              <a:pPr defTabSz="457200">
                <a:defRPr/>
              </a:pPr>
              <a:endParaRPr lang="en-US" dirty="0">
                <a:solidFill>
                  <a:prstClr val="white"/>
                </a:solidFill>
                <a:ea typeface="MS PGothic" pitchFamily="34" charset="-128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698764" y="1684048"/>
              <a:ext cx="1122748" cy="37305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457200">
                <a:defRPr/>
              </a:pPr>
              <a:r>
                <a:rPr lang="en-US" sz="1100" dirty="0">
                  <a:solidFill>
                    <a:srgbClr val="343437"/>
                  </a:solidFill>
                  <a:ea typeface="MS PGothic" pitchFamily="34" charset="-128"/>
                  <a:cs typeface="Arial"/>
                </a:rPr>
                <a:t>Add Filter</a:t>
              </a:r>
            </a:p>
          </p:txBody>
        </p:sp>
      </p:grpSp>
      <p:grpSp>
        <p:nvGrpSpPr>
          <p:cNvPr id="4117" name="Group 7"/>
          <p:cNvGrpSpPr>
            <a:grpSpLocks/>
          </p:cNvGrpSpPr>
          <p:nvPr/>
        </p:nvGrpSpPr>
        <p:grpSpPr bwMode="auto">
          <a:xfrm>
            <a:off x="2306638" y="1617663"/>
            <a:ext cx="1003300" cy="461962"/>
            <a:chOff x="2815951" y="3195159"/>
            <a:chExt cx="1227889" cy="564041"/>
          </a:xfrm>
        </p:grpSpPr>
        <p:sp>
          <p:nvSpPr>
            <p:cNvPr id="63" name="Process 62"/>
            <p:cNvSpPr>
              <a:spLocks noChangeArrowheads="1"/>
            </p:cNvSpPr>
            <p:nvPr/>
          </p:nvSpPr>
          <p:spPr bwMode="auto">
            <a:xfrm>
              <a:off x="2815951" y="3195159"/>
              <a:ext cx="1227889" cy="564041"/>
            </a:xfrm>
            <a:prstGeom prst="flowChartProcess">
              <a:avLst/>
            </a:prstGeom>
            <a:solidFill>
              <a:srgbClr val="759FAB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algn="tl" rotWithShape="0">
                <a:srgbClr val="68686D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 defTabSz="457200">
                <a:defRPr/>
              </a:pPr>
              <a:endParaRPr lang="en-US" dirty="0">
                <a:solidFill>
                  <a:prstClr val="white"/>
                </a:solidFill>
                <a:ea typeface="MS PGothic" pitchFamily="34" charset="-128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815951" y="3295950"/>
              <a:ext cx="1227889" cy="33338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457200">
                <a:defRPr/>
              </a:pPr>
              <a:r>
                <a:rPr lang="en-US" sz="1100" dirty="0">
                  <a:solidFill>
                    <a:srgbClr val="343437"/>
                  </a:solidFill>
                  <a:ea typeface="MS PGothic" pitchFamily="34" charset="-128"/>
                  <a:cs typeface="Arial"/>
                </a:rPr>
                <a:t>Grind Beans</a:t>
              </a:r>
            </a:p>
          </p:txBody>
        </p:sp>
      </p:grpSp>
      <p:grpSp>
        <p:nvGrpSpPr>
          <p:cNvPr id="4118" name="Group 15"/>
          <p:cNvGrpSpPr>
            <a:grpSpLocks/>
          </p:cNvGrpSpPr>
          <p:nvPr/>
        </p:nvGrpSpPr>
        <p:grpSpPr bwMode="auto">
          <a:xfrm>
            <a:off x="4413250" y="4743450"/>
            <a:ext cx="804863" cy="663575"/>
            <a:chOff x="4316407" y="3111455"/>
            <a:chExt cx="1231925" cy="695878"/>
          </a:xfrm>
        </p:grpSpPr>
        <p:sp>
          <p:nvSpPr>
            <p:cNvPr id="75" name="Manual Input 74"/>
            <p:cNvSpPr>
              <a:spLocks noChangeArrowheads="1"/>
            </p:cNvSpPr>
            <p:nvPr/>
          </p:nvSpPr>
          <p:spPr bwMode="auto">
            <a:xfrm>
              <a:off x="4316407" y="3111455"/>
              <a:ext cx="1231925" cy="695878"/>
            </a:xfrm>
            <a:prstGeom prst="flowChartManualInput">
              <a:avLst/>
            </a:prstGeom>
            <a:solidFill>
              <a:srgbClr val="78C9BA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rotWithShape="0">
                <a:srgbClr val="68686D">
                  <a:alpha val="34998"/>
                </a:srgbClr>
              </a:outerShdw>
            </a:effectLst>
          </p:spPr>
          <p:txBody>
            <a:bodyPr/>
            <a:lstStyle/>
            <a:p>
              <a:pPr defTabSz="457200">
                <a:defRPr/>
              </a:pPr>
              <a:endParaRPr lang="en-US" dirty="0">
                <a:solidFill>
                  <a:prstClr val="white"/>
                </a:solidFill>
                <a:ea typeface="MS PGothic" pitchFamily="34" charset="-128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316407" y="3337865"/>
              <a:ext cx="1231925" cy="27468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457200">
                <a:defRPr/>
              </a:pPr>
              <a:r>
                <a:rPr lang="en-US" sz="1100" dirty="0">
                  <a:solidFill>
                    <a:prstClr val="black">
                      <a:lumMod val="75000"/>
                      <a:lumOff val="25000"/>
                    </a:prstClr>
                  </a:solidFill>
                  <a:ea typeface="MS PGothic" pitchFamily="34" charset="-128"/>
                  <a:cs typeface="Arial"/>
                </a:rPr>
                <a:t>Pour</a:t>
              </a:r>
            </a:p>
          </p:txBody>
        </p:sp>
      </p:grpSp>
      <p:grpSp>
        <p:nvGrpSpPr>
          <p:cNvPr id="4119" name="Group 45"/>
          <p:cNvGrpSpPr>
            <a:grpSpLocks/>
          </p:cNvGrpSpPr>
          <p:nvPr/>
        </p:nvGrpSpPr>
        <p:grpSpPr bwMode="auto">
          <a:xfrm>
            <a:off x="4605338" y="3178175"/>
            <a:ext cx="879475" cy="685800"/>
            <a:chOff x="4360901" y="5526437"/>
            <a:chExt cx="1133551" cy="953578"/>
          </a:xfrm>
        </p:grpSpPr>
        <p:sp>
          <p:nvSpPr>
            <p:cNvPr id="84" name="Extract 83"/>
            <p:cNvSpPr>
              <a:spLocks noChangeArrowheads="1"/>
            </p:cNvSpPr>
            <p:nvPr/>
          </p:nvSpPr>
          <p:spPr bwMode="auto">
            <a:xfrm rot="10800000">
              <a:off x="4360901" y="5526437"/>
              <a:ext cx="1133551" cy="953578"/>
            </a:xfrm>
            <a:prstGeom prst="flowChartExtract">
              <a:avLst/>
            </a:prstGeom>
            <a:solidFill>
              <a:srgbClr val="E8A26C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rotWithShape="0">
                <a:srgbClr val="68686D">
                  <a:alpha val="34998"/>
                </a:srgbClr>
              </a:outerShdw>
            </a:effectLst>
          </p:spPr>
          <p:txBody>
            <a:bodyPr/>
            <a:lstStyle/>
            <a:p>
              <a:pPr defTabSz="457200">
                <a:defRPr/>
              </a:pPr>
              <a:endParaRPr lang="en-US" dirty="0">
                <a:solidFill>
                  <a:prstClr val="white"/>
                </a:solidFill>
                <a:ea typeface="MS PGothic" pitchFamily="34" charset="-128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414100" y="5652257"/>
              <a:ext cx="1031245" cy="32227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457200">
                <a:lnSpc>
                  <a:spcPct val="80000"/>
                </a:lnSpc>
                <a:defRPr/>
              </a:pPr>
              <a:r>
                <a:rPr lang="en-US" sz="1100" dirty="0">
                  <a:solidFill>
                    <a:srgbClr val="343437"/>
                  </a:solidFill>
                  <a:ea typeface="MS PGothic" pitchFamily="34" charset="-128"/>
                  <a:cs typeface="Arial"/>
                </a:rPr>
                <a:t>Brew</a:t>
              </a:r>
            </a:p>
          </p:txBody>
        </p:sp>
      </p:grpSp>
      <p:grpSp>
        <p:nvGrpSpPr>
          <p:cNvPr id="4120" name="Group 46"/>
          <p:cNvGrpSpPr>
            <a:grpSpLocks/>
          </p:cNvGrpSpPr>
          <p:nvPr/>
        </p:nvGrpSpPr>
        <p:grpSpPr bwMode="auto">
          <a:xfrm>
            <a:off x="1936750" y="2816225"/>
            <a:ext cx="912813" cy="555625"/>
            <a:chOff x="6000368" y="4823306"/>
            <a:chExt cx="975904" cy="966191"/>
          </a:xfrm>
        </p:grpSpPr>
        <p:sp>
          <p:nvSpPr>
            <p:cNvPr id="89" name="Document 88"/>
            <p:cNvSpPr>
              <a:spLocks noChangeArrowheads="1"/>
            </p:cNvSpPr>
            <p:nvPr/>
          </p:nvSpPr>
          <p:spPr bwMode="auto">
            <a:xfrm>
              <a:off x="6010551" y="4823306"/>
              <a:ext cx="965721" cy="966191"/>
            </a:xfrm>
            <a:prstGeom prst="flowChartDocument">
              <a:avLst/>
            </a:prstGeom>
            <a:solidFill>
              <a:srgbClr val="99BA82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rotWithShape="0">
                <a:srgbClr val="68686D">
                  <a:alpha val="34998"/>
                </a:srgbClr>
              </a:outerShdw>
            </a:effectLst>
          </p:spPr>
          <p:txBody>
            <a:bodyPr/>
            <a:lstStyle/>
            <a:p>
              <a:pPr defTabSz="457200">
                <a:defRPr/>
              </a:pPr>
              <a:endParaRPr lang="en-US" dirty="0">
                <a:solidFill>
                  <a:prstClr val="white"/>
                </a:solidFill>
                <a:ea typeface="MS PGothic" pitchFamily="34" charset="-128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000368" y="4867475"/>
              <a:ext cx="965721" cy="51070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457200">
                <a:lnSpc>
                  <a:spcPct val="90000"/>
                </a:lnSpc>
                <a:defRPr/>
              </a:pPr>
              <a:r>
                <a:rPr lang="en-US" sz="1100" dirty="0">
                  <a:solidFill>
                    <a:prstClr val="black">
                      <a:lumMod val="75000"/>
                      <a:lumOff val="25000"/>
                    </a:prstClr>
                  </a:solidFill>
                  <a:ea typeface="MS PGothic" pitchFamily="34" charset="-128"/>
                  <a:cs typeface="Arial"/>
                </a:rPr>
                <a:t>Read </a:t>
              </a:r>
              <a:br>
                <a:rPr lang="en-US" sz="1100" dirty="0">
                  <a:solidFill>
                    <a:prstClr val="black">
                      <a:lumMod val="75000"/>
                      <a:lumOff val="25000"/>
                    </a:prstClr>
                  </a:solidFill>
                  <a:ea typeface="MS PGothic" pitchFamily="34" charset="-128"/>
                  <a:cs typeface="Arial"/>
                </a:rPr>
              </a:br>
              <a:r>
                <a:rPr lang="en-US" sz="1100" dirty="0">
                  <a:solidFill>
                    <a:prstClr val="black">
                      <a:lumMod val="75000"/>
                      <a:lumOff val="25000"/>
                    </a:prstClr>
                  </a:solidFill>
                  <a:ea typeface="MS PGothic" pitchFamily="34" charset="-128"/>
                  <a:cs typeface="Arial"/>
                </a:rPr>
                <a:t>Instructions</a:t>
              </a:r>
            </a:p>
          </p:txBody>
        </p:sp>
      </p:grpSp>
      <p:grpSp>
        <p:nvGrpSpPr>
          <p:cNvPr id="4121" name="Group 32"/>
          <p:cNvGrpSpPr>
            <a:grpSpLocks/>
          </p:cNvGrpSpPr>
          <p:nvPr/>
        </p:nvGrpSpPr>
        <p:grpSpPr bwMode="auto">
          <a:xfrm>
            <a:off x="6530975" y="4699000"/>
            <a:ext cx="811213" cy="800100"/>
            <a:chOff x="5847090" y="1304054"/>
            <a:chExt cx="1163752" cy="1147920"/>
          </a:xfrm>
        </p:grpSpPr>
        <p:sp>
          <p:nvSpPr>
            <p:cNvPr id="98" name="Decision 97"/>
            <p:cNvSpPr>
              <a:spLocks noChangeArrowheads="1"/>
            </p:cNvSpPr>
            <p:nvPr/>
          </p:nvSpPr>
          <p:spPr bwMode="auto">
            <a:xfrm>
              <a:off x="5847090" y="1304054"/>
              <a:ext cx="1150088" cy="1147920"/>
            </a:xfrm>
            <a:prstGeom prst="flowChartDecision">
              <a:avLst/>
            </a:prstGeom>
            <a:solidFill>
              <a:srgbClr val="C25552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algn="tl" rotWithShape="0">
                <a:srgbClr val="68686D">
                  <a:alpha val="34998"/>
                </a:srgbClr>
              </a:outerShdw>
            </a:effectLst>
          </p:spPr>
          <p:txBody>
            <a:bodyPr/>
            <a:lstStyle/>
            <a:p>
              <a:pPr algn="ctr" defTabSz="457200">
                <a:defRPr/>
              </a:pPr>
              <a:endParaRPr lang="en-US" dirty="0">
                <a:solidFill>
                  <a:prstClr val="white"/>
                </a:solidFill>
                <a:ea typeface="MS PGothic" pitchFamily="34" charset="-128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860754" y="1661641"/>
              <a:ext cx="1150088" cy="37353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457200">
                <a:defRPr/>
              </a:pPr>
              <a:r>
                <a:rPr lang="en-US" sz="1100" dirty="0">
                  <a:solidFill>
                    <a:srgbClr val="D4D4D6">
                      <a:lumMod val="25000"/>
                    </a:srgbClr>
                  </a:solidFill>
                  <a:ea typeface="MS PGothic" pitchFamily="34" charset="-128"/>
                  <a:cs typeface="Arial"/>
                </a:rPr>
                <a:t>Cream</a:t>
              </a:r>
            </a:p>
          </p:txBody>
        </p:sp>
      </p:grpSp>
      <p:sp>
        <p:nvSpPr>
          <p:cNvPr id="114" name="TextBox 113"/>
          <p:cNvSpPr txBox="1"/>
          <p:nvPr/>
        </p:nvSpPr>
        <p:spPr bwMode="auto">
          <a:xfrm rot="5400000">
            <a:off x="-47625" y="1762126"/>
            <a:ext cx="1254125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457200">
              <a:defRPr/>
            </a:pPr>
            <a:r>
              <a:rPr lang="en-US" sz="1000" kern="1000" spc="50" dirty="0">
                <a:solidFill>
                  <a:prstClr val="white"/>
                </a:solidFill>
                <a:latin typeface="Arial"/>
                <a:ea typeface="MS PGothic" pitchFamily="34" charset="-128"/>
                <a:cs typeface="Arial"/>
              </a:rPr>
              <a:t>Coffee Grinder</a:t>
            </a:r>
          </a:p>
        </p:txBody>
      </p:sp>
      <p:cxnSp>
        <p:nvCxnSpPr>
          <p:cNvPr id="155" name="Straight Arrow Connector 154"/>
          <p:cNvCxnSpPr/>
          <p:nvPr/>
        </p:nvCxnSpPr>
        <p:spPr>
          <a:xfrm flipV="1">
            <a:off x="5891213" y="5978525"/>
            <a:ext cx="519112" cy="0"/>
          </a:xfrm>
          <a:prstGeom prst="straightConnector1">
            <a:avLst/>
          </a:prstGeom>
          <a:ln w="12700" cmpd="sng">
            <a:solidFill>
              <a:srgbClr val="C25552"/>
            </a:solidFill>
            <a:prstDash val="dot"/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3000375" y="2071688"/>
            <a:ext cx="393700" cy="2301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D4D4D6">
                    <a:lumMod val="75000"/>
                  </a:srgbClr>
                </a:solidFill>
                <a:ea typeface="ＭＳ Ｐゴシック" charset="0"/>
                <a:cs typeface="Arial"/>
              </a:rPr>
              <a:t>Task</a:t>
            </a:r>
            <a:endParaRPr lang="en-US" sz="900" dirty="0">
              <a:solidFill>
                <a:srgbClr val="D4D4D6">
                  <a:lumMod val="75000"/>
                </a:srgbClr>
              </a:solidFill>
              <a:ea typeface="ＭＳ Ｐゴシック" charset="0"/>
              <a:cs typeface="Arial" charset="0"/>
            </a:endParaRPr>
          </a:p>
        </p:txBody>
      </p:sp>
      <p:sp>
        <p:nvSpPr>
          <p:cNvPr id="128" name="Pentagon 127"/>
          <p:cNvSpPr/>
          <p:nvPr/>
        </p:nvSpPr>
        <p:spPr>
          <a:xfrm rot="5400000">
            <a:off x="488950" y="2465388"/>
            <a:ext cx="173037" cy="261938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71" name="Pentagon 170"/>
          <p:cNvSpPr/>
          <p:nvPr/>
        </p:nvSpPr>
        <p:spPr>
          <a:xfrm rot="5400000">
            <a:off x="490538" y="4421188"/>
            <a:ext cx="173037" cy="261937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127" name="Rectangle 47"/>
          <p:cNvSpPr>
            <a:spLocks noChangeArrowheads="1"/>
          </p:cNvSpPr>
          <p:nvPr/>
        </p:nvSpPr>
        <p:spPr bwMode="auto">
          <a:xfrm>
            <a:off x="2266950" y="3314700"/>
            <a:ext cx="674688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solidFill>
                  <a:srgbClr val="9D9DA2"/>
                </a:solidFill>
                <a:ea typeface="MS PGothic" pitchFamily="34" charset="-128"/>
              </a:rPr>
              <a:t>Document</a:t>
            </a:r>
          </a:p>
        </p:txBody>
      </p:sp>
      <p:grpSp>
        <p:nvGrpSpPr>
          <p:cNvPr id="4128" name="Group 48"/>
          <p:cNvGrpSpPr>
            <a:grpSpLocks/>
          </p:cNvGrpSpPr>
          <p:nvPr/>
        </p:nvGrpSpPr>
        <p:grpSpPr bwMode="auto">
          <a:xfrm>
            <a:off x="3179763" y="3276600"/>
            <a:ext cx="1116012" cy="409575"/>
            <a:chOff x="2605202" y="1589088"/>
            <a:chExt cx="1315486" cy="585583"/>
          </a:xfrm>
        </p:grpSpPr>
        <p:sp>
          <p:nvSpPr>
            <p:cNvPr id="50" name="Data 49"/>
            <p:cNvSpPr>
              <a:spLocks noChangeArrowheads="1"/>
            </p:cNvSpPr>
            <p:nvPr/>
          </p:nvSpPr>
          <p:spPr bwMode="auto">
            <a:xfrm>
              <a:off x="2605202" y="1589088"/>
              <a:ext cx="1315486" cy="585583"/>
            </a:xfrm>
            <a:prstGeom prst="flowChartInputOutput">
              <a:avLst/>
            </a:prstGeom>
            <a:solidFill>
              <a:srgbClr val="78C9BA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rotWithShape="0">
                <a:srgbClr val="68686D">
                  <a:alpha val="34998"/>
                </a:srgbClr>
              </a:outerShdw>
            </a:effectLst>
          </p:spPr>
          <p:txBody>
            <a:bodyPr/>
            <a:lstStyle/>
            <a:p>
              <a:pPr defTabSz="457200">
                <a:defRPr/>
              </a:pPr>
              <a:endParaRPr lang="en-US" dirty="0">
                <a:solidFill>
                  <a:prstClr val="white"/>
                </a:solidFill>
                <a:ea typeface="MS PGothic" pitchFamily="34" charset="-128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698764" y="1684415"/>
              <a:ext cx="1122748" cy="37223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457200">
                <a:defRPr/>
              </a:pPr>
              <a:r>
                <a:rPr lang="en-US" sz="1100" dirty="0">
                  <a:solidFill>
                    <a:srgbClr val="343437"/>
                  </a:solidFill>
                  <a:ea typeface="MS PGothic" pitchFamily="34" charset="-128"/>
                  <a:cs typeface="Arial"/>
                </a:rPr>
                <a:t>Add Coffee</a:t>
              </a:r>
            </a:p>
          </p:txBody>
        </p:sp>
      </p:grpSp>
      <p:grpSp>
        <p:nvGrpSpPr>
          <p:cNvPr id="4129" name="Group 51"/>
          <p:cNvGrpSpPr>
            <a:grpSpLocks/>
          </p:cNvGrpSpPr>
          <p:nvPr/>
        </p:nvGrpSpPr>
        <p:grpSpPr bwMode="auto">
          <a:xfrm>
            <a:off x="3154363" y="3881438"/>
            <a:ext cx="1116012" cy="411162"/>
            <a:chOff x="2605202" y="1589088"/>
            <a:chExt cx="1315486" cy="585583"/>
          </a:xfrm>
        </p:grpSpPr>
        <p:sp>
          <p:nvSpPr>
            <p:cNvPr id="53" name="Data 52"/>
            <p:cNvSpPr>
              <a:spLocks noChangeArrowheads="1"/>
            </p:cNvSpPr>
            <p:nvPr/>
          </p:nvSpPr>
          <p:spPr bwMode="auto">
            <a:xfrm>
              <a:off x="2605202" y="1589088"/>
              <a:ext cx="1315486" cy="585583"/>
            </a:xfrm>
            <a:prstGeom prst="flowChartInputOutput">
              <a:avLst/>
            </a:prstGeom>
            <a:solidFill>
              <a:srgbClr val="78C9BA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rotWithShape="0">
                <a:srgbClr val="68686D">
                  <a:alpha val="34998"/>
                </a:srgbClr>
              </a:outerShdw>
            </a:effectLst>
          </p:spPr>
          <p:txBody>
            <a:bodyPr/>
            <a:lstStyle/>
            <a:p>
              <a:pPr defTabSz="457200">
                <a:defRPr/>
              </a:pPr>
              <a:endParaRPr lang="en-US" dirty="0">
                <a:solidFill>
                  <a:prstClr val="white"/>
                </a:solidFill>
                <a:ea typeface="MS PGothic" pitchFamily="34" charset="-128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685665" y="1684048"/>
              <a:ext cx="1120877" cy="37305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457200">
                <a:defRPr/>
              </a:pPr>
              <a:r>
                <a:rPr lang="en-US" sz="1100" dirty="0">
                  <a:solidFill>
                    <a:srgbClr val="343437"/>
                  </a:solidFill>
                  <a:ea typeface="MS PGothic" pitchFamily="34" charset="-128"/>
                  <a:cs typeface="Arial"/>
                </a:rPr>
                <a:t>Add Water</a:t>
              </a:r>
            </a:p>
          </p:txBody>
        </p:sp>
      </p:grpSp>
      <p:sp>
        <p:nvSpPr>
          <p:cNvPr id="4130" name="Rectangle 56"/>
          <p:cNvSpPr>
            <a:spLocks noChangeArrowheads="1"/>
          </p:cNvSpPr>
          <p:nvPr/>
        </p:nvSpPr>
        <p:spPr bwMode="auto">
          <a:xfrm>
            <a:off x="3929063" y="3070225"/>
            <a:ext cx="436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solidFill>
                  <a:srgbClr val="9D9DA2"/>
                </a:solidFill>
                <a:ea typeface="MS PGothic" pitchFamily="34" charset="-128"/>
              </a:rPr>
              <a:t>Inputs</a:t>
            </a:r>
          </a:p>
        </p:txBody>
      </p:sp>
      <p:sp>
        <p:nvSpPr>
          <p:cNvPr id="4131" name="Rectangle 57"/>
          <p:cNvSpPr>
            <a:spLocks noChangeArrowheads="1"/>
          </p:cNvSpPr>
          <p:nvPr/>
        </p:nvSpPr>
        <p:spPr bwMode="auto">
          <a:xfrm>
            <a:off x="3894138" y="3673475"/>
            <a:ext cx="436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solidFill>
                  <a:srgbClr val="9D9DA2"/>
                </a:solidFill>
                <a:ea typeface="MS PGothic" pitchFamily="34" charset="-128"/>
              </a:rPr>
              <a:t>Inputs</a:t>
            </a:r>
          </a:p>
        </p:txBody>
      </p:sp>
      <p:grpSp>
        <p:nvGrpSpPr>
          <p:cNvPr id="4132" name="Group 59"/>
          <p:cNvGrpSpPr>
            <a:grpSpLocks/>
          </p:cNvGrpSpPr>
          <p:nvPr/>
        </p:nvGrpSpPr>
        <p:grpSpPr bwMode="auto">
          <a:xfrm>
            <a:off x="7610475" y="5762625"/>
            <a:ext cx="869950" cy="401638"/>
            <a:chOff x="1210724" y="1589088"/>
            <a:chExt cx="1165100" cy="568325"/>
          </a:xfrm>
        </p:grpSpPr>
        <p:sp>
          <p:nvSpPr>
            <p:cNvPr id="61" name="Terminator 60"/>
            <p:cNvSpPr>
              <a:spLocks noChangeArrowheads="1"/>
            </p:cNvSpPr>
            <p:nvPr/>
          </p:nvSpPr>
          <p:spPr bwMode="auto">
            <a:xfrm>
              <a:off x="1210724" y="1589088"/>
              <a:ext cx="1152343" cy="568325"/>
            </a:xfrm>
            <a:prstGeom prst="flowChartTerminator">
              <a:avLst/>
            </a:prstGeom>
            <a:solidFill>
              <a:srgbClr val="99BA82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algn="tl" rotWithShape="0">
                <a:srgbClr val="68686D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 defTabSz="457200">
                <a:defRPr/>
              </a:pPr>
              <a:endParaRPr lang="en-US" sz="1600" kern="1000" spc="50" dirty="0">
                <a:solidFill>
                  <a:srgbClr val="D4D4D6">
                    <a:lumMod val="25000"/>
                  </a:srgbClr>
                </a:solidFill>
                <a:ea typeface="MS PGothic" pitchFamily="34" charset="-128"/>
              </a:endParaRPr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1223481" y="1672203"/>
              <a:ext cx="1152343" cy="3144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457200">
                <a:defRPr/>
              </a:pPr>
              <a:r>
                <a:rPr lang="en-US" sz="1100" dirty="0">
                  <a:solidFill>
                    <a:srgbClr val="D4D4D6">
                      <a:lumMod val="25000"/>
                    </a:srgbClr>
                  </a:solidFill>
                  <a:ea typeface="MS PGothic" pitchFamily="34" charset="-128"/>
                  <a:cs typeface="Arial"/>
                </a:rPr>
                <a:t>Finish</a:t>
              </a:r>
            </a:p>
          </p:txBody>
        </p:sp>
      </p:grpSp>
      <p:sp>
        <p:nvSpPr>
          <p:cNvPr id="65" name="TextBox 64"/>
          <p:cNvSpPr txBox="1"/>
          <p:nvPr/>
        </p:nvSpPr>
        <p:spPr bwMode="auto">
          <a:xfrm rot="5400000">
            <a:off x="-400843" y="3380581"/>
            <a:ext cx="1962150" cy="2460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457200">
              <a:defRPr/>
            </a:pPr>
            <a:r>
              <a:rPr lang="en-US" sz="1000" kern="1000" spc="50" dirty="0">
                <a:solidFill>
                  <a:prstClr val="white"/>
                </a:solidFill>
                <a:latin typeface="Arial"/>
                <a:ea typeface="MS PGothic" pitchFamily="34" charset="-128"/>
                <a:cs typeface="Arial"/>
              </a:rPr>
              <a:t>Coffee Pot</a:t>
            </a:r>
          </a:p>
        </p:txBody>
      </p:sp>
      <p:sp>
        <p:nvSpPr>
          <p:cNvPr id="66" name="TextBox 65"/>
          <p:cNvSpPr txBox="1"/>
          <p:nvPr/>
        </p:nvSpPr>
        <p:spPr bwMode="auto">
          <a:xfrm rot="5400000">
            <a:off x="-319087" y="5295900"/>
            <a:ext cx="1817688" cy="242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457200">
              <a:defRPr/>
            </a:pPr>
            <a:r>
              <a:rPr lang="en-US" sz="1000" kern="1000" spc="50" dirty="0">
                <a:solidFill>
                  <a:prstClr val="white"/>
                </a:solidFill>
                <a:latin typeface="Arial"/>
                <a:ea typeface="MS PGothic" pitchFamily="34" charset="-128"/>
                <a:cs typeface="Arial"/>
              </a:rPr>
              <a:t>Coffee Mug</a:t>
            </a:r>
          </a:p>
        </p:txBody>
      </p:sp>
      <p:grpSp>
        <p:nvGrpSpPr>
          <p:cNvPr id="4135" name="Group 67"/>
          <p:cNvGrpSpPr>
            <a:grpSpLocks/>
          </p:cNvGrpSpPr>
          <p:nvPr/>
        </p:nvGrpSpPr>
        <p:grpSpPr bwMode="auto">
          <a:xfrm>
            <a:off x="5451475" y="4697413"/>
            <a:ext cx="811213" cy="800100"/>
            <a:chOff x="5847090" y="1304054"/>
            <a:chExt cx="1163752" cy="1147920"/>
          </a:xfrm>
        </p:grpSpPr>
        <p:sp>
          <p:nvSpPr>
            <p:cNvPr id="69" name="Decision 68"/>
            <p:cNvSpPr>
              <a:spLocks noChangeArrowheads="1"/>
            </p:cNvSpPr>
            <p:nvPr/>
          </p:nvSpPr>
          <p:spPr bwMode="auto">
            <a:xfrm>
              <a:off x="5847090" y="1304054"/>
              <a:ext cx="1150088" cy="1147920"/>
            </a:xfrm>
            <a:prstGeom prst="flowChartDecision">
              <a:avLst/>
            </a:prstGeom>
            <a:solidFill>
              <a:srgbClr val="C25552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algn="tl" rotWithShape="0">
                <a:srgbClr val="68686D">
                  <a:alpha val="34998"/>
                </a:srgbClr>
              </a:outerShdw>
            </a:effectLst>
          </p:spPr>
          <p:txBody>
            <a:bodyPr/>
            <a:lstStyle/>
            <a:p>
              <a:pPr algn="ctr" defTabSz="457200">
                <a:defRPr/>
              </a:pPr>
              <a:endParaRPr lang="en-US" dirty="0">
                <a:solidFill>
                  <a:prstClr val="white"/>
                </a:solidFill>
                <a:ea typeface="MS PGothic" pitchFamily="34" charset="-128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860754" y="1661639"/>
              <a:ext cx="1150088" cy="37353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457200">
                <a:defRPr/>
              </a:pPr>
              <a:r>
                <a:rPr lang="en-US" sz="1100" dirty="0">
                  <a:solidFill>
                    <a:srgbClr val="D4D4D6">
                      <a:lumMod val="25000"/>
                    </a:srgbClr>
                  </a:solidFill>
                  <a:ea typeface="MS PGothic" pitchFamily="34" charset="-128"/>
                  <a:cs typeface="Arial"/>
                </a:rPr>
                <a:t>Sugar</a:t>
              </a:r>
            </a:p>
          </p:txBody>
        </p:sp>
      </p:grpSp>
      <p:grpSp>
        <p:nvGrpSpPr>
          <p:cNvPr id="4136" name="Group 70"/>
          <p:cNvGrpSpPr>
            <a:grpSpLocks/>
          </p:cNvGrpSpPr>
          <p:nvPr/>
        </p:nvGrpSpPr>
        <p:grpSpPr bwMode="auto">
          <a:xfrm>
            <a:off x="6410325" y="5775325"/>
            <a:ext cx="938213" cy="381000"/>
            <a:chOff x="2815951" y="3195159"/>
            <a:chExt cx="1227889" cy="564041"/>
          </a:xfrm>
        </p:grpSpPr>
        <p:sp>
          <p:nvSpPr>
            <p:cNvPr id="72" name="Process 71"/>
            <p:cNvSpPr>
              <a:spLocks noChangeArrowheads="1"/>
            </p:cNvSpPr>
            <p:nvPr/>
          </p:nvSpPr>
          <p:spPr bwMode="auto">
            <a:xfrm>
              <a:off x="2815951" y="3195159"/>
              <a:ext cx="1227889" cy="564041"/>
            </a:xfrm>
            <a:prstGeom prst="flowChartProcess">
              <a:avLst/>
            </a:prstGeom>
            <a:solidFill>
              <a:srgbClr val="759FAB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algn="tl" rotWithShape="0">
                <a:srgbClr val="68686D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 defTabSz="457200">
                <a:defRPr/>
              </a:pPr>
              <a:endParaRPr lang="en-US" dirty="0">
                <a:solidFill>
                  <a:prstClr val="white"/>
                </a:solidFill>
                <a:ea typeface="MS PGothic" pitchFamily="34" charset="-128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815951" y="3282116"/>
              <a:ext cx="1227889" cy="38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457200">
                <a:defRPr/>
              </a:pPr>
              <a:r>
                <a:rPr lang="en-US" sz="1100" dirty="0">
                  <a:solidFill>
                    <a:srgbClr val="343437"/>
                  </a:solidFill>
                  <a:ea typeface="MS PGothic" pitchFamily="34" charset="-128"/>
                  <a:cs typeface="Arial"/>
                </a:rPr>
                <a:t>Drink</a:t>
              </a:r>
            </a:p>
          </p:txBody>
        </p:sp>
      </p:grpSp>
      <p:sp>
        <p:nvSpPr>
          <p:cNvPr id="4137" name="Rectangle 73"/>
          <p:cNvSpPr>
            <a:spLocks noChangeArrowheads="1"/>
          </p:cNvSpPr>
          <p:nvPr/>
        </p:nvSpPr>
        <p:spPr bwMode="auto">
          <a:xfrm>
            <a:off x="7038975" y="5578475"/>
            <a:ext cx="39052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solidFill>
                  <a:srgbClr val="9D9DA2"/>
                </a:solidFill>
                <a:ea typeface="MS PGothic" pitchFamily="34" charset="-128"/>
              </a:rPr>
              <a:t>Task</a:t>
            </a:r>
          </a:p>
        </p:txBody>
      </p:sp>
      <p:sp>
        <p:nvSpPr>
          <p:cNvPr id="4138" name="Rectangle 81"/>
          <p:cNvSpPr>
            <a:spLocks noChangeArrowheads="1"/>
          </p:cNvSpPr>
          <p:nvPr/>
        </p:nvSpPr>
        <p:spPr bwMode="auto">
          <a:xfrm>
            <a:off x="4508500" y="5413375"/>
            <a:ext cx="804863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solidFill>
                  <a:srgbClr val="9D9DA2"/>
                </a:solidFill>
                <a:ea typeface="MS PGothic" pitchFamily="34" charset="-128"/>
              </a:rPr>
              <a:t>Manual Input</a:t>
            </a:r>
          </a:p>
        </p:txBody>
      </p:sp>
      <p:sp>
        <p:nvSpPr>
          <p:cNvPr id="4139" name="Rectangle 82"/>
          <p:cNvSpPr>
            <a:spLocks noChangeArrowheads="1"/>
          </p:cNvSpPr>
          <p:nvPr/>
        </p:nvSpPr>
        <p:spPr bwMode="auto">
          <a:xfrm>
            <a:off x="5562600" y="4503738"/>
            <a:ext cx="58102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solidFill>
                  <a:srgbClr val="9D9DA2"/>
                </a:solidFill>
                <a:ea typeface="MS PGothic" pitchFamily="34" charset="-128"/>
              </a:rPr>
              <a:t>Decision</a:t>
            </a:r>
          </a:p>
        </p:txBody>
      </p:sp>
      <p:sp>
        <p:nvSpPr>
          <p:cNvPr id="4140" name="Rectangle 85"/>
          <p:cNvSpPr>
            <a:spLocks noChangeArrowheads="1"/>
          </p:cNvSpPr>
          <p:nvPr/>
        </p:nvSpPr>
        <p:spPr bwMode="auto">
          <a:xfrm>
            <a:off x="6634163" y="4503738"/>
            <a:ext cx="58102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solidFill>
                  <a:srgbClr val="9D9DA2"/>
                </a:solidFill>
                <a:ea typeface="MS PGothic" pitchFamily="34" charset="-128"/>
              </a:rPr>
              <a:t>Decision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70475" y="2967038"/>
            <a:ext cx="508000" cy="2095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D4D4D6">
                    <a:lumMod val="75000"/>
                  </a:srgbClr>
                </a:solidFill>
                <a:ea typeface="ＭＳ Ｐゴシック" charset="0"/>
                <a:cs typeface="Arial"/>
              </a:rPr>
              <a:t>Merge</a:t>
            </a:r>
            <a:endParaRPr lang="en-US" sz="900" dirty="0">
              <a:solidFill>
                <a:srgbClr val="D4D4D6">
                  <a:lumMod val="75000"/>
                </a:srgbClr>
              </a:solidFill>
              <a:ea typeface="ＭＳ Ｐゴシック" charset="0"/>
              <a:cs typeface="Arial" charset="0"/>
            </a:endParaRPr>
          </a:p>
        </p:txBody>
      </p:sp>
      <p:cxnSp>
        <p:nvCxnSpPr>
          <p:cNvPr id="112" name="Straight Arrow Connector 111"/>
          <p:cNvCxnSpPr/>
          <p:nvPr/>
        </p:nvCxnSpPr>
        <p:spPr>
          <a:xfrm>
            <a:off x="5854700" y="5513388"/>
            <a:ext cx="0" cy="481012"/>
          </a:xfrm>
          <a:prstGeom prst="straightConnector1">
            <a:avLst/>
          </a:prstGeom>
          <a:ln w="12700" cmpd="sng">
            <a:solidFill>
              <a:srgbClr val="C25552"/>
            </a:solidFill>
            <a:prstDash val="dot"/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 flipH="1">
            <a:off x="6054725" y="5265738"/>
            <a:ext cx="579438" cy="666750"/>
          </a:xfrm>
          <a:prstGeom prst="straightConnector1">
            <a:avLst/>
          </a:prstGeom>
          <a:ln w="12700" cmpd="sng">
            <a:solidFill>
              <a:srgbClr val="C25552"/>
            </a:solidFill>
            <a:prstDash val="dot"/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5813425" y="5497513"/>
            <a:ext cx="319088" cy="2301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D4D4D6">
                    <a:lumMod val="25000"/>
                  </a:srgbClr>
                </a:solidFill>
                <a:ea typeface="ＭＳ Ｐゴシック" charset="0"/>
                <a:cs typeface="Arial"/>
              </a:rPr>
              <a:t>No</a:t>
            </a:r>
            <a:endParaRPr lang="en-US" sz="900" dirty="0">
              <a:solidFill>
                <a:srgbClr val="D4D4D6">
                  <a:lumMod val="25000"/>
                </a:srgbClr>
              </a:solidFill>
              <a:ea typeface="ＭＳ Ｐゴシック" charset="0"/>
              <a:cs typeface="Arial" charset="0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6484938" y="5299075"/>
            <a:ext cx="319087" cy="230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D4D4D6">
                    <a:lumMod val="25000"/>
                  </a:srgbClr>
                </a:solidFill>
                <a:ea typeface="ＭＳ Ｐゴシック" charset="0"/>
                <a:cs typeface="Arial"/>
              </a:rPr>
              <a:t>No</a:t>
            </a:r>
            <a:endParaRPr lang="en-US" sz="900" dirty="0">
              <a:solidFill>
                <a:srgbClr val="D4D4D6">
                  <a:lumMod val="25000"/>
                </a:srgbClr>
              </a:solidFill>
              <a:ea typeface="ＭＳ Ｐゴシック" charset="0"/>
              <a:cs typeface="Arial" charset="0"/>
            </a:endParaRPr>
          </a:p>
        </p:txBody>
      </p:sp>
      <p:cxnSp>
        <p:nvCxnSpPr>
          <p:cNvPr id="144" name="Straight Arrow Connector 143"/>
          <p:cNvCxnSpPr/>
          <p:nvPr/>
        </p:nvCxnSpPr>
        <p:spPr>
          <a:xfrm>
            <a:off x="4508500" y="2882900"/>
            <a:ext cx="0" cy="1223963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>
            <a:off x="4521200" y="3511550"/>
            <a:ext cx="306388" cy="0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6132513" y="4854575"/>
            <a:ext cx="360362" cy="2460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dirty="0">
                <a:solidFill>
                  <a:srgbClr val="D4D4D6">
                    <a:lumMod val="50000"/>
                  </a:srgbClr>
                </a:solidFill>
                <a:ea typeface="ＭＳ Ｐゴシック" charset="0"/>
                <a:cs typeface="Arial"/>
              </a:rPr>
              <a:t>Yes</a:t>
            </a:r>
            <a:endParaRPr lang="en-US" sz="1000" dirty="0">
              <a:solidFill>
                <a:srgbClr val="D4D4D6">
                  <a:lumMod val="50000"/>
                </a:srgbClr>
              </a:solidFill>
              <a:ea typeface="ＭＳ Ｐゴシック" charset="0"/>
              <a:cs typeface="Arial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6924675" y="5367338"/>
            <a:ext cx="360363" cy="2444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dirty="0">
                <a:solidFill>
                  <a:srgbClr val="D4D4D6">
                    <a:lumMod val="50000"/>
                  </a:srgbClr>
                </a:solidFill>
                <a:ea typeface="ＭＳ Ｐゴシック" charset="0"/>
                <a:cs typeface="Arial"/>
              </a:rPr>
              <a:t>Yes</a:t>
            </a:r>
            <a:endParaRPr lang="en-US" sz="1000" dirty="0">
              <a:solidFill>
                <a:srgbClr val="D4D4D6">
                  <a:lumMod val="50000"/>
                </a:srgbClr>
              </a:solidFill>
              <a:ea typeface="ＭＳ Ｐゴシック" charset="0"/>
              <a:cs typeface="Arial" charset="0"/>
            </a:endParaRP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4178300" y="3511550"/>
            <a:ext cx="330200" cy="0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4200525" y="2882900"/>
            <a:ext cx="307975" cy="0"/>
          </a:xfrm>
          <a:prstGeom prst="straightConnector1">
            <a:avLst/>
          </a:prstGeom>
          <a:ln w="12700" cmpd="sng">
            <a:solidFill>
              <a:srgbClr val="68686D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41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</TotalTime>
  <Words>40</Words>
  <Application>Microsoft Office PowerPoint</Application>
  <PresentationFormat>On-screen Show (4:3)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ＭＳ Ｐゴシック</vt:lpstr>
      <vt:lpstr>ＭＳ Ｐゴシック</vt:lpstr>
      <vt:lpstr>Arial</vt:lpstr>
      <vt:lpstr>Century Gothic</vt:lpstr>
      <vt:lpstr>Wingdings 2</vt:lpstr>
      <vt:lpstr>Austin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2016-08-14T21:31:23Z</dcterms:created>
  <dcterms:modified xsi:type="dcterms:W3CDTF">2016-08-17T01:03:37Z</dcterms:modified>
</cp:coreProperties>
</file>