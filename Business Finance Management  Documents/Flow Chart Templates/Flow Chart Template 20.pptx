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7E388-5C31-46C4-AB9B-ED165AA6661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FB880-4735-4362-8D6B-213E6DCC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8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01380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Process strategies</a:t>
            </a:r>
          </a:p>
        </p:txBody>
      </p:sp>
      <p:sp>
        <p:nvSpPr>
          <p:cNvPr id="101381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MGT 301</a:t>
            </a:r>
          </a:p>
        </p:txBody>
      </p:sp>
      <p:sp>
        <p:nvSpPr>
          <p:cNvPr id="101382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Ch 7</a:t>
            </a:r>
          </a:p>
        </p:txBody>
      </p:sp>
      <p:sp>
        <p:nvSpPr>
          <p:cNvPr id="101383" name="Slide Number Placeholder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6B9F43CB-AEDC-4522-A6AA-A402A055108D}" type="slidenum"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50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hidden">
          <a:xfrm rot="16200000">
            <a:off x="5590381" y="-1424781"/>
            <a:ext cx="1722438" cy="4572000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13" name="Picture 11" descr="Facban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41148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9A46D83-0A0C-4CE4-A153-ED8329A5BDF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046881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27FD9-639D-4D3C-8AC5-64DA914ADCB5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909334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24417-F499-43D1-86EC-701BEACD43F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911512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174FE-F82F-4A0D-9E6C-0B3500A2A88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922370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01927-A634-4F04-AA1F-5EC23F74179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596423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B29971-A831-44BA-BB0C-B06287A2EE7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2915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BD5190-99D8-4C03-B87C-8A30CA0441D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16263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9F20A-ADA5-4E08-8746-85CEA3C402D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49308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C8C5B-C336-4774-A7EF-7E9135BED45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780527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9A592-7344-4CDA-9C9A-94717856D23D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82036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3048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B76F78-F89F-458D-A617-A46458A3F71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079531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05F17-F5CD-49C2-8957-A83346E7994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609214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24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422400" y="38100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9B6F6-6866-4D8E-8DE9-09CBC2831CD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72431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422400" y="16764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62E98-C115-4A21-A568-70461B23250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39899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0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1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2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3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8" name="Picture 10" descr="Facbann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6764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73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8398CF-1905-4762-A4CF-B039352649CB}" type="slidenum">
              <a:rPr lang="en-US">
                <a:solidFill>
                  <a:srgbClr val="EBD1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98603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3148013" y="4408489"/>
            <a:ext cx="1306512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3141663" y="4414838"/>
            <a:ext cx="13208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3133725" y="4424363"/>
            <a:ext cx="1335088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3125788" y="4433889"/>
            <a:ext cx="1350962" cy="34448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3148013" y="3603626"/>
            <a:ext cx="1306512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3141663" y="3608389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3133725" y="3621088"/>
            <a:ext cx="1335088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3125788" y="3629026"/>
            <a:ext cx="1350962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3148013" y="2795588"/>
            <a:ext cx="1306512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141663" y="2805114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3133725" y="2816225"/>
            <a:ext cx="1335088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3125788" y="2825751"/>
            <a:ext cx="1350962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3148013" y="1966913"/>
            <a:ext cx="1306512" cy="3730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141663" y="1976439"/>
            <a:ext cx="1320800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3133725" y="1985963"/>
            <a:ext cx="1335088" cy="3746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7" name="Rectangle 17"/>
          <p:cNvSpPr>
            <a:spLocks noChangeArrowheads="1"/>
          </p:cNvSpPr>
          <p:nvPr/>
        </p:nvSpPr>
        <p:spPr bwMode="auto">
          <a:xfrm>
            <a:off x="3125788" y="1992314"/>
            <a:ext cx="1350962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8" name="Rectangle 18"/>
          <p:cNvSpPr>
            <a:spLocks noChangeArrowheads="1"/>
          </p:cNvSpPr>
          <p:nvPr/>
        </p:nvSpPr>
        <p:spPr bwMode="auto">
          <a:xfrm>
            <a:off x="4667250" y="3603626"/>
            <a:ext cx="1308100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4662488" y="3608389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4654550" y="3621088"/>
            <a:ext cx="13335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1" name="Rectangle 21"/>
          <p:cNvSpPr>
            <a:spLocks noChangeArrowheads="1"/>
          </p:cNvSpPr>
          <p:nvPr/>
        </p:nvSpPr>
        <p:spPr bwMode="auto">
          <a:xfrm>
            <a:off x="4648200" y="3629026"/>
            <a:ext cx="1347788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2" name="Rectangle 22"/>
          <p:cNvSpPr>
            <a:spLocks noChangeArrowheads="1"/>
          </p:cNvSpPr>
          <p:nvPr/>
        </p:nvSpPr>
        <p:spPr bwMode="auto">
          <a:xfrm>
            <a:off x="4667250" y="2795588"/>
            <a:ext cx="1308100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3" name="Rectangle 23"/>
          <p:cNvSpPr>
            <a:spLocks noChangeArrowheads="1"/>
          </p:cNvSpPr>
          <p:nvPr/>
        </p:nvSpPr>
        <p:spPr bwMode="auto">
          <a:xfrm>
            <a:off x="4662488" y="2805114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4" name="Rectangle 24"/>
          <p:cNvSpPr>
            <a:spLocks noChangeArrowheads="1"/>
          </p:cNvSpPr>
          <p:nvPr/>
        </p:nvSpPr>
        <p:spPr bwMode="auto">
          <a:xfrm>
            <a:off x="4654550" y="2816225"/>
            <a:ext cx="1333500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4648200" y="2825751"/>
            <a:ext cx="1347788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6" name="Rectangle 26"/>
          <p:cNvSpPr>
            <a:spLocks noChangeArrowheads="1"/>
          </p:cNvSpPr>
          <p:nvPr/>
        </p:nvSpPr>
        <p:spPr bwMode="auto">
          <a:xfrm>
            <a:off x="6188075" y="3603626"/>
            <a:ext cx="1308100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7" name="Rectangle 27"/>
          <p:cNvSpPr>
            <a:spLocks noChangeArrowheads="1"/>
          </p:cNvSpPr>
          <p:nvPr/>
        </p:nvSpPr>
        <p:spPr bwMode="auto">
          <a:xfrm>
            <a:off x="6181725" y="3608389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8" name="Rectangle 28"/>
          <p:cNvSpPr>
            <a:spLocks noChangeArrowheads="1"/>
          </p:cNvSpPr>
          <p:nvPr/>
        </p:nvSpPr>
        <p:spPr bwMode="auto">
          <a:xfrm>
            <a:off x="6173789" y="3621088"/>
            <a:ext cx="1335087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89" name="Rectangle 29"/>
          <p:cNvSpPr>
            <a:spLocks noChangeArrowheads="1"/>
          </p:cNvSpPr>
          <p:nvPr/>
        </p:nvSpPr>
        <p:spPr bwMode="auto">
          <a:xfrm>
            <a:off x="6169025" y="3629026"/>
            <a:ext cx="1347788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0" name="Rectangle 30"/>
          <p:cNvSpPr>
            <a:spLocks noChangeArrowheads="1"/>
          </p:cNvSpPr>
          <p:nvPr/>
        </p:nvSpPr>
        <p:spPr bwMode="auto">
          <a:xfrm>
            <a:off x="6188075" y="2795588"/>
            <a:ext cx="1308100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1" name="Rectangle 31"/>
          <p:cNvSpPr>
            <a:spLocks noChangeArrowheads="1"/>
          </p:cNvSpPr>
          <p:nvPr/>
        </p:nvSpPr>
        <p:spPr bwMode="auto">
          <a:xfrm>
            <a:off x="6181725" y="2805114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6173789" y="2816225"/>
            <a:ext cx="1335087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3" name="Rectangle 33"/>
          <p:cNvSpPr>
            <a:spLocks noChangeArrowheads="1"/>
          </p:cNvSpPr>
          <p:nvPr/>
        </p:nvSpPr>
        <p:spPr bwMode="auto">
          <a:xfrm>
            <a:off x="6169025" y="2825751"/>
            <a:ext cx="1347788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4" name="Rectangle 34"/>
          <p:cNvSpPr>
            <a:spLocks noChangeArrowheads="1"/>
          </p:cNvSpPr>
          <p:nvPr/>
        </p:nvSpPr>
        <p:spPr bwMode="auto">
          <a:xfrm>
            <a:off x="5427663" y="1966913"/>
            <a:ext cx="1308100" cy="3730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5" name="Rectangle 35"/>
          <p:cNvSpPr>
            <a:spLocks noChangeArrowheads="1"/>
          </p:cNvSpPr>
          <p:nvPr/>
        </p:nvSpPr>
        <p:spPr bwMode="auto">
          <a:xfrm>
            <a:off x="5421313" y="1976439"/>
            <a:ext cx="1320800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5414964" y="1985963"/>
            <a:ext cx="1335087" cy="3746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5407025" y="1992314"/>
            <a:ext cx="1347788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6948488" y="4408489"/>
            <a:ext cx="1308100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0999" name="Rectangle 39"/>
          <p:cNvSpPr>
            <a:spLocks noChangeArrowheads="1"/>
          </p:cNvSpPr>
          <p:nvPr/>
        </p:nvSpPr>
        <p:spPr bwMode="auto">
          <a:xfrm>
            <a:off x="6940550" y="4414838"/>
            <a:ext cx="13208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0" name="Rectangle 40"/>
          <p:cNvSpPr>
            <a:spLocks noChangeArrowheads="1"/>
          </p:cNvSpPr>
          <p:nvPr/>
        </p:nvSpPr>
        <p:spPr bwMode="auto">
          <a:xfrm>
            <a:off x="6935788" y="4424363"/>
            <a:ext cx="13335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6927850" y="4433889"/>
            <a:ext cx="1347788" cy="34448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2" name="Rectangle 42"/>
          <p:cNvSpPr>
            <a:spLocks noChangeArrowheads="1"/>
          </p:cNvSpPr>
          <p:nvPr/>
        </p:nvSpPr>
        <p:spPr bwMode="auto">
          <a:xfrm>
            <a:off x="8469313" y="4408489"/>
            <a:ext cx="1306512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3" name="Rectangle 43"/>
          <p:cNvSpPr>
            <a:spLocks noChangeArrowheads="1"/>
          </p:cNvSpPr>
          <p:nvPr/>
        </p:nvSpPr>
        <p:spPr bwMode="auto">
          <a:xfrm>
            <a:off x="8461375" y="4414838"/>
            <a:ext cx="13208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4" name="Rectangle 44"/>
          <p:cNvSpPr>
            <a:spLocks noChangeArrowheads="1"/>
          </p:cNvSpPr>
          <p:nvPr/>
        </p:nvSpPr>
        <p:spPr bwMode="auto">
          <a:xfrm>
            <a:off x="8455025" y="4424363"/>
            <a:ext cx="1335088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8447088" y="4433889"/>
            <a:ext cx="1350962" cy="34448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6" name="Rectangle 46"/>
          <p:cNvSpPr>
            <a:spLocks noChangeArrowheads="1"/>
          </p:cNvSpPr>
          <p:nvPr/>
        </p:nvSpPr>
        <p:spPr bwMode="auto">
          <a:xfrm>
            <a:off x="7707313" y="3603626"/>
            <a:ext cx="1308100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7" name="Rectangle 47"/>
          <p:cNvSpPr>
            <a:spLocks noChangeArrowheads="1"/>
          </p:cNvSpPr>
          <p:nvPr/>
        </p:nvSpPr>
        <p:spPr bwMode="auto">
          <a:xfrm>
            <a:off x="7702550" y="3608389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8" name="Rectangle 48"/>
          <p:cNvSpPr>
            <a:spLocks noChangeArrowheads="1"/>
          </p:cNvSpPr>
          <p:nvPr/>
        </p:nvSpPr>
        <p:spPr bwMode="auto">
          <a:xfrm>
            <a:off x="7694613" y="3621088"/>
            <a:ext cx="1333500" cy="3476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09" name="Rectangle 49"/>
          <p:cNvSpPr>
            <a:spLocks noChangeArrowheads="1"/>
          </p:cNvSpPr>
          <p:nvPr/>
        </p:nvSpPr>
        <p:spPr bwMode="auto">
          <a:xfrm>
            <a:off x="7688264" y="3629026"/>
            <a:ext cx="1349375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0" name="Rectangle 50"/>
          <p:cNvSpPr>
            <a:spLocks noChangeArrowheads="1"/>
          </p:cNvSpPr>
          <p:nvPr/>
        </p:nvSpPr>
        <p:spPr bwMode="auto">
          <a:xfrm>
            <a:off x="7707313" y="2795588"/>
            <a:ext cx="1308100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1" name="Rectangle 51"/>
          <p:cNvSpPr>
            <a:spLocks noChangeArrowheads="1"/>
          </p:cNvSpPr>
          <p:nvPr/>
        </p:nvSpPr>
        <p:spPr bwMode="auto">
          <a:xfrm>
            <a:off x="7702550" y="2805114"/>
            <a:ext cx="1320800" cy="3508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2" name="Rectangle 52"/>
          <p:cNvSpPr>
            <a:spLocks noChangeArrowheads="1"/>
          </p:cNvSpPr>
          <p:nvPr/>
        </p:nvSpPr>
        <p:spPr bwMode="auto">
          <a:xfrm>
            <a:off x="7694613" y="2816225"/>
            <a:ext cx="1333500" cy="3492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3" name="Rectangle 53"/>
          <p:cNvSpPr>
            <a:spLocks noChangeArrowheads="1"/>
          </p:cNvSpPr>
          <p:nvPr/>
        </p:nvSpPr>
        <p:spPr bwMode="auto">
          <a:xfrm>
            <a:off x="7688264" y="2825751"/>
            <a:ext cx="1349375" cy="346075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4" name="Rectangle 54"/>
          <p:cNvSpPr>
            <a:spLocks noChangeArrowheads="1"/>
          </p:cNvSpPr>
          <p:nvPr/>
        </p:nvSpPr>
        <p:spPr bwMode="auto">
          <a:xfrm>
            <a:off x="7707313" y="1966913"/>
            <a:ext cx="1308100" cy="373062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5" name="Rectangle 55"/>
          <p:cNvSpPr>
            <a:spLocks noChangeArrowheads="1"/>
          </p:cNvSpPr>
          <p:nvPr/>
        </p:nvSpPr>
        <p:spPr bwMode="auto">
          <a:xfrm>
            <a:off x="7702550" y="1976439"/>
            <a:ext cx="1320800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6" name="Rectangle 56"/>
          <p:cNvSpPr>
            <a:spLocks noChangeArrowheads="1"/>
          </p:cNvSpPr>
          <p:nvPr/>
        </p:nvSpPr>
        <p:spPr bwMode="auto">
          <a:xfrm>
            <a:off x="7694613" y="1985963"/>
            <a:ext cx="1333500" cy="3746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7" name="Rectangle 57"/>
          <p:cNvSpPr>
            <a:spLocks noChangeArrowheads="1"/>
          </p:cNvSpPr>
          <p:nvPr/>
        </p:nvSpPr>
        <p:spPr bwMode="auto">
          <a:xfrm>
            <a:off x="7688264" y="1992314"/>
            <a:ext cx="1349375" cy="376237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8" name="Rectangle 58"/>
          <p:cNvSpPr>
            <a:spLocks noChangeArrowheads="1"/>
          </p:cNvSpPr>
          <p:nvPr/>
        </p:nvSpPr>
        <p:spPr bwMode="auto">
          <a:xfrm>
            <a:off x="5797550" y="1143000"/>
            <a:ext cx="1322388" cy="376238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19" name="Rectangle 59"/>
          <p:cNvSpPr>
            <a:spLocks noChangeArrowheads="1"/>
          </p:cNvSpPr>
          <p:nvPr/>
        </p:nvSpPr>
        <p:spPr bwMode="auto">
          <a:xfrm>
            <a:off x="5789614" y="1152525"/>
            <a:ext cx="1336675" cy="374650"/>
          </a:xfrm>
          <a:prstGeom prst="rect">
            <a:avLst/>
          </a:prstGeom>
          <a:noFill/>
          <a:ln w="10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20" name="Rectangle 60"/>
          <p:cNvSpPr>
            <a:spLocks noChangeArrowheads="1"/>
          </p:cNvSpPr>
          <p:nvPr/>
        </p:nvSpPr>
        <p:spPr bwMode="auto">
          <a:xfrm>
            <a:off x="5791201" y="1143001"/>
            <a:ext cx="1349375" cy="373063"/>
          </a:xfrm>
          <a:prstGeom prst="rect">
            <a:avLst/>
          </a:prstGeom>
          <a:solidFill>
            <a:schemeClr val="tx1"/>
          </a:solidFill>
          <a:ln w="101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21" name="Line 61"/>
          <p:cNvSpPr>
            <a:spLocks noChangeShapeType="1"/>
          </p:cNvSpPr>
          <p:nvPr/>
        </p:nvSpPr>
        <p:spPr bwMode="auto">
          <a:xfrm>
            <a:off x="6459539" y="1500189"/>
            <a:ext cx="3175" cy="244475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2" name="Line 62"/>
          <p:cNvSpPr>
            <a:spLocks noChangeShapeType="1"/>
          </p:cNvSpPr>
          <p:nvPr/>
        </p:nvSpPr>
        <p:spPr bwMode="auto">
          <a:xfrm>
            <a:off x="3802064" y="1744664"/>
            <a:ext cx="1587" cy="21113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3" name="Line 63"/>
          <p:cNvSpPr>
            <a:spLocks noChangeShapeType="1"/>
          </p:cNvSpPr>
          <p:nvPr/>
        </p:nvSpPr>
        <p:spPr bwMode="auto">
          <a:xfrm>
            <a:off x="6081714" y="1744664"/>
            <a:ext cx="3175" cy="21113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4" name="Line 64"/>
          <p:cNvSpPr>
            <a:spLocks noChangeShapeType="1"/>
          </p:cNvSpPr>
          <p:nvPr/>
        </p:nvSpPr>
        <p:spPr bwMode="auto">
          <a:xfrm>
            <a:off x="8361364" y="1744664"/>
            <a:ext cx="1587" cy="21113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5" name="Line 65"/>
          <p:cNvSpPr>
            <a:spLocks noChangeShapeType="1"/>
          </p:cNvSpPr>
          <p:nvPr/>
        </p:nvSpPr>
        <p:spPr bwMode="auto">
          <a:xfrm>
            <a:off x="3802063" y="1744663"/>
            <a:ext cx="2279650" cy="47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6" name="Line 66"/>
          <p:cNvSpPr>
            <a:spLocks noChangeShapeType="1"/>
          </p:cNvSpPr>
          <p:nvPr/>
        </p:nvSpPr>
        <p:spPr bwMode="auto">
          <a:xfrm>
            <a:off x="6081714" y="1744663"/>
            <a:ext cx="377825" cy="47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7" name="Line 67"/>
          <p:cNvSpPr>
            <a:spLocks noChangeShapeType="1"/>
          </p:cNvSpPr>
          <p:nvPr/>
        </p:nvSpPr>
        <p:spPr bwMode="auto">
          <a:xfrm>
            <a:off x="6459539" y="1744663"/>
            <a:ext cx="1901825" cy="47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8" name="Line 68"/>
          <p:cNvSpPr>
            <a:spLocks noChangeShapeType="1"/>
          </p:cNvSpPr>
          <p:nvPr/>
        </p:nvSpPr>
        <p:spPr bwMode="auto">
          <a:xfrm>
            <a:off x="3802064" y="2332038"/>
            <a:ext cx="1587" cy="457200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29" name="Line 69"/>
          <p:cNvSpPr>
            <a:spLocks noChangeShapeType="1"/>
          </p:cNvSpPr>
          <p:nvPr/>
        </p:nvSpPr>
        <p:spPr bwMode="auto">
          <a:xfrm>
            <a:off x="3802064" y="3135313"/>
            <a:ext cx="1587" cy="45561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30" name="Line 70"/>
          <p:cNvSpPr>
            <a:spLocks noChangeShapeType="1"/>
          </p:cNvSpPr>
          <p:nvPr/>
        </p:nvSpPr>
        <p:spPr bwMode="auto">
          <a:xfrm>
            <a:off x="3802064" y="3941764"/>
            <a:ext cx="1587" cy="45243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31" name="Rectangle 71"/>
          <p:cNvSpPr>
            <a:spLocks noChangeArrowheads="1"/>
          </p:cNvSpPr>
          <p:nvPr/>
        </p:nvSpPr>
        <p:spPr bwMode="auto">
          <a:xfrm>
            <a:off x="3154363" y="4394200"/>
            <a:ext cx="1295400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2" name="Rectangle 72"/>
          <p:cNvSpPr>
            <a:spLocks noChangeArrowheads="1"/>
          </p:cNvSpPr>
          <p:nvPr/>
        </p:nvSpPr>
        <p:spPr bwMode="auto">
          <a:xfrm>
            <a:off x="3154363" y="4394200"/>
            <a:ext cx="1295400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3" name="Rectangle 73"/>
          <p:cNvSpPr>
            <a:spLocks noChangeArrowheads="1"/>
          </p:cNvSpPr>
          <p:nvPr/>
        </p:nvSpPr>
        <p:spPr bwMode="auto">
          <a:xfrm>
            <a:off x="3154363" y="3590925"/>
            <a:ext cx="1295400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4" name="Rectangle 74"/>
          <p:cNvSpPr>
            <a:spLocks noChangeArrowheads="1"/>
          </p:cNvSpPr>
          <p:nvPr/>
        </p:nvSpPr>
        <p:spPr bwMode="auto">
          <a:xfrm>
            <a:off x="3154363" y="3590925"/>
            <a:ext cx="1295400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5" name="Rectangle 75"/>
          <p:cNvSpPr>
            <a:spLocks noChangeArrowheads="1"/>
          </p:cNvSpPr>
          <p:nvPr/>
        </p:nvSpPr>
        <p:spPr bwMode="auto">
          <a:xfrm>
            <a:off x="3154363" y="2789239"/>
            <a:ext cx="1295400" cy="3460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6" name="Rectangle 76"/>
          <p:cNvSpPr>
            <a:spLocks noChangeArrowheads="1"/>
          </p:cNvSpPr>
          <p:nvPr/>
        </p:nvSpPr>
        <p:spPr bwMode="auto">
          <a:xfrm>
            <a:off x="3154363" y="2789239"/>
            <a:ext cx="1295400" cy="346075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7" name="Rectangle 77"/>
          <p:cNvSpPr>
            <a:spLocks noChangeArrowheads="1"/>
          </p:cNvSpPr>
          <p:nvPr/>
        </p:nvSpPr>
        <p:spPr bwMode="auto">
          <a:xfrm>
            <a:off x="3154363" y="1955800"/>
            <a:ext cx="1295400" cy="3762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38" name="Rectangle 78"/>
          <p:cNvSpPr>
            <a:spLocks noChangeArrowheads="1"/>
          </p:cNvSpPr>
          <p:nvPr/>
        </p:nvSpPr>
        <p:spPr bwMode="auto">
          <a:xfrm>
            <a:off x="3319463" y="1978025"/>
            <a:ext cx="1041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Marketing</a:t>
            </a:r>
            <a:endParaRPr lang="en-US" sz="1800" dirty="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9" name="Rectangle 79"/>
          <p:cNvSpPr>
            <a:spLocks noChangeArrowheads="1"/>
          </p:cNvSpPr>
          <p:nvPr/>
        </p:nvSpPr>
        <p:spPr bwMode="auto">
          <a:xfrm>
            <a:off x="3154363" y="1955800"/>
            <a:ext cx="1295400" cy="3762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40" name="Line 80"/>
          <p:cNvSpPr>
            <a:spLocks noChangeShapeType="1"/>
          </p:cNvSpPr>
          <p:nvPr/>
        </p:nvSpPr>
        <p:spPr bwMode="auto">
          <a:xfrm>
            <a:off x="6081714" y="2332038"/>
            <a:ext cx="3175" cy="2460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1" name="Line 81"/>
          <p:cNvSpPr>
            <a:spLocks noChangeShapeType="1"/>
          </p:cNvSpPr>
          <p:nvPr/>
        </p:nvSpPr>
        <p:spPr bwMode="auto">
          <a:xfrm>
            <a:off x="5321300" y="2578100"/>
            <a:ext cx="1588" cy="211138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2" name="Line 82"/>
          <p:cNvSpPr>
            <a:spLocks noChangeShapeType="1"/>
          </p:cNvSpPr>
          <p:nvPr/>
        </p:nvSpPr>
        <p:spPr bwMode="auto">
          <a:xfrm>
            <a:off x="6842125" y="2578100"/>
            <a:ext cx="1588" cy="211138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3" name="Line 83"/>
          <p:cNvSpPr>
            <a:spLocks noChangeShapeType="1"/>
          </p:cNvSpPr>
          <p:nvPr/>
        </p:nvSpPr>
        <p:spPr bwMode="auto">
          <a:xfrm>
            <a:off x="5321301" y="2578101"/>
            <a:ext cx="760413" cy="3175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4" name="Line 84"/>
          <p:cNvSpPr>
            <a:spLocks noChangeShapeType="1"/>
          </p:cNvSpPr>
          <p:nvPr/>
        </p:nvSpPr>
        <p:spPr bwMode="auto">
          <a:xfrm>
            <a:off x="6081713" y="2578101"/>
            <a:ext cx="760412" cy="3175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5" name="Line 85"/>
          <p:cNvSpPr>
            <a:spLocks noChangeShapeType="1"/>
          </p:cNvSpPr>
          <p:nvPr/>
        </p:nvSpPr>
        <p:spPr bwMode="auto">
          <a:xfrm>
            <a:off x="5321300" y="3135313"/>
            <a:ext cx="1588" cy="45561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46" name="Rectangle 86"/>
          <p:cNvSpPr>
            <a:spLocks noChangeArrowheads="1"/>
          </p:cNvSpPr>
          <p:nvPr/>
        </p:nvSpPr>
        <p:spPr bwMode="auto">
          <a:xfrm>
            <a:off x="4675188" y="3590925"/>
            <a:ext cx="1293812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47" name="Rectangle 87"/>
          <p:cNvSpPr>
            <a:spLocks noChangeArrowheads="1"/>
          </p:cNvSpPr>
          <p:nvPr/>
        </p:nvSpPr>
        <p:spPr bwMode="auto">
          <a:xfrm>
            <a:off x="4675188" y="3590925"/>
            <a:ext cx="1293812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48" name="Rectangle 88"/>
          <p:cNvSpPr>
            <a:spLocks noChangeArrowheads="1"/>
          </p:cNvSpPr>
          <p:nvPr/>
        </p:nvSpPr>
        <p:spPr bwMode="auto">
          <a:xfrm>
            <a:off x="4675188" y="2789239"/>
            <a:ext cx="1293812" cy="3460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49" name="Rectangle 89"/>
          <p:cNvSpPr>
            <a:spLocks noChangeArrowheads="1"/>
          </p:cNvSpPr>
          <p:nvPr/>
        </p:nvSpPr>
        <p:spPr bwMode="auto">
          <a:xfrm>
            <a:off x="4675188" y="2789239"/>
            <a:ext cx="1293812" cy="346075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0" name="Line 90"/>
          <p:cNvSpPr>
            <a:spLocks noChangeShapeType="1"/>
          </p:cNvSpPr>
          <p:nvPr/>
        </p:nvSpPr>
        <p:spPr bwMode="auto">
          <a:xfrm>
            <a:off x="6842125" y="3135313"/>
            <a:ext cx="1588" cy="45561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51" name="Rectangle 91"/>
          <p:cNvSpPr>
            <a:spLocks noChangeArrowheads="1"/>
          </p:cNvSpPr>
          <p:nvPr/>
        </p:nvSpPr>
        <p:spPr bwMode="auto">
          <a:xfrm>
            <a:off x="6194425" y="3590925"/>
            <a:ext cx="1295400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2" name="Rectangle 92"/>
          <p:cNvSpPr>
            <a:spLocks noChangeArrowheads="1"/>
          </p:cNvSpPr>
          <p:nvPr/>
        </p:nvSpPr>
        <p:spPr bwMode="auto">
          <a:xfrm>
            <a:off x="6194425" y="3590925"/>
            <a:ext cx="1295400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3" name="Rectangle 93"/>
          <p:cNvSpPr>
            <a:spLocks noChangeArrowheads="1"/>
          </p:cNvSpPr>
          <p:nvPr/>
        </p:nvSpPr>
        <p:spPr bwMode="auto">
          <a:xfrm>
            <a:off x="6194425" y="2789239"/>
            <a:ext cx="1295400" cy="3460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4" name="Rectangle 94"/>
          <p:cNvSpPr>
            <a:spLocks noChangeArrowheads="1"/>
          </p:cNvSpPr>
          <p:nvPr/>
        </p:nvSpPr>
        <p:spPr bwMode="auto">
          <a:xfrm>
            <a:off x="6194425" y="2789239"/>
            <a:ext cx="1295400" cy="346075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5" name="Rectangle 95"/>
          <p:cNvSpPr>
            <a:spLocks noChangeArrowheads="1"/>
          </p:cNvSpPr>
          <p:nvPr/>
        </p:nvSpPr>
        <p:spPr bwMode="auto">
          <a:xfrm>
            <a:off x="5434013" y="1955800"/>
            <a:ext cx="1295400" cy="3762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6" name="Rectangle 96"/>
          <p:cNvSpPr>
            <a:spLocks noChangeArrowheads="1"/>
          </p:cNvSpPr>
          <p:nvPr/>
        </p:nvSpPr>
        <p:spPr bwMode="auto">
          <a:xfrm>
            <a:off x="5594350" y="1982789"/>
            <a:ext cx="1092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Operations</a:t>
            </a:r>
            <a:endParaRPr lang="en-US" sz="180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57" name="Rectangle 97"/>
          <p:cNvSpPr>
            <a:spLocks noChangeArrowheads="1"/>
          </p:cNvSpPr>
          <p:nvPr/>
        </p:nvSpPr>
        <p:spPr bwMode="auto">
          <a:xfrm>
            <a:off x="5434013" y="1955800"/>
            <a:ext cx="1295400" cy="3762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58" name="Line 98"/>
          <p:cNvSpPr>
            <a:spLocks noChangeShapeType="1"/>
          </p:cNvSpPr>
          <p:nvPr/>
        </p:nvSpPr>
        <p:spPr bwMode="auto">
          <a:xfrm>
            <a:off x="8361364" y="2332038"/>
            <a:ext cx="1587" cy="457200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59" name="Line 99"/>
          <p:cNvSpPr>
            <a:spLocks noChangeShapeType="1"/>
          </p:cNvSpPr>
          <p:nvPr/>
        </p:nvSpPr>
        <p:spPr bwMode="auto">
          <a:xfrm>
            <a:off x="8361364" y="3135313"/>
            <a:ext cx="1587" cy="45561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0" name="Line 100"/>
          <p:cNvSpPr>
            <a:spLocks noChangeShapeType="1"/>
          </p:cNvSpPr>
          <p:nvPr/>
        </p:nvSpPr>
        <p:spPr bwMode="auto">
          <a:xfrm>
            <a:off x="8361364" y="3941764"/>
            <a:ext cx="1587" cy="244475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1" name="Line 101"/>
          <p:cNvSpPr>
            <a:spLocks noChangeShapeType="1"/>
          </p:cNvSpPr>
          <p:nvPr/>
        </p:nvSpPr>
        <p:spPr bwMode="auto">
          <a:xfrm>
            <a:off x="7602539" y="4186238"/>
            <a:ext cx="1587" cy="2079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2" name="Line 102"/>
          <p:cNvSpPr>
            <a:spLocks noChangeShapeType="1"/>
          </p:cNvSpPr>
          <p:nvPr/>
        </p:nvSpPr>
        <p:spPr bwMode="auto">
          <a:xfrm>
            <a:off x="9121776" y="4186238"/>
            <a:ext cx="3175" cy="207962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3" name="Line 103"/>
          <p:cNvSpPr>
            <a:spLocks noChangeShapeType="1"/>
          </p:cNvSpPr>
          <p:nvPr/>
        </p:nvSpPr>
        <p:spPr bwMode="auto">
          <a:xfrm>
            <a:off x="7602539" y="4186239"/>
            <a:ext cx="758825" cy="158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4" name="Line 104"/>
          <p:cNvSpPr>
            <a:spLocks noChangeShapeType="1"/>
          </p:cNvSpPr>
          <p:nvPr/>
        </p:nvSpPr>
        <p:spPr bwMode="auto">
          <a:xfrm>
            <a:off x="8361363" y="4186239"/>
            <a:ext cx="760412" cy="1587"/>
          </a:xfrm>
          <a:prstGeom prst="line">
            <a:avLst/>
          </a:prstGeom>
          <a:noFill/>
          <a:ln w="10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65" name="Rectangle 105"/>
          <p:cNvSpPr>
            <a:spLocks noChangeArrowheads="1"/>
          </p:cNvSpPr>
          <p:nvPr/>
        </p:nvSpPr>
        <p:spPr bwMode="auto">
          <a:xfrm>
            <a:off x="6954838" y="4394200"/>
            <a:ext cx="1293812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66" name="Rectangle 106"/>
          <p:cNvSpPr>
            <a:spLocks noChangeArrowheads="1"/>
          </p:cNvSpPr>
          <p:nvPr/>
        </p:nvSpPr>
        <p:spPr bwMode="auto">
          <a:xfrm>
            <a:off x="6954838" y="4394200"/>
            <a:ext cx="1293812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67" name="Rectangle 107"/>
          <p:cNvSpPr>
            <a:spLocks noChangeArrowheads="1"/>
          </p:cNvSpPr>
          <p:nvPr/>
        </p:nvSpPr>
        <p:spPr bwMode="auto">
          <a:xfrm>
            <a:off x="8474075" y="4394200"/>
            <a:ext cx="1295400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68" name="Rectangle 108"/>
          <p:cNvSpPr>
            <a:spLocks noChangeArrowheads="1"/>
          </p:cNvSpPr>
          <p:nvPr/>
        </p:nvSpPr>
        <p:spPr bwMode="auto">
          <a:xfrm>
            <a:off x="8474075" y="4394200"/>
            <a:ext cx="1295400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69" name="Rectangle 109"/>
          <p:cNvSpPr>
            <a:spLocks noChangeArrowheads="1"/>
          </p:cNvSpPr>
          <p:nvPr/>
        </p:nvSpPr>
        <p:spPr bwMode="auto">
          <a:xfrm>
            <a:off x="7715251" y="3590925"/>
            <a:ext cx="1293813" cy="3508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0" name="Rectangle 110"/>
          <p:cNvSpPr>
            <a:spLocks noChangeArrowheads="1"/>
          </p:cNvSpPr>
          <p:nvPr/>
        </p:nvSpPr>
        <p:spPr bwMode="auto">
          <a:xfrm>
            <a:off x="7715251" y="3590925"/>
            <a:ext cx="1293813" cy="3508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1" name="Rectangle 111"/>
          <p:cNvSpPr>
            <a:spLocks noChangeArrowheads="1"/>
          </p:cNvSpPr>
          <p:nvPr/>
        </p:nvSpPr>
        <p:spPr bwMode="auto">
          <a:xfrm>
            <a:off x="7715251" y="2789239"/>
            <a:ext cx="1293813" cy="3460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2" name="Rectangle 112"/>
          <p:cNvSpPr>
            <a:spLocks noChangeArrowheads="1"/>
          </p:cNvSpPr>
          <p:nvPr/>
        </p:nvSpPr>
        <p:spPr bwMode="auto">
          <a:xfrm>
            <a:off x="7715251" y="2789239"/>
            <a:ext cx="1293813" cy="346075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3" name="Rectangle 113"/>
          <p:cNvSpPr>
            <a:spLocks noChangeArrowheads="1"/>
          </p:cNvSpPr>
          <p:nvPr/>
        </p:nvSpPr>
        <p:spPr bwMode="auto">
          <a:xfrm>
            <a:off x="7715251" y="1955800"/>
            <a:ext cx="1293813" cy="3762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4" name="Rectangle 114"/>
          <p:cNvSpPr>
            <a:spLocks noChangeArrowheads="1"/>
          </p:cNvSpPr>
          <p:nvPr/>
        </p:nvSpPr>
        <p:spPr bwMode="auto">
          <a:xfrm>
            <a:off x="7858125" y="1982789"/>
            <a:ext cx="1117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Accounting</a:t>
            </a:r>
            <a:endParaRPr lang="en-US" sz="180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75" name="Rectangle 115"/>
          <p:cNvSpPr>
            <a:spLocks noChangeArrowheads="1"/>
          </p:cNvSpPr>
          <p:nvPr/>
        </p:nvSpPr>
        <p:spPr bwMode="auto">
          <a:xfrm>
            <a:off x="7715251" y="1955800"/>
            <a:ext cx="1293813" cy="376238"/>
          </a:xfrm>
          <a:prstGeom prst="rect">
            <a:avLst/>
          </a:prstGeom>
          <a:noFill/>
          <a:ln w="1016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41076" name="Rectangle 116"/>
          <p:cNvSpPr>
            <a:spLocks noChangeArrowheads="1"/>
          </p:cNvSpPr>
          <p:nvPr/>
        </p:nvSpPr>
        <p:spPr bwMode="auto">
          <a:xfrm>
            <a:off x="6215063" y="1158876"/>
            <a:ext cx="4440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CEO</a:t>
            </a:r>
            <a:endParaRPr lang="en-US" sz="160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77" name="Line 117"/>
          <p:cNvSpPr>
            <a:spLocks noChangeShapeType="1"/>
          </p:cNvSpPr>
          <p:nvPr/>
        </p:nvSpPr>
        <p:spPr bwMode="auto">
          <a:xfrm>
            <a:off x="3859214" y="4584700"/>
            <a:ext cx="1587" cy="6985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78" name="Line 118"/>
          <p:cNvSpPr>
            <a:spLocks noChangeShapeType="1"/>
          </p:cNvSpPr>
          <p:nvPr/>
        </p:nvSpPr>
        <p:spPr bwMode="auto">
          <a:xfrm flipV="1">
            <a:off x="3859214" y="3813176"/>
            <a:ext cx="2871787" cy="7715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79" name="Line 119"/>
          <p:cNvSpPr>
            <a:spLocks noChangeShapeType="1"/>
          </p:cNvSpPr>
          <p:nvPr/>
        </p:nvSpPr>
        <p:spPr bwMode="auto">
          <a:xfrm>
            <a:off x="6731000" y="3813176"/>
            <a:ext cx="819150" cy="7715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0" name="Line 120"/>
          <p:cNvSpPr>
            <a:spLocks noChangeShapeType="1"/>
          </p:cNvSpPr>
          <p:nvPr/>
        </p:nvSpPr>
        <p:spPr bwMode="auto">
          <a:xfrm>
            <a:off x="7550150" y="4584700"/>
            <a:ext cx="1627188" cy="158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1" name="Line 121"/>
          <p:cNvSpPr>
            <a:spLocks noChangeShapeType="1"/>
          </p:cNvSpPr>
          <p:nvPr/>
        </p:nvSpPr>
        <p:spPr bwMode="auto">
          <a:xfrm>
            <a:off x="9177339" y="4584700"/>
            <a:ext cx="3175" cy="6985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2" name="Text Box 122"/>
          <p:cNvSpPr txBox="1">
            <a:spLocks noChangeArrowheads="1"/>
          </p:cNvSpPr>
          <p:nvPr/>
        </p:nvSpPr>
        <p:spPr bwMode="auto">
          <a:xfrm>
            <a:off x="2992438" y="5283200"/>
            <a:ext cx="1784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Order Request</a:t>
            </a:r>
            <a:endParaRPr lang="en-US" sz="200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83" name="Text Box 123"/>
          <p:cNvSpPr txBox="1">
            <a:spLocks noChangeArrowheads="1"/>
          </p:cNvSpPr>
          <p:nvPr/>
        </p:nvSpPr>
        <p:spPr bwMode="auto">
          <a:xfrm>
            <a:off x="8480426" y="5168900"/>
            <a:ext cx="1806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Order Fulfilled</a:t>
            </a:r>
            <a:endParaRPr lang="en-US" sz="2000">
              <a:solidFill>
                <a:srgbClr val="EAEAE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84" name="Line 124"/>
          <p:cNvSpPr>
            <a:spLocks noChangeShapeType="1"/>
          </p:cNvSpPr>
          <p:nvPr/>
        </p:nvSpPr>
        <p:spPr bwMode="auto">
          <a:xfrm flipH="1">
            <a:off x="5103813" y="2344739"/>
            <a:ext cx="976312" cy="6302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5" name="Line 125"/>
          <p:cNvSpPr>
            <a:spLocks noChangeShapeType="1"/>
          </p:cNvSpPr>
          <p:nvPr/>
        </p:nvSpPr>
        <p:spPr bwMode="auto">
          <a:xfrm>
            <a:off x="5103814" y="2974975"/>
            <a:ext cx="1587" cy="83820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6" name="Line 126"/>
          <p:cNvSpPr>
            <a:spLocks noChangeShapeType="1"/>
          </p:cNvSpPr>
          <p:nvPr/>
        </p:nvSpPr>
        <p:spPr bwMode="auto">
          <a:xfrm>
            <a:off x="5103814" y="3813175"/>
            <a:ext cx="1587" cy="14668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87" name="Text Box 127"/>
          <p:cNvSpPr txBox="1">
            <a:spLocks noChangeArrowheads="1"/>
          </p:cNvSpPr>
          <p:nvPr/>
        </p:nvSpPr>
        <p:spPr bwMode="auto">
          <a:xfrm>
            <a:off x="4776789" y="5280025"/>
            <a:ext cx="2346325" cy="6302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54"/>
                </a:solidFill>
                <a:latin typeface="Times New Roman" panose="02020603050405020304" pitchFamily="18" charset="0"/>
              </a:rPr>
              <a:t>Production planning</a:t>
            </a:r>
          </a:p>
        </p:txBody>
      </p:sp>
      <p:sp>
        <p:nvSpPr>
          <p:cNvPr id="73856" name="AutoShape 128"/>
          <p:cNvSpPr>
            <a:spLocks noChangeArrowheads="1"/>
          </p:cNvSpPr>
          <p:nvPr/>
        </p:nvSpPr>
        <p:spPr bwMode="auto">
          <a:xfrm>
            <a:off x="4776789" y="6227764"/>
            <a:ext cx="2162175" cy="630237"/>
          </a:xfrm>
          <a:prstGeom prst="wedgeRectCallout">
            <a:avLst>
              <a:gd name="adj1" fmla="val -11097"/>
              <a:gd name="adj2" fmla="val -132181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b="1" i="1">
                <a:solidFill>
                  <a:srgbClr val="555BAD"/>
                </a:solidFill>
                <a:latin typeface="Times New Roman" panose="02020603050405020304" pitchFamily="18" charset="0"/>
              </a:rPr>
              <a:t>Vertical process</a:t>
            </a:r>
            <a:endParaRPr lang="en-US" sz="2000" b="1">
              <a:solidFill>
                <a:srgbClr val="555BAD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857" name="AutoShape 129"/>
          <p:cNvSpPr>
            <a:spLocks noChangeArrowheads="1"/>
          </p:cNvSpPr>
          <p:nvPr/>
        </p:nvSpPr>
        <p:spPr bwMode="auto">
          <a:xfrm>
            <a:off x="7872413" y="6227764"/>
            <a:ext cx="2278062" cy="630237"/>
          </a:xfrm>
          <a:prstGeom prst="wedgeRectCallout">
            <a:avLst>
              <a:gd name="adj1" fmla="val -713"/>
              <a:gd name="adj2" fmla="val -12555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b="1" i="1">
                <a:solidFill>
                  <a:srgbClr val="555BAD"/>
                </a:solidFill>
                <a:latin typeface="Times New Roman" panose="02020603050405020304" pitchFamily="18" charset="0"/>
              </a:rPr>
              <a:t>Horizontal process</a:t>
            </a:r>
            <a:endParaRPr lang="en-US" sz="2000" b="1">
              <a:solidFill>
                <a:srgbClr val="555BA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90" name="Oval 130"/>
          <p:cNvSpPr>
            <a:spLocks noChangeArrowheads="1"/>
          </p:cNvSpPr>
          <p:nvPr/>
        </p:nvSpPr>
        <p:spPr bwMode="auto">
          <a:xfrm>
            <a:off x="3322638" y="3662363"/>
            <a:ext cx="163512" cy="2095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73859" name="AutoShape 131"/>
          <p:cNvSpPr>
            <a:spLocks noChangeArrowheads="1"/>
          </p:cNvSpPr>
          <p:nvPr/>
        </p:nvSpPr>
        <p:spPr bwMode="auto">
          <a:xfrm>
            <a:off x="1844676" y="6227764"/>
            <a:ext cx="2157413" cy="630237"/>
          </a:xfrm>
          <a:prstGeom prst="wedgeRectCallout">
            <a:avLst>
              <a:gd name="adj1" fmla="val -25088"/>
              <a:gd name="adj2" fmla="val -305634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b="1" i="1">
                <a:solidFill>
                  <a:srgbClr val="555BAD"/>
                </a:solidFill>
                <a:latin typeface="Times New Roman" panose="02020603050405020304" pitchFamily="18" charset="0"/>
              </a:rPr>
              <a:t>Individual process</a:t>
            </a:r>
            <a:endParaRPr lang="en-US" sz="2000" b="1">
              <a:solidFill>
                <a:srgbClr val="555BA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92" name="Text Box 132"/>
          <p:cNvSpPr txBox="1">
            <a:spLocks noChangeArrowheads="1"/>
          </p:cNvSpPr>
          <p:nvPr/>
        </p:nvSpPr>
        <p:spPr bwMode="auto">
          <a:xfrm>
            <a:off x="1524001" y="3813175"/>
            <a:ext cx="162401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54"/>
                </a:solidFill>
                <a:latin typeface="Times New Roman" panose="02020603050405020304" pitchFamily="18" charset="0"/>
              </a:rPr>
              <a:t>Buying a TV commercial</a:t>
            </a:r>
          </a:p>
        </p:txBody>
      </p:sp>
      <p:sp>
        <p:nvSpPr>
          <p:cNvPr id="41093" name="Line 133"/>
          <p:cNvSpPr>
            <a:spLocks noChangeShapeType="1"/>
          </p:cNvSpPr>
          <p:nvPr/>
        </p:nvSpPr>
        <p:spPr bwMode="auto">
          <a:xfrm flipH="1">
            <a:off x="2984501" y="3814763"/>
            <a:ext cx="327025" cy="2079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41094" name="Rectangle 134"/>
          <p:cNvSpPr>
            <a:spLocks noChangeArrowheads="1"/>
          </p:cNvSpPr>
          <p:nvPr/>
        </p:nvSpPr>
        <p:spPr bwMode="auto">
          <a:xfrm>
            <a:off x="1752600" y="76200"/>
            <a:ext cx="868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</a:pPr>
            <a:r>
              <a:rPr lang="en-US" sz="3600" b="1">
                <a:solidFill>
                  <a:srgbClr val="000054"/>
                </a:solidFill>
                <a:latin typeface="Times New Roman" panose="02020603050405020304" pitchFamily="18" charset="0"/>
              </a:rPr>
              <a:t>Illustration: Process Types and Hierarchies</a:t>
            </a:r>
          </a:p>
        </p:txBody>
      </p:sp>
      <p:grpSp>
        <p:nvGrpSpPr>
          <p:cNvPr id="41095" name="Group 135"/>
          <p:cNvGrpSpPr>
            <a:grpSpLocks/>
          </p:cNvGrpSpPr>
          <p:nvPr/>
        </p:nvGrpSpPr>
        <p:grpSpPr bwMode="auto">
          <a:xfrm>
            <a:off x="1752600" y="838200"/>
            <a:ext cx="8686800" cy="241300"/>
            <a:chOff x="384" y="625"/>
            <a:chExt cx="4992" cy="151"/>
          </a:xfrm>
        </p:grpSpPr>
        <p:grpSp>
          <p:nvGrpSpPr>
            <p:cNvPr id="41096" name="Group 136"/>
            <p:cNvGrpSpPr>
              <a:grpSpLocks/>
            </p:cNvGrpSpPr>
            <p:nvPr/>
          </p:nvGrpSpPr>
          <p:grpSpPr bwMode="auto">
            <a:xfrm>
              <a:off x="384" y="625"/>
              <a:ext cx="4992" cy="144"/>
              <a:chOff x="384" y="625"/>
              <a:chExt cx="4992" cy="144"/>
            </a:xfrm>
          </p:grpSpPr>
          <p:pic>
            <p:nvPicPr>
              <p:cNvPr id="41098" name="Picture 137" descr="bd15156_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25"/>
                <a:ext cx="499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99" name="Picture 138" descr="bd15034_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85"/>
                <a:ext cx="499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1097" name="Picture 139" descr="bd21319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728"/>
              <a:ext cx="49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932487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56" grpId="0" animBg="1"/>
      <p:bldP spid="73857" grpId="0" animBg="1"/>
      <p:bldP spid="73859" grpId="0" animBg="1"/>
    </p:bldLst>
  </p:timing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Times New Roman</vt:lpstr>
      <vt:lpstr>Wingdings</vt:lpstr>
      <vt:lpstr>Factory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2016-08-15T06:18:07Z</dcterms:created>
  <dcterms:modified xsi:type="dcterms:W3CDTF">2016-08-17T03:18:48Z</dcterms:modified>
</cp:coreProperties>
</file>