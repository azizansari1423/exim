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>
        <p:scale>
          <a:sx n="69" d="100"/>
          <a:sy n="69" d="100"/>
        </p:scale>
        <p:origin x="52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33F0A-40C7-42E1-86EB-8014CA475CA8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75DBB-340F-4B37-B504-1038575E8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97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1800" y="682625"/>
            <a:ext cx="5994400" cy="3373438"/>
          </a:xfrm>
          <a:ln cap="flat"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248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accent2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0" y="1"/>
            <a:ext cx="1888067" cy="1617663"/>
            <a:chOff x="0" y="0"/>
            <a:chExt cx="892" cy="1019"/>
          </a:xfrm>
        </p:grpSpPr>
        <p:sp>
          <p:nvSpPr>
            <p:cNvPr id="6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446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 userDrawn="1"/>
          </p:nvSpPr>
          <p:spPr bwMode="auto">
            <a:xfrm>
              <a:off x="446" y="0"/>
              <a:ext cx="446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 userDrawn="1"/>
          </p:nvSpPr>
          <p:spPr bwMode="auto">
            <a:xfrm>
              <a:off x="0" y="255"/>
              <a:ext cx="892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0" y="509"/>
              <a:ext cx="446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auto">
            <a:xfrm>
              <a:off x="446" y="509"/>
              <a:ext cx="446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 userDrawn="1"/>
          </p:nvSpPr>
          <p:spPr bwMode="auto">
            <a:xfrm>
              <a:off x="0" y="764"/>
              <a:ext cx="892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12" name="Group 12"/>
          <p:cNvGrpSpPr>
            <a:grpSpLocks/>
          </p:cNvGrpSpPr>
          <p:nvPr/>
        </p:nvGrpSpPr>
        <p:grpSpPr bwMode="auto">
          <a:xfrm>
            <a:off x="10303933" y="1"/>
            <a:ext cx="1888067" cy="1617663"/>
            <a:chOff x="0" y="0"/>
            <a:chExt cx="892" cy="1019"/>
          </a:xfrm>
        </p:grpSpPr>
        <p:sp>
          <p:nvSpPr>
            <p:cNvPr id="13" name="Rectangle 13"/>
            <p:cNvSpPr>
              <a:spLocks noChangeArrowheads="1"/>
            </p:cNvSpPr>
            <p:nvPr userDrawn="1"/>
          </p:nvSpPr>
          <p:spPr bwMode="auto">
            <a:xfrm>
              <a:off x="0" y="0"/>
              <a:ext cx="446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 userDrawn="1"/>
          </p:nvSpPr>
          <p:spPr bwMode="auto">
            <a:xfrm>
              <a:off x="446" y="0"/>
              <a:ext cx="446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 userDrawn="1"/>
          </p:nvSpPr>
          <p:spPr bwMode="auto">
            <a:xfrm>
              <a:off x="0" y="255"/>
              <a:ext cx="892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 userDrawn="1"/>
          </p:nvSpPr>
          <p:spPr bwMode="auto">
            <a:xfrm>
              <a:off x="0" y="509"/>
              <a:ext cx="446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 userDrawn="1"/>
          </p:nvSpPr>
          <p:spPr bwMode="auto">
            <a:xfrm>
              <a:off x="446" y="509"/>
              <a:ext cx="446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 userDrawn="1"/>
          </p:nvSpPr>
          <p:spPr bwMode="auto">
            <a:xfrm>
              <a:off x="0" y="764"/>
              <a:ext cx="892" cy="2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665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2818" y="3429000"/>
            <a:ext cx="11101916" cy="3005138"/>
          </a:xfrm>
          <a:solidFill>
            <a:schemeClr val="accent1"/>
          </a:solidFill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657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187452" y="1241425"/>
            <a:ext cx="9874249" cy="14478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1395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6-</a:t>
            </a:r>
            <a:fld id="{C2AA963B-CB23-4099-A25E-435D04CAC85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82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6-</a:t>
            </a:r>
            <a:fld id="{D578BA21-3EED-415B-A967-F45A4E5891B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97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6767" y="1600200"/>
            <a:ext cx="5645151" cy="5024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5117" y="1600200"/>
            <a:ext cx="5647267" cy="5024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6-</a:t>
            </a:r>
            <a:fld id="{F950BE98-1D39-4572-994D-1122814DDF8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461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6-</a:t>
            </a:r>
            <a:fld id="{8DDB5E57-7769-4EB6-BD3B-AA954516D33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8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6-</a:t>
            </a:r>
            <a:fld id="{9664B791-1A81-4C7A-8855-6FC3FC68639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302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6-</a:t>
            </a:r>
            <a:fld id="{E3D84B5A-2D83-4988-B4D9-935275C56D8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38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6-</a:t>
            </a:r>
            <a:fld id="{613396C7-7479-42CF-9796-3BEA477426D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75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6-</a:t>
            </a:r>
            <a:fld id="{3D838F68-9053-4501-B2D8-122A8DD6A28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73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6-</a:t>
            </a:r>
            <a:fld id="{321EC8ED-3516-41A8-932B-4A3A0A439D1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71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717" y="263526"/>
            <a:ext cx="2878667" cy="63611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1367" y="263526"/>
            <a:ext cx="8439151" cy="63611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6-</a:t>
            </a:r>
            <a:fld id="{06F890E4-8FDE-444E-A389-DBF0F464A48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51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accent2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351367" y="1576389"/>
            <a:ext cx="11508317" cy="504348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6768" y="1600200"/>
            <a:ext cx="11495617" cy="502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5" rIns="91431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5541" name="Rectangle 5"/>
          <p:cNvSpPr>
            <a:spLocks noChangeArrowheads="1"/>
          </p:cNvSpPr>
          <p:nvPr/>
        </p:nvSpPr>
        <p:spPr bwMode="auto">
          <a:xfrm>
            <a:off x="1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935568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auto">
          <a:xfrm>
            <a:off x="1871134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44" name="Rectangle 8"/>
          <p:cNvSpPr>
            <a:spLocks noChangeArrowheads="1"/>
          </p:cNvSpPr>
          <p:nvPr/>
        </p:nvSpPr>
        <p:spPr bwMode="auto">
          <a:xfrm>
            <a:off x="2806701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45" name="Rectangle 9"/>
          <p:cNvSpPr>
            <a:spLocks noChangeArrowheads="1"/>
          </p:cNvSpPr>
          <p:nvPr/>
        </p:nvSpPr>
        <p:spPr bwMode="auto">
          <a:xfrm>
            <a:off x="3740152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46" name="Rectangle 10"/>
          <p:cNvSpPr>
            <a:spLocks noChangeArrowheads="1"/>
          </p:cNvSpPr>
          <p:nvPr/>
        </p:nvSpPr>
        <p:spPr bwMode="auto">
          <a:xfrm>
            <a:off x="4675718" y="0"/>
            <a:ext cx="946149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47" name="Rectangle 11"/>
          <p:cNvSpPr>
            <a:spLocks noChangeArrowheads="1"/>
          </p:cNvSpPr>
          <p:nvPr/>
        </p:nvSpPr>
        <p:spPr bwMode="auto">
          <a:xfrm>
            <a:off x="5611285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48" name="Rectangle 12"/>
          <p:cNvSpPr>
            <a:spLocks noChangeArrowheads="1"/>
          </p:cNvSpPr>
          <p:nvPr/>
        </p:nvSpPr>
        <p:spPr bwMode="auto">
          <a:xfrm>
            <a:off x="6546852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49" name="Rectangle 13"/>
          <p:cNvSpPr>
            <a:spLocks noChangeArrowheads="1"/>
          </p:cNvSpPr>
          <p:nvPr/>
        </p:nvSpPr>
        <p:spPr bwMode="auto">
          <a:xfrm>
            <a:off x="7480301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50" name="Rectangle 14"/>
          <p:cNvSpPr>
            <a:spLocks noChangeArrowheads="1"/>
          </p:cNvSpPr>
          <p:nvPr/>
        </p:nvSpPr>
        <p:spPr bwMode="auto">
          <a:xfrm>
            <a:off x="8415868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51" name="Rectangle 15"/>
          <p:cNvSpPr>
            <a:spLocks noChangeArrowheads="1"/>
          </p:cNvSpPr>
          <p:nvPr/>
        </p:nvSpPr>
        <p:spPr bwMode="auto">
          <a:xfrm>
            <a:off x="9351434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52" name="Rectangle 16"/>
          <p:cNvSpPr>
            <a:spLocks noChangeArrowheads="1"/>
          </p:cNvSpPr>
          <p:nvPr/>
        </p:nvSpPr>
        <p:spPr bwMode="auto">
          <a:xfrm>
            <a:off x="10287001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53" name="Rectangle 17"/>
          <p:cNvSpPr>
            <a:spLocks noChangeArrowheads="1"/>
          </p:cNvSpPr>
          <p:nvPr/>
        </p:nvSpPr>
        <p:spPr bwMode="auto">
          <a:xfrm>
            <a:off x="11220452" y="0"/>
            <a:ext cx="944033" cy="261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54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351367" y="263526"/>
            <a:ext cx="11461751" cy="1154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5555" name="Rectangle 19"/>
          <p:cNvSpPr>
            <a:spLocks noChangeArrowheads="1"/>
          </p:cNvSpPr>
          <p:nvPr/>
        </p:nvSpPr>
        <p:spPr bwMode="auto">
          <a:xfrm>
            <a:off x="63500" y="33338"/>
            <a:ext cx="203200" cy="195262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5556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69600" y="-38100"/>
            <a:ext cx="1219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6-</a:t>
            </a:r>
            <a:fld id="{DF556F38-D103-49C7-ACF4-ED01F210015A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71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hlink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hlink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hlink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00">
          <a:solidFill>
            <a:schemeClr val="hlink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800">
          <a:solidFill>
            <a:schemeClr val="hlink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800">
          <a:solidFill>
            <a:schemeClr val="hlink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800">
          <a:solidFill>
            <a:schemeClr val="hlink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800">
          <a:solidFill>
            <a:schemeClr val="hlink"/>
          </a:solidFill>
          <a:latin typeface="Arial" charset="0"/>
        </a:defRPr>
      </a:lvl9pPr>
    </p:titleStyle>
    <p:bodyStyle>
      <a:lvl1pPr marL="230188" indent="-230188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75000"/>
        <a:buFont typeface="Wingdings" panose="05000000000000000000" pitchFamily="2" charset="2"/>
        <a:buChar char="¨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75000"/>
        <a:buFont typeface="Wingdings" panose="05000000000000000000" pitchFamily="2" charset="2"/>
        <a:buChar char="¨"/>
        <a:defRPr sz="2100">
          <a:solidFill>
            <a:schemeClr val="tx1"/>
          </a:solidFill>
          <a:latin typeface="+mn-lt"/>
        </a:defRPr>
      </a:lvl2pPr>
      <a:lvl3pPr marL="914400" indent="-22860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75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3pPr>
      <a:lvl4pPr marL="1255713" indent="-227013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75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75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5pPr>
      <a:lvl6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SzPct val="75000"/>
        <a:buFont typeface="Wingdings" pitchFamily="2" charset="2"/>
        <a:buChar char="¨"/>
        <a:defRPr>
          <a:solidFill>
            <a:schemeClr val="tx1"/>
          </a:solidFill>
          <a:latin typeface="+mn-lt"/>
        </a:defRPr>
      </a:lvl6pPr>
      <a:lvl7pPr marL="25146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SzPct val="75000"/>
        <a:buFont typeface="Wingdings" pitchFamily="2" charset="2"/>
        <a:buChar char="¨"/>
        <a:defRPr>
          <a:solidFill>
            <a:schemeClr val="tx1"/>
          </a:solidFill>
          <a:latin typeface="+mn-lt"/>
        </a:defRPr>
      </a:lvl7pPr>
      <a:lvl8pPr marL="29718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SzPct val="75000"/>
        <a:buFont typeface="Wingdings" pitchFamily="2" charset="2"/>
        <a:buChar char="¨"/>
        <a:defRPr>
          <a:solidFill>
            <a:schemeClr val="tx1"/>
          </a:solidFill>
          <a:latin typeface="+mn-lt"/>
        </a:defRPr>
      </a:lvl8pPr>
      <a:lvl9pPr marL="3429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SzPct val="75000"/>
        <a:buFont typeface="Wingdings" pitchFamily="2" charset="2"/>
        <a:buChar char="¨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>
                <a:solidFill>
                  <a:srgbClr val="000000"/>
                </a:solidFill>
              </a:rPr>
              <a:t>6-</a:t>
            </a:r>
            <a:fld id="{2253D91E-C98D-40AD-B0EB-C34BA4AAE472}" type="slidenum">
              <a:rPr lang="en-US" sz="1400">
                <a:solidFill>
                  <a:srgbClr val="000000"/>
                </a:solidFill>
              </a:rPr>
              <a:pPr/>
              <a:t>1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 </a:t>
            </a:r>
          </a:p>
        </p:txBody>
      </p:sp>
      <p:grpSp>
        <p:nvGrpSpPr>
          <p:cNvPr id="11268" name="Group 23"/>
          <p:cNvGrpSpPr>
            <a:grpSpLocks/>
          </p:cNvGrpSpPr>
          <p:nvPr/>
        </p:nvGrpSpPr>
        <p:grpSpPr bwMode="auto">
          <a:xfrm>
            <a:off x="2597150" y="2139950"/>
            <a:ext cx="7302500" cy="3340100"/>
            <a:chOff x="676" y="1348"/>
            <a:chExt cx="4600" cy="2104"/>
          </a:xfrm>
        </p:grpSpPr>
        <p:sp>
          <p:nvSpPr>
            <p:cNvPr id="11270" name="Rectangle 4"/>
            <p:cNvSpPr>
              <a:spLocks noChangeArrowheads="1"/>
            </p:cNvSpPr>
            <p:nvPr/>
          </p:nvSpPr>
          <p:spPr bwMode="auto">
            <a:xfrm>
              <a:off x="772" y="1348"/>
              <a:ext cx="712" cy="32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Word of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mouth</a:t>
              </a:r>
            </a:p>
          </p:txBody>
        </p:sp>
        <p:sp>
          <p:nvSpPr>
            <p:cNvPr id="11271" name="Rectangle 5"/>
            <p:cNvSpPr>
              <a:spLocks noChangeArrowheads="1"/>
            </p:cNvSpPr>
            <p:nvPr/>
          </p:nvSpPr>
          <p:spPr bwMode="auto">
            <a:xfrm>
              <a:off x="2212" y="1348"/>
              <a:ext cx="712" cy="32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Personal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needs</a:t>
              </a:r>
            </a:p>
          </p:txBody>
        </p:sp>
        <p:sp>
          <p:nvSpPr>
            <p:cNvPr id="11272" name="Rectangle 6"/>
            <p:cNvSpPr>
              <a:spLocks noChangeArrowheads="1"/>
            </p:cNvSpPr>
            <p:nvPr/>
          </p:nvSpPr>
          <p:spPr bwMode="auto">
            <a:xfrm>
              <a:off x="3556" y="1348"/>
              <a:ext cx="712" cy="32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Past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experience</a:t>
              </a:r>
            </a:p>
          </p:txBody>
        </p:sp>
        <p:sp>
          <p:nvSpPr>
            <p:cNvPr id="11273" name="Rectangle 7"/>
            <p:cNvSpPr>
              <a:spLocks noChangeArrowheads="1"/>
            </p:cNvSpPr>
            <p:nvPr/>
          </p:nvSpPr>
          <p:spPr bwMode="auto">
            <a:xfrm>
              <a:off x="2212" y="2116"/>
              <a:ext cx="712" cy="32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Expected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service</a:t>
              </a:r>
            </a:p>
          </p:txBody>
        </p:sp>
        <p:sp>
          <p:nvSpPr>
            <p:cNvPr id="11274" name="Rectangle 8"/>
            <p:cNvSpPr>
              <a:spLocks noChangeArrowheads="1"/>
            </p:cNvSpPr>
            <p:nvPr/>
          </p:nvSpPr>
          <p:spPr bwMode="auto">
            <a:xfrm>
              <a:off x="2212" y="2740"/>
              <a:ext cx="712" cy="32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Perceived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service</a:t>
              </a:r>
            </a:p>
          </p:txBody>
        </p:sp>
        <p:sp>
          <p:nvSpPr>
            <p:cNvPr id="11275" name="Rectangle 9"/>
            <p:cNvSpPr>
              <a:spLocks noChangeArrowheads="1"/>
            </p:cNvSpPr>
            <p:nvPr/>
          </p:nvSpPr>
          <p:spPr bwMode="auto">
            <a:xfrm>
              <a:off x="676" y="2068"/>
              <a:ext cx="1096" cy="128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Service Quality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b="1">
                  <a:solidFill>
                    <a:srgbClr val="000000"/>
                  </a:solidFill>
                </a:rPr>
                <a:t>Dimensions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Reliability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Responsiveness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Assurance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Empathy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Tangibles</a:t>
              </a:r>
            </a:p>
          </p:txBody>
        </p:sp>
        <p:sp>
          <p:nvSpPr>
            <p:cNvPr id="11276" name="Rectangle 10"/>
            <p:cNvSpPr>
              <a:spLocks noChangeArrowheads="1"/>
            </p:cNvSpPr>
            <p:nvPr/>
          </p:nvSpPr>
          <p:spPr bwMode="auto">
            <a:xfrm>
              <a:off x="3316" y="2068"/>
              <a:ext cx="1960" cy="138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</a:rPr>
                <a:t>  Service Quality Assessment</a:t>
              </a:r>
              <a:endParaRPr lang="en-US" dirty="0">
                <a:solidFill>
                  <a:srgbClr val="000000"/>
                </a:solidFill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1. Expectations exceeded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    ES&lt;PS (Quality surprise)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2. Expectations met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    ES~PS (Satisfactory quality)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3. Expectations not met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    ES&gt;PS (Unacceptable quality)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1277" name="Line 11"/>
            <p:cNvSpPr>
              <a:spLocks noChangeShapeType="1"/>
            </p:cNvSpPr>
            <p:nvPr/>
          </p:nvSpPr>
          <p:spPr bwMode="auto">
            <a:xfrm>
              <a:off x="1104" y="1680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278" name="Line 12"/>
            <p:cNvSpPr>
              <a:spLocks noChangeShapeType="1"/>
            </p:cNvSpPr>
            <p:nvPr/>
          </p:nvSpPr>
          <p:spPr bwMode="auto">
            <a:xfrm>
              <a:off x="3888" y="1680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279" name="Line 13"/>
            <p:cNvSpPr>
              <a:spLocks noChangeShapeType="1"/>
            </p:cNvSpPr>
            <p:nvPr/>
          </p:nvSpPr>
          <p:spPr bwMode="auto">
            <a:xfrm>
              <a:off x="1104" y="1824"/>
              <a:ext cx="27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280" name="Line 14"/>
            <p:cNvSpPr>
              <a:spLocks noChangeShapeType="1"/>
            </p:cNvSpPr>
            <p:nvPr/>
          </p:nvSpPr>
          <p:spPr bwMode="auto">
            <a:xfrm>
              <a:off x="2544" y="1680"/>
              <a:ext cx="0" cy="4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281" name="Line 15"/>
            <p:cNvSpPr>
              <a:spLocks noChangeShapeType="1"/>
            </p:cNvSpPr>
            <p:nvPr/>
          </p:nvSpPr>
          <p:spPr bwMode="auto">
            <a:xfrm>
              <a:off x="1776" y="2688"/>
              <a:ext cx="1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282" name="Line 16"/>
            <p:cNvSpPr>
              <a:spLocks noChangeShapeType="1"/>
            </p:cNvSpPr>
            <p:nvPr/>
          </p:nvSpPr>
          <p:spPr bwMode="auto">
            <a:xfrm>
              <a:off x="1968" y="2352"/>
              <a:ext cx="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283" name="Line 17"/>
            <p:cNvSpPr>
              <a:spLocks noChangeShapeType="1"/>
            </p:cNvSpPr>
            <p:nvPr/>
          </p:nvSpPr>
          <p:spPr bwMode="auto">
            <a:xfrm>
              <a:off x="1968" y="2352"/>
              <a:ext cx="24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284" name="Line 18"/>
            <p:cNvSpPr>
              <a:spLocks noChangeShapeType="1"/>
            </p:cNvSpPr>
            <p:nvPr/>
          </p:nvSpPr>
          <p:spPr bwMode="auto">
            <a:xfrm>
              <a:off x="1968" y="2928"/>
              <a:ext cx="24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285" name="Line 19"/>
            <p:cNvSpPr>
              <a:spLocks noChangeShapeType="1"/>
            </p:cNvSpPr>
            <p:nvPr/>
          </p:nvSpPr>
          <p:spPr bwMode="auto">
            <a:xfrm>
              <a:off x="2928" y="2352"/>
              <a:ext cx="1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286" name="Line 20"/>
            <p:cNvSpPr>
              <a:spLocks noChangeShapeType="1"/>
            </p:cNvSpPr>
            <p:nvPr/>
          </p:nvSpPr>
          <p:spPr bwMode="auto">
            <a:xfrm>
              <a:off x="2928" y="2928"/>
              <a:ext cx="1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287" name="Line 21"/>
            <p:cNvSpPr>
              <a:spLocks noChangeShapeType="1"/>
            </p:cNvSpPr>
            <p:nvPr/>
          </p:nvSpPr>
          <p:spPr bwMode="auto">
            <a:xfrm>
              <a:off x="3120" y="2352"/>
              <a:ext cx="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288" name="Line 22"/>
            <p:cNvSpPr>
              <a:spLocks noChangeShapeType="1"/>
            </p:cNvSpPr>
            <p:nvPr/>
          </p:nvSpPr>
          <p:spPr bwMode="auto">
            <a:xfrm>
              <a:off x="3120" y="2688"/>
              <a:ext cx="1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13336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Service Flowchart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270546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itzsimmons T06">
  <a:themeElements>
    <a:clrScheme name="Fitzsimmons T06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DF1EF"/>
      </a:accent1>
      <a:accent2>
        <a:srgbClr val="307D9C"/>
      </a:accent2>
      <a:accent3>
        <a:srgbClr val="FFFFFF"/>
      </a:accent3>
      <a:accent4>
        <a:srgbClr val="000000"/>
      </a:accent4>
      <a:accent5>
        <a:srgbClr val="D3F7F6"/>
      </a:accent5>
      <a:accent6>
        <a:srgbClr val="2A718D"/>
      </a:accent6>
      <a:hlink>
        <a:srgbClr val="F4F2A6"/>
      </a:hlink>
      <a:folHlink>
        <a:srgbClr val="000066"/>
      </a:folHlink>
    </a:clrScheme>
    <a:fontScheme name="Fitzsimmons T0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096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096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tzsimmons T0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tzsimmons T06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tzsimmons T06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tzsimmons T06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tzsimmons T06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tzsimmons T06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tzsimmons T06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tzsimmons T06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tzsimmons T06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tzsimmons T06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tzsimmons T06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tzsimmons T06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tzsimmons T06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07D9C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A718D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tzsimmons T06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DF1EF"/>
        </a:accent1>
        <a:accent2>
          <a:srgbClr val="307D9C"/>
        </a:accent2>
        <a:accent3>
          <a:srgbClr val="FFFFFF"/>
        </a:accent3>
        <a:accent4>
          <a:srgbClr val="000000"/>
        </a:accent4>
        <a:accent5>
          <a:srgbClr val="D3F7F6"/>
        </a:accent5>
        <a:accent6>
          <a:srgbClr val="2A718D"/>
        </a:accent6>
        <a:hlink>
          <a:srgbClr val="F4F2A6"/>
        </a:hlink>
        <a:folHlink>
          <a:srgbClr val="00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Fitzsimmons T06</vt:lpstr>
      <vt:lpstr>Service Flowchart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2016-08-15T03:59:51Z</dcterms:created>
  <dcterms:modified xsi:type="dcterms:W3CDTF">2016-08-17T05:06:34Z</dcterms:modified>
</cp:coreProperties>
</file>