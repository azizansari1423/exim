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69426-8709-4A06-A2E0-B7EDB4AC7F37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C4E4F-1628-4D2B-98F2-0D3C7BB67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2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9A42FD-A6C5-4A72-9FA5-06E32EA0F1CC}" type="slidenum">
              <a:rPr lang="en-US" sz="1200">
                <a:solidFill>
                  <a:srgbClr val="000000"/>
                </a:solidFill>
              </a:rPr>
              <a:pPr/>
              <a:t>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2894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C4426-39B7-4DB3-8FA5-FF3E3863A47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91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8B1D8-67CB-4D82-877B-114C1AA0786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62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9DEE4E-9253-455C-9F59-1BDBA4646CD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30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0FAE2-2ABD-421E-801B-D5DB630B27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0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A09864-B6C0-4705-8528-D422D0CCC4D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4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23E94B-E814-40C2-AF03-7F6AC2663C5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04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C9B469-36CE-4B6F-B738-C62F8D38D5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3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03B9BE-468F-4C9B-9F6B-C47334EF393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73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A59857-DD0A-43AE-95A1-77E07B3774A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18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C63EB2-F3C9-4955-91CB-D657A117F6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83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38139"/>
            <a:ext cx="2743200" cy="5788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38139"/>
            <a:ext cx="8026400" cy="57880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7B221F-8ADE-4300-AB8F-E8647256677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4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1EFD79C-4B11-4913-9709-F5A3384791BF}" type="slidenum">
              <a:rPr 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53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338138"/>
            <a:ext cx="1096856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68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57900"/>
            <a:ext cx="914558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08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524000" y="0"/>
            <a:ext cx="9144000" cy="838200"/>
          </a:xfrm>
          <a:prstGeom prst="rect">
            <a:avLst/>
          </a:prstGeom>
          <a:solidFill>
            <a:srgbClr val="41008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0" tIns="45720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i="1" dirty="0" smtClean="0">
                <a:solidFill>
                  <a:srgbClr val="FFFFFF"/>
                </a:solidFill>
              </a:rPr>
              <a:t>Process </a:t>
            </a:r>
            <a:r>
              <a:rPr lang="en-US" sz="2200" b="1" i="1" smtClean="0">
                <a:solidFill>
                  <a:srgbClr val="FFFFFF"/>
                </a:solidFill>
              </a:rPr>
              <a:t>Flow flowchart</a:t>
            </a:r>
            <a:endParaRPr lang="en-US" sz="2200" b="1" i="1" dirty="0">
              <a:solidFill>
                <a:srgbClr val="FFFFFF"/>
              </a:solidFill>
            </a:endParaRPr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1928442" y="6397626"/>
            <a:ext cx="372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fld id="{3B740FD6-8255-4B80-AD55-A99FFC3AFCA7}" type="slidenum">
              <a:rPr lang="en-US" sz="1200">
                <a:solidFill>
                  <a:srgbClr val="FFFFFF"/>
                </a:solidFill>
              </a:rPr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3657600" y="2057400"/>
            <a:ext cx="13716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5029200" y="5105400"/>
            <a:ext cx="14478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</a:endParaRPr>
          </a:p>
        </p:txBody>
      </p:sp>
      <p:sp>
        <p:nvSpPr>
          <p:cNvPr id="18440" name="Line 9"/>
          <p:cNvSpPr>
            <a:spLocks noChangeShapeType="1"/>
          </p:cNvSpPr>
          <p:nvPr/>
        </p:nvSpPr>
        <p:spPr bwMode="auto">
          <a:xfrm>
            <a:off x="5105400" y="2743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1" name="Line 10"/>
          <p:cNvSpPr>
            <a:spLocks noChangeShapeType="1"/>
          </p:cNvSpPr>
          <p:nvPr/>
        </p:nvSpPr>
        <p:spPr bwMode="auto">
          <a:xfrm>
            <a:off x="1905000" y="2514600"/>
            <a:ext cx="228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2" name="Line 11"/>
          <p:cNvSpPr>
            <a:spLocks noChangeShapeType="1"/>
          </p:cNvSpPr>
          <p:nvPr/>
        </p:nvSpPr>
        <p:spPr bwMode="auto">
          <a:xfrm flipV="1">
            <a:off x="6934200" y="2743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3" name="Line 12"/>
          <p:cNvSpPr>
            <a:spLocks noChangeShapeType="1"/>
          </p:cNvSpPr>
          <p:nvPr/>
        </p:nvSpPr>
        <p:spPr bwMode="auto">
          <a:xfrm>
            <a:off x="8305800" y="533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4" name="Line 13"/>
          <p:cNvSpPr>
            <a:spLocks noChangeShapeType="1"/>
          </p:cNvSpPr>
          <p:nvPr/>
        </p:nvSpPr>
        <p:spPr bwMode="auto">
          <a:xfrm flipV="1">
            <a:off x="9448800" y="4114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5" name="Line 14"/>
          <p:cNvSpPr>
            <a:spLocks noChangeShapeType="1"/>
          </p:cNvSpPr>
          <p:nvPr/>
        </p:nvSpPr>
        <p:spPr bwMode="auto">
          <a:xfrm>
            <a:off x="8458200" y="27432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46" name="Text Box 15"/>
          <p:cNvSpPr txBox="1">
            <a:spLocks noChangeArrowheads="1"/>
          </p:cNvSpPr>
          <p:nvPr/>
        </p:nvSpPr>
        <p:spPr bwMode="auto">
          <a:xfrm>
            <a:off x="3886200" y="148431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8447" name="Text Box 16"/>
          <p:cNvSpPr txBox="1">
            <a:spLocks noChangeArrowheads="1"/>
          </p:cNvSpPr>
          <p:nvPr/>
        </p:nvSpPr>
        <p:spPr bwMode="auto">
          <a:xfrm>
            <a:off x="2743201" y="251460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No</a:t>
            </a:r>
          </a:p>
        </p:txBody>
      </p:sp>
      <p:sp>
        <p:nvSpPr>
          <p:cNvPr id="18448" name="Text Box 17"/>
          <p:cNvSpPr txBox="1">
            <a:spLocks noChangeArrowheads="1"/>
          </p:cNvSpPr>
          <p:nvPr/>
        </p:nvSpPr>
        <p:spPr bwMode="auto">
          <a:xfrm>
            <a:off x="2743200" y="4319588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Yes</a:t>
            </a:r>
          </a:p>
        </p:txBody>
      </p:sp>
      <p:sp>
        <p:nvSpPr>
          <p:cNvPr id="18449" name="Text Box 18"/>
          <p:cNvSpPr txBox="1">
            <a:spLocks noChangeArrowheads="1"/>
          </p:cNvSpPr>
          <p:nvPr/>
        </p:nvSpPr>
        <p:spPr bwMode="auto">
          <a:xfrm>
            <a:off x="3886201" y="5715000"/>
            <a:ext cx="500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333399"/>
                </a:solidFill>
              </a:rPr>
              <a:t>Yes</a:t>
            </a:r>
          </a:p>
        </p:txBody>
      </p:sp>
      <p:sp>
        <p:nvSpPr>
          <p:cNvPr id="18450" name="Rectangle 20"/>
          <p:cNvSpPr>
            <a:spLocks noChangeArrowheads="1"/>
          </p:cNvSpPr>
          <p:nvPr/>
        </p:nvSpPr>
        <p:spPr bwMode="auto">
          <a:xfrm>
            <a:off x="3886201" y="3886200"/>
            <a:ext cx="454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333399"/>
                </a:solidFill>
              </a:rPr>
              <a:t>No</a:t>
            </a:r>
          </a:p>
        </p:txBody>
      </p:sp>
      <p:sp>
        <p:nvSpPr>
          <p:cNvPr id="18451" name="Line 21"/>
          <p:cNvSpPr>
            <a:spLocks noChangeShapeType="1"/>
          </p:cNvSpPr>
          <p:nvPr/>
        </p:nvSpPr>
        <p:spPr bwMode="auto">
          <a:xfrm flipV="1">
            <a:off x="3200400" y="2743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52" name="Oval 22"/>
          <p:cNvSpPr>
            <a:spLocks noChangeArrowheads="1"/>
          </p:cNvSpPr>
          <p:nvPr/>
        </p:nvSpPr>
        <p:spPr bwMode="auto">
          <a:xfrm>
            <a:off x="1676400" y="1219200"/>
            <a:ext cx="1524000" cy="1371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1676400" y="16002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000000"/>
                </a:solidFill>
              </a:rPr>
              <a:t>Submitting the FAFSA</a:t>
            </a:r>
          </a:p>
        </p:txBody>
      </p:sp>
      <p:sp>
        <p:nvSpPr>
          <p:cNvPr id="18454" name="AutoShape 24"/>
          <p:cNvSpPr>
            <a:spLocks noChangeArrowheads="1"/>
          </p:cNvSpPr>
          <p:nvPr/>
        </p:nvSpPr>
        <p:spPr bwMode="auto">
          <a:xfrm>
            <a:off x="2057400" y="2895600"/>
            <a:ext cx="1524000" cy="1447800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2362200" y="34290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Web?</a:t>
            </a:r>
          </a:p>
        </p:txBody>
      </p:sp>
      <p:sp>
        <p:nvSpPr>
          <p:cNvPr id="18456" name="AutoShape 26"/>
          <p:cNvSpPr>
            <a:spLocks noChangeArrowheads="1"/>
          </p:cNvSpPr>
          <p:nvPr/>
        </p:nvSpPr>
        <p:spPr bwMode="auto">
          <a:xfrm>
            <a:off x="3200400" y="4267200"/>
            <a:ext cx="1524000" cy="1447800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3505200" y="48006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PIN?</a:t>
            </a:r>
          </a:p>
        </p:txBody>
      </p:sp>
      <p:sp>
        <p:nvSpPr>
          <p:cNvPr id="18458" name="Oval 28"/>
          <p:cNvSpPr>
            <a:spLocks noChangeArrowheads="1"/>
          </p:cNvSpPr>
          <p:nvPr/>
        </p:nvSpPr>
        <p:spPr bwMode="auto">
          <a:xfrm>
            <a:off x="9067800" y="2667000"/>
            <a:ext cx="1524000" cy="1371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9067800" y="2894014"/>
            <a:ext cx="15240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000000"/>
                </a:solidFill>
              </a:rPr>
              <a:t>Talk to aid office at your school</a:t>
            </a:r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3733800" y="205740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Complete the paper form</a:t>
            </a:r>
          </a:p>
        </p:txBody>
      </p:sp>
      <p:sp>
        <p:nvSpPr>
          <p:cNvPr id="18461" name="Text Box 32"/>
          <p:cNvSpPr txBox="1">
            <a:spLocks noChangeArrowheads="1"/>
          </p:cNvSpPr>
          <p:nvPr/>
        </p:nvSpPr>
        <p:spPr bwMode="auto">
          <a:xfrm>
            <a:off x="5029200" y="5105400"/>
            <a:ext cx="1447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Complete the Web form</a:t>
            </a:r>
          </a:p>
        </p:txBody>
      </p:sp>
      <p:sp>
        <p:nvSpPr>
          <p:cNvPr id="18462" name="Rectangle 34"/>
          <p:cNvSpPr>
            <a:spLocks noChangeArrowheads="1"/>
          </p:cNvSpPr>
          <p:nvPr/>
        </p:nvSpPr>
        <p:spPr bwMode="auto">
          <a:xfrm>
            <a:off x="5486400" y="2057400"/>
            <a:ext cx="13716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8463" name="Text Box 35"/>
          <p:cNvSpPr txBox="1">
            <a:spLocks noChangeArrowheads="1"/>
          </p:cNvSpPr>
          <p:nvPr/>
        </p:nvSpPr>
        <p:spPr bwMode="auto">
          <a:xfrm>
            <a:off x="5410200" y="21336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 dirty="0">
                <a:solidFill>
                  <a:srgbClr val="333399"/>
                </a:solidFill>
              </a:rPr>
              <a:t>Mail the paper form</a:t>
            </a:r>
          </a:p>
        </p:txBody>
      </p:sp>
      <p:sp>
        <p:nvSpPr>
          <p:cNvPr id="18464" name="Rectangle 36"/>
          <p:cNvSpPr>
            <a:spLocks noChangeArrowheads="1"/>
          </p:cNvSpPr>
          <p:nvPr/>
        </p:nvSpPr>
        <p:spPr bwMode="auto">
          <a:xfrm>
            <a:off x="6858000" y="5105400"/>
            <a:ext cx="13716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8465" name="Text Box 37"/>
          <p:cNvSpPr txBox="1">
            <a:spLocks noChangeArrowheads="1"/>
          </p:cNvSpPr>
          <p:nvPr/>
        </p:nvSpPr>
        <p:spPr bwMode="auto">
          <a:xfrm>
            <a:off x="6858000" y="5105400"/>
            <a:ext cx="1371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E-sign Web form and submit</a:t>
            </a:r>
          </a:p>
        </p:txBody>
      </p:sp>
      <p:sp>
        <p:nvSpPr>
          <p:cNvPr id="18466" name="AutoShape 38"/>
          <p:cNvSpPr>
            <a:spLocks noChangeArrowheads="1"/>
          </p:cNvSpPr>
          <p:nvPr/>
        </p:nvSpPr>
        <p:spPr bwMode="auto">
          <a:xfrm>
            <a:off x="6477000" y="3505200"/>
            <a:ext cx="1295400" cy="1143000"/>
          </a:xfrm>
          <a:prstGeom prst="flowChartExtra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67" name="Text Box 39"/>
          <p:cNvSpPr txBox="1">
            <a:spLocks noChangeArrowheads="1"/>
          </p:cNvSpPr>
          <p:nvPr/>
        </p:nvSpPr>
        <p:spPr bwMode="auto">
          <a:xfrm>
            <a:off x="6705600" y="3810000"/>
            <a:ext cx="838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Wait for PIN</a:t>
            </a:r>
          </a:p>
        </p:txBody>
      </p:sp>
      <p:sp>
        <p:nvSpPr>
          <p:cNvPr id="18468" name="Rectangle 40"/>
          <p:cNvSpPr>
            <a:spLocks noChangeArrowheads="1"/>
          </p:cNvSpPr>
          <p:nvPr/>
        </p:nvSpPr>
        <p:spPr bwMode="auto">
          <a:xfrm>
            <a:off x="4800600" y="3733800"/>
            <a:ext cx="1371600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8469" name="Text Box 41"/>
          <p:cNvSpPr txBox="1">
            <a:spLocks noChangeArrowheads="1"/>
          </p:cNvSpPr>
          <p:nvPr/>
        </p:nvSpPr>
        <p:spPr bwMode="auto">
          <a:xfrm>
            <a:off x="4724400" y="38862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>
                <a:solidFill>
                  <a:srgbClr val="333399"/>
                </a:solidFill>
              </a:rPr>
              <a:t>Go to PIN site</a:t>
            </a:r>
          </a:p>
        </p:txBody>
      </p:sp>
      <p:sp>
        <p:nvSpPr>
          <p:cNvPr id="18470" name="AutoShape 42"/>
          <p:cNvSpPr>
            <a:spLocks noChangeArrowheads="1"/>
          </p:cNvSpPr>
          <p:nvPr/>
        </p:nvSpPr>
        <p:spPr bwMode="auto">
          <a:xfrm>
            <a:off x="7162800" y="1828800"/>
            <a:ext cx="1295400" cy="1143000"/>
          </a:xfrm>
          <a:prstGeom prst="flowChartExtra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71" name="Text Box 43"/>
          <p:cNvSpPr txBox="1">
            <a:spLocks noChangeArrowheads="1"/>
          </p:cNvSpPr>
          <p:nvPr/>
        </p:nvSpPr>
        <p:spPr bwMode="auto">
          <a:xfrm>
            <a:off x="7391400" y="2132014"/>
            <a:ext cx="838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 dirty="0">
                <a:solidFill>
                  <a:srgbClr val="333399"/>
                </a:solidFill>
              </a:rPr>
              <a:t>Wait for SAR</a:t>
            </a:r>
          </a:p>
        </p:txBody>
      </p:sp>
      <p:sp>
        <p:nvSpPr>
          <p:cNvPr id="18472" name="Line 44"/>
          <p:cNvSpPr>
            <a:spLocks noChangeShapeType="1"/>
          </p:cNvSpPr>
          <p:nvPr/>
        </p:nvSpPr>
        <p:spPr bwMode="auto">
          <a:xfrm>
            <a:off x="6553200" y="5943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3" name="Line 45"/>
          <p:cNvSpPr>
            <a:spLocks noChangeShapeType="1"/>
          </p:cNvSpPr>
          <p:nvPr/>
        </p:nvSpPr>
        <p:spPr bwMode="auto">
          <a:xfrm>
            <a:off x="3276600" y="4572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4" name="Line 46"/>
          <p:cNvSpPr>
            <a:spLocks noChangeShapeType="1"/>
          </p:cNvSpPr>
          <p:nvPr/>
        </p:nvSpPr>
        <p:spPr bwMode="auto">
          <a:xfrm flipV="1">
            <a:off x="43434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5" name="Line 47"/>
          <p:cNvSpPr>
            <a:spLocks noChangeShapeType="1"/>
          </p:cNvSpPr>
          <p:nvPr/>
        </p:nvSpPr>
        <p:spPr bwMode="auto">
          <a:xfrm flipV="1">
            <a:off x="44196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6" name="Line 48"/>
          <p:cNvSpPr>
            <a:spLocks noChangeShapeType="1"/>
          </p:cNvSpPr>
          <p:nvPr/>
        </p:nvSpPr>
        <p:spPr bwMode="auto">
          <a:xfrm flipV="1">
            <a:off x="62484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7" name="Line 49"/>
          <p:cNvSpPr>
            <a:spLocks noChangeShapeType="1"/>
          </p:cNvSpPr>
          <p:nvPr/>
        </p:nvSpPr>
        <p:spPr bwMode="auto">
          <a:xfrm>
            <a:off x="5867400" y="4724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8" name="Line 50"/>
          <p:cNvSpPr>
            <a:spLocks noChangeShapeType="1"/>
          </p:cNvSpPr>
          <p:nvPr/>
        </p:nvSpPr>
        <p:spPr bwMode="auto">
          <a:xfrm>
            <a:off x="5867400" y="4724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79" name="Line 51"/>
          <p:cNvSpPr>
            <a:spLocks noChangeShapeType="1"/>
          </p:cNvSpPr>
          <p:nvPr/>
        </p:nvSpPr>
        <p:spPr bwMode="auto">
          <a:xfrm>
            <a:off x="76200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80" name="Line 52"/>
          <p:cNvSpPr>
            <a:spLocks noChangeShapeType="1"/>
          </p:cNvSpPr>
          <p:nvPr/>
        </p:nvSpPr>
        <p:spPr bwMode="auto">
          <a:xfrm>
            <a:off x="8001000" y="4114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81" name="AutoShape 53"/>
          <p:cNvSpPr>
            <a:spLocks noChangeArrowheads="1"/>
          </p:cNvSpPr>
          <p:nvPr/>
        </p:nvSpPr>
        <p:spPr bwMode="auto">
          <a:xfrm>
            <a:off x="8610600" y="4343400"/>
            <a:ext cx="1295400" cy="1143000"/>
          </a:xfrm>
          <a:prstGeom prst="flowChartExtra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82" name="Text Box 54"/>
          <p:cNvSpPr txBox="1">
            <a:spLocks noChangeArrowheads="1"/>
          </p:cNvSpPr>
          <p:nvPr/>
        </p:nvSpPr>
        <p:spPr bwMode="auto">
          <a:xfrm>
            <a:off x="8839200" y="4646614"/>
            <a:ext cx="838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800" dirty="0">
                <a:solidFill>
                  <a:srgbClr val="333399"/>
                </a:solidFill>
              </a:rPr>
              <a:t>Wait for SAR</a:t>
            </a:r>
          </a:p>
        </p:txBody>
      </p:sp>
    </p:spTree>
    <p:extLst>
      <p:ext uri="{BB962C8B-B14F-4D97-AF65-F5344CB8AC3E}">
        <p14:creationId xmlns:p14="http://schemas.microsoft.com/office/powerpoint/2010/main" val="176699698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2016-08-15T03:29:03Z</dcterms:created>
  <dcterms:modified xsi:type="dcterms:W3CDTF">2016-08-17T05:41:19Z</dcterms:modified>
</cp:coreProperties>
</file>