
<file path=[Content_Types].xml><?xml version="1.0" encoding="utf-8"?>
<Types xmlns="http://schemas.openxmlformats.org/package/2006/content-types"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144000" cy="6858000" type="screen4x3"/>
  <p:notesSz cx="6858000" cy="92964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728" autoAdjust="0"/>
  </p:normalViewPr>
  <p:slideViewPr>
    <p:cSldViewPr>
      <p:cViewPr varScale="1">
        <p:scale>
          <a:sx n="75" d="100"/>
          <a:sy n="75" d="100"/>
        </p:scale>
        <p:origin x="29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2971800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829675"/>
            <a:ext cx="2971800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6120682-B0C0-4714-8AB3-8247A94FEBD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2837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049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16425"/>
            <a:ext cx="548640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2971800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829675"/>
            <a:ext cx="2971800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47F1A6C-F884-4483-8027-8F23AA9F418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675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815A870-8CC3-47AC-BF01-5C1A486ADFD9}" type="slidenum">
              <a:rPr lang="en-US" sz="1200"/>
              <a:pPr eaLnBrk="1" hangingPunct="1"/>
              <a:t>1</a:t>
            </a:fld>
            <a:endParaRPr lang="en-US" sz="1200"/>
          </a:p>
        </p:txBody>
      </p:sp>
      <p:sp>
        <p:nvSpPr>
          <p:cNvPr id="40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002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COA: FIN 7.03</a:t>
            </a:r>
          </a:p>
        </p:txBody>
      </p:sp>
    </p:spTree>
    <p:extLst>
      <p:ext uri="{BB962C8B-B14F-4D97-AF65-F5344CB8AC3E}">
        <p14:creationId xmlns:p14="http://schemas.microsoft.com/office/powerpoint/2010/main" val="2208453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COA: FIN 7.03</a:t>
            </a:r>
          </a:p>
        </p:txBody>
      </p:sp>
    </p:spTree>
    <p:extLst>
      <p:ext uri="{BB962C8B-B14F-4D97-AF65-F5344CB8AC3E}">
        <p14:creationId xmlns:p14="http://schemas.microsoft.com/office/powerpoint/2010/main" val="3476878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COA: FIN 7.03</a:t>
            </a:r>
          </a:p>
        </p:txBody>
      </p:sp>
    </p:spTree>
    <p:extLst>
      <p:ext uri="{BB962C8B-B14F-4D97-AF65-F5344CB8AC3E}">
        <p14:creationId xmlns:p14="http://schemas.microsoft.com/office/powerpoint/2010/main" val="1332165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COA: FIN 7.03</a:t>
            </a:r>
          </a:p>
        </p:txBody>
      </p:sp>
    </p:spTree>
    <p:extLst>
      <p:ext uri="{BB962C8B-B14F-4D97-AF65-F5344CB8AC3E}">
        <p14:creationId xmlns:p14="http://schemas.microsoft.com/office/powerpoint/2010/main" val="4093224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COA: FIN 7.03</a:t>
            </a:r>
          </a:p>
        </p:txBody>
      </p:sp>
    </p:spTree>
    <p:extLst>
      <p:ext uri="{BB962C8B-B14F-4D97-AF65-F5344CB8AC3E}">
        <p14:creationId xmlns:p14="http://schemas.microsoft.com/office/powerpoint/2010/main" val="1733928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COA: FIN 7.03</a:t>
            </a:r>
          </a:p>
        </p:txBody>
      </p:sp>
    </p:spTree>
    <p:extLst>
      <p:ext uri="{BB962C8B-B14F-4D97-AF65-F5344CB8AC3E}">
        <p14:creationId xmlns:p14="http://schemas.microsoft.com/office/powerpoint/2010/main" val="3724516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COA: FIN 7.03</a:t>
            </a:r>
          </a:p>
        </p:txBody>
      </p:sp>
    </p:spTree>
    <p:extLst>
      <p:ext uri="{BB962C8B-B14F-4D97-AF65-F5344CB8AC3E}">
        <p14:creationId xmlns:p14="http://schemas.microsoft.com/office/powerpoint/2010/main" val="448911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COA: FIN 7.03</a:t>
            </a:r>
          </a:p>
        </p:txBody>
      </p:sp>
    </p:spTree>
    <p:extLst>
      <p:ext uri="{BB962C8B-B14F-4D97-AF65-F5344CB8AC3E}">
        <p14:creationId xmlns:p14="http://schemas.microsoft.com/office/powerpoint/2010/main" val="3416586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COA: FIN 7.03</a:t>
            </a:r>
          </a:p>
        </p:txBody>
      </p:sp>
    </p:spTree>
    <p:extLst>
      <p:ext uri="{BB962C8B-B14F-4D97-AF65-F5344CB8AC3E}">
        <p14:creationId xmlns:p14="http://schemas.microsoft.com/office/powerpoint/2010/main" val="528582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COA: FIN 7.03</a:t>
            </a:r>
          </a:p>
        </p:txBody>
      </p:sp>
    </p:spTree>
    <p:extLst>
      <p:ext uri="{BB962C8B-B14F-4D97-AF65-F5344CB8AC3E}">
        <p14:creationId xmlns:p14="http://schemas.microsoft.com/office/powerpoint/2010/main" val="1121567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COA: FIN 7.03</a:t>
            </a:r>
          </a:p>
        </p:txBody>
      </p:sp>
    </p:spTree>
    <p:extLst>
      <p:ext uri="{BB962C8B-B14F-4D97-AF65-F5344CB8AC3E}">
        <p14:creationId xmlns:p14="http://schemas.microsoft.com/office/powerpoint/2010/main" val="1796309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COA: FIN 7.03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9"/>
          <p:cNvSpPr>
            <a:spLocks noChangeArrowheads="1"/>
          </p:cNvSpPr>
          <p:nvPr/>
        </p:nvSpPr>
        <p:spPr bwMode="auto">
          <a:xfrm>
            <a:off x="2667000" y="1600200"/>
            <a:ext cx="16764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000"/>
              <a:t>Senior Accounting Clerk</a:t>
            </a:r>
          </a:p>
          <a:p>
            <a:pPr eaLnBrk="1" hangingPunct="1"/>
            <a:r>
              <a:rPr lang="en-US" sz="1000"/>
              <a:t>Reviews &amp; Codes</a:t>
            </a:r>
          </a:p>
        </p:txBody>
      </p:sp>
      <p:sp>
        <p:nvSpPr>
          <p:cNvPr id="2051" name="Rectangle 11"/>
          <p:cNvSpPr>
            <a:spLocks noChangeArrowheads="1"/>
          </p:cNvSpPr>
          <p:nvPr/>
        </p:nvSpPr>
        <p:spPr bwMode="auto">
          <a:xfrm>
            <a:off x="2667000" y="2286000"/>
            <a:ext cx="16764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000" dirty="0"/>
              <a:t>Accounting Clerk I</a:t>
            </a:r>
          </a:p>
          <a:p>
            <a:pPr eaLnBrk="1" hangingPunct="1"/>
            <a:r>
              <a:rPr lang="en-US" sz="1000" dirty="0"/>
              <a:t>Enters Payment</a:t>
            </a:r>
          </a:p>
        </p:txBody>
      </p:sp>
      <p:sp>
        <p:nvSpPr>
          <p:cNvPr id="2052" name="AutoShape 12"/>
          <p:cNvSpPr>
            <a:spLocks noChangeArrowheads="1"/>
          </p:cNvSpPr>
          <p:nvPr/>
        </p:nvSpPr>
        <p:spPr bwMode="auto">
          <a:xfrm>
            <a:off x="2667000" y="838200"/>
            <a:ext cx="1295400" cy="533400"/>
          </a:xfrm>
          <a:prstGeom prst="flowChartDocumen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sz="1000"/>
          </a:p>
          <a:p>
            <a:pPr eaLnBrk="1" hangingPunct="1"/>
            <a:r>
              <a:rPr lang="en-US" sz="1000"/>
              <a:t>Invoice &amp; </a:t>
            </a:r>
          </a:p>
          <a:p>
            <a:pPr eaLnBrk="1" hangingPunct="1"/>
            <a:r>
              <a:rPr lang="en-US" sz="1000"/>
              <a:t>Documentation</a:t>
            </a:r>
          </a:p>
          <a:p>
            <a:pPr eaLnBrk="1" hangingPunct="1"/>
            <a:endParaRPr lang="en-US" sz="1200"/>
          </a:p>
        </p:txBody>
      </p:sp>
      <p:sp>
        <p:nvSpPr>
          <p:cNvPr id="2053" name="Line 13"/>
          <p:cNvSpPr>
            <a:spLocks noChangeShapeType="1"/>
          </p:cNvSpPr>
          <p:nvPr/>
        </p:nvSpPr>
        <p:spPr bwMode="auto">
          <a:xfrm>
            <a:off x="1524000" y="12954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" name="Rectangle 14"/>
          <p:cNvSpPr>
            <a:spLocks noChangeArrowheads="1"/>
          </p:cNvSpPr>
          <p:nvPr/>
        </p:nvSpPr>
        <p:spPr bwMode="auto">
          <a:xfrm>
            <a:off x="2667000" y="2971800"/>
            <a:ext cx="1752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000"/>
              <a:t>Accountant III</a:t>
            </a:r>
          </a:p>
          <a:p>
            <a:pPr eaLnBrk="1" hangingPunct="1"/>
            <a:r>
              <a:rPr lang="en-US" sz="1000"/>
              <a:t>Reviews &amp; Approves Invoices</a:t>
            </a:r>
          </a:p>
          <a:p>
            <a:pPr eaLnBrk="1" hangingPunct="1"/>
            <a:r>
              <a:rPr lang="en-US" sz="1000"/>
              <a:t> &amp; A/P Edit Report</a:t>
            </a:r>
          </a:p>
        </p:txBody>
      </p:sp>
      <p:sp>
        <p:nvSpPr>
          <p:cNvPr id="2055" name="Text Box 20"/>
          <p:cNvSpPr txBox="1">
            <a:spLocks noChangeArrowheads="1"/>
          </p:cNvSpPr>
          <p:nvPr/>
        </p:nvSpPr>
        <p:spPr bwMode="auto">
          <a:xfrm>
            <a:off x="609600" y="533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2056" name="Text Box 21"/>
          <p:cNvSpPr txBox="1">
            <a:spLocks noChangeArrowheads="1"/>
          </p:cNvSpPr>
          <p:nvPr/>
        </p:nvSpPr>
        <p:spPr bwMode="auto">
          <a:xfrm>
            <a:off x="457200" y="228600"/>
            <a:ext cx="2057400" cy="187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400" b="1"/>
              <a:t>Flow Chart #1</a:t>
            </a:r>
          </a:p>
          <a:p>
            <a:pPr eaLnBrk="1" hangingPunct="1"/>
            <a:r>
              <a:rPr lang="en-US" sz="1400" b="1"/>
              <a:t>Invoice Payment</a:t>
            </a:r>
          </a:p>
          <a:p>
            <a:pPr eaLnBrk="1" hangingPunct="1"/>
            <a:r>
              <a:rPr lang="en-US" sz="1400" b="1"/>
              <a:t>Process</a:t>
            </a:r>
          </a:p>
          <a:p>
            <a:pPr eaLnBrk="1" hangingPunct="1"/>
            <a:r>
              <a:rPr lang="en-US" sz="1400" b="1"/>
              <a:t> </a:t>
            </a:r>
          </a:p>
          <a:p>
            <a:pPr algn="l" eaLnBrk="1" hangingPunct="1"/>
            <a:r>
              <a:rPr lang="en-US" sz="1200" b="1"/>
              <a:t>Adoption Date: 10-01-04</a:t>
            </a:r>
          </a:p>
          <a:p>
            <a:pPr algn="l" eaLnBrk="1" hangingPunct="1"/>
            <a:r>
              <a:rPr lang="en-US" sz="1200" b="1"/>
              <a:t>Revision Date:  01-28-09</a:t>
            </a:r>
          </a:p>
          <a:p>
            <a:pPr algn="l" eaLnBrk="1" hangingPunct="1"/>
            <a:r>
              <a:rPr lang="en-US" sz="1200" b="1"/>
              <a:t>Revision #4</a:t>
            </a:r>
          </a:p>
          <a:p>
            <a:pPr algn="l" eaLnBrk="1" hangingPunct="1"/>
            <a:r>
              <a:rPr lang="en-US" sz="1200" b="1"/>
              <a:t>Reviewed 2/25/13</a:t>
            </a:r>
          </a:p>
          <a:p>
            <a:pPr algn="l" eaLnBrk="1" hangingPunct="1"/>
            <a:r>
              <a:rPr lang="en-US" sz="1200" b="1"/>
              <a:t>Approved: ___________</a:t>
            </a:r>
          </a:p>
        </p:txBody>
      </p:sp>
      <p:sp>
        <p:nvSpPr>
          <p:cNvPr id="2057" name="Oval 26"/>
          <p:cNvSpPr>
            <a:spLocks noChangeArrowheads="1"/>
          </p:cNvSpPr>
          <p:nvPr/>
        </p:nvSpPr>
        <p:spPr bwMode="auto">
          <a:xfrm>
            <a:off x="5638800" y="1371600"/>
            <a:ext cx="1828800" cy="685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000"/>
              <a:t>Both Natural &amp; Sub Accounts</a:t>
            </a:r>
          </a:p>
        </p:txBody>
      </p:sp>
      <p:sp>
        <p:nvSpPr>
          <p:cNvPr id="2058" name="Line 27"/>
          <p:cNvSpPr>
            <a:spLocks noChangeShapeType="1"/>
          </p:cNvSpPr>
          <p:nvPr/>
        </p:nvSpPr>
        <p:spPr bwMode="auto">
          <a:xfrm flipV="1">
            <a:off x="4343400" y="1752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9" name="AutoShape 28"/>
          <p:cNvSpPr>
            <a:spLocks noChangeArrowheads="1"/>
          </p:cNvSpPr>
          <p:nvPr/>
        </p:nvSpPr>
        <p:spPr bwMode="auto">
          <a:xfrm>
            <a:off x="5715000" y="2133600"/>
            <a:ext cx="1524000" cy="685800"/>
          </a:xfrm>
          <a:prstGeom prst="flowChartManualInpu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000"/>
              <a:t>Solomon Accounting</a:t>
            </a:r>
          </a:p>
          <a:p>
            <a:pPr eaLnBrk="1" hangingPunct="1"/>
            <a:r>
              <a:rPr lang="en-US" sz="1000"/>
              <a:t> System</a:t>
            </a:r>
          </a:p>
        </p:txBody>
      </p:sp>
      <p:sp>
        <p:nvSpPr>
          <p:cNvPr id="2060" name="Line 29"/>
          <p:cNvSpPr>
            <a:spLocks noChangeShapeType="1"/>
          </p:cNvSpPr>
          <p:nvPr/>
        </p:nvSpPr>
        <p:spPr bwMode="auto">
          <a:xfrm>
            <a:off x="4343400" y="25146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1" name="Rectangle 30"/>
          <p:cNvSpPr>
            <a:spLocks noChangeArrowheads="1"/>
          </p:cNvSpPr>
          <p:nvPr/>
        </p:nvSpPr>
        <p:spPr bwMode="auto">
          <a:xfrm>
            <a:off x="2667000" y="4267200"/>
            <a:ext cx="1524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000"/>
              <a:t>Accounting Clerk I</a:t>
            </a:r>
          </a:p>
          <a:p>
            <a:pPr eaLnBrk="1" hangingPunct="1"/>
            <a:r>
              <a:rPr lang="en-US" sz="1000"/>
              <a:t>Issues Payment </a:t>
            </a:r>
          </a:p>
        </p:txBody>
      </p:sp>
      <p:sp>
        <p:nvSpPr>
          <p:cNvPr id="2062" name="AutoShape 33"/>
          <p:cNvSpPr>
            <a:spLocks noChangeArrowheads="1"/>
          </p:cNvSpPr>
          <p:nvPr/>
        </p:nvSpPr>
        <p:spPr bwMode="auto">
          <a:xfrm>
            <a:off x="4572000" y="4343400"/>
            <a:ext cx="914400" cy="609600"/>
          </a:xfrm>
          <a:prstGeom prst="flowChartDocumen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sz="1000"/>
          </a:p>
          <a:p>
            <a:pPr eaLnBrk="1" hangingPunct="1"/>
            <a:r>
              <a:rPr lang="en-US" sz="1000"/>
              <a:t>Payment</a:t>
            </a:r>
          </a:p>
          <a:p>
            <a:pPr eaLnBrk="1" hangingPunct="1"/>
            <a:r>
              <a:rPr lang="en-US" sz="1000"/>
              <a:t>Documentation</a:t>
            </a:r>
          </a:p>
          <a:p>
            <a:pPr eaLnBrk="1" hangingPunct="1"/>
            <a:endParaRPr lang="en-US" sz="1000"/>
          </a:p>
        </p:txBody>
      </p:sp>
      <p:sp>
        <p:nvSpPr>
          <p:cNvPr id="2063" name="AutoShape 37"/>
          <p:cNvSpPr>
            <a:spLocks noChangeArrowheads="1"/>
          </p:cNvSpPr>
          <p:nvPr/>
        </p:nvSpPr>
        <p:spPr bwMode="auto">
          <a:xfrm>
            <a:off x="4114800" y="6096000"/>
            <a:ext cx="914400" cy="304800"/>
          </a:xfrm>
          <a:prstGeom prst="flowChartTerminator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200"/>
              <a:t>Finish</a:t>
            </a:r>
          </a:p>
        </p:txBody>
      </p:sp>
      <p:sp>
        <p:nvSpPr>
          <p:cNvPr id="2064" name="Line 42"/>
          <p:cNvSpPr>
            <a:spLocks noChangeShapeType="1"/>
          </p:cNvSpPr>
          <p:nvPr/>
        </p:nvSpPr>
        <p:spPr bwMode="auto">
          <a:xfrm flipV="1">
            <a:off x="7010400" y="28194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5" name="AutoShape 46"/>
          <p:cNvSpPr>
            <a:spLocks noChangeArrowheads="1"/>
          </p:cNvSpPr>
          <p:nvPr/>
        </p:nvSpPr>
        <p:spPr bwMode="auto">
          <a:xfrm>
            <a:off x="2667000" y="228600"/>
            <a:ext cx="838200" cy="304800"/>
          </a:xfrm>
          <a:prstGeom prst="flowChartTerminator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200"/>
              <a:t>Start A</a:t>
            </a:r>
          </a:p>
        </p:txBody>
      </p:sp>
      <p:sp>
        <p:nvSpPr>
          <p:cNvPr id="2066" name="AutoShape 51"/>
          <p:cNvSpPr>
            <a:spLocks noChangeArrowheads="1"/>
          </p:cNvSpPr>
          <p:nvPr/>
        </p:nvSpPr>
        <p:spPr bwMode="auto">
          <a:xfrm>
            <a:off x="5715000" y="3124200"/>
            <a:ext cx="1143000" cy="609600"/>
          </a:xfrm>
          <a:prstGeom prst="flowChartDocumen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000"/>
              <a:t>Solomon A/P </a:t>
            </a:r>
          </a:p>
          <a:p>
            <a:pPr eaLnBrk="1" hangingPunct="1"/>
            <a:r>
              <a:rPr lang="en-US" sz="1000"/>
              <a:t>Edit Report</a:t>
            </a:r>
          </a:p>
        </p:txBody>
      </p:sp>
      <p:sp>
        <p:nvSpPr>
          <p:cNvPr id="2067" name="Line 55"/>
          <p:cNvSpPr>
            <a:spLocks noChangeShapeType="1"/>
          </p:cNvSpPr>
          <p:nvPr/>
        </p:nvSpPr>
        <p:spPr bwMode="auto">
          <a:xfrm>
            <a:off x="2057400" y="3810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8" name="Line 57"/>
          <p:cNvSpPr>
            <a:spLocks noChangeShapeType="1"/>
          </p:cNvSpPr>
          <p:nvPr/>
        </p:nvSpPr>
        <p:spPr bwMode="auto">
          <a:xfrm>
            <a:off x="3962400" y="5410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9" name="Line 59"/>
          <p:cNvSpPr>
            <a:spLocks noChangeShapeType="1"/>
          </p:cNvSpPr>
          <p:nvPr/>
        </p:nvSpPr>
        <p:spPr bwMode="auto">
          <a:xfrm flipH="1">
            <a:off x="4419600" y="3276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70" name="AutoShape 64"/>
          <p:cNvSpPr>
            <a:spLocks noChangeArrowheads="1"/>
          </p:cNvSpPr>
          <p:nvPr/>
        </p:nvSpPr>
        <p:spPr bwMode="auto">
          <a:xfrm>
            <a:off x="7162800" y="5181600"/>
            <a:ext cx="1371600" cy="609600"/>
          </a:xfrm>
          <a:prstGeom prst="flowChartOnlineStora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000"/>
              <a:t>A/P Edit Report</a:t>
            </a:r>
          </a:p>
          <a:p>
            <a:pPr eaLnBrk="1" hangingPunct="1"/>
            <a:r>
              <a:rPr lang="en-US" sz="1000"/>
              <a:t> File</a:t>
            </a:r>
          </a:p>
          <a:p>
            <a:pPr eaLnBrk="1" hangingPunct="1"/>
            <a:r>
              <a:rPr lang="en-US" sz="1000"/>
              <a:t>(Date)</a:t>
            </a:r>
          </a:p>
        </p:txBody>
      </p:sp>
      <p:sp>
        <p:nvSpPr>
          <p:cNvPr id="2071" name="Line 66"/>
          <p:cNvSpPr>
            <a:spLocks noChangeShapeType="1"/>
          </p:cNvSpPr>
          <p:nvPr/>
        </p:nvSpPr>
        <p:spPr bwMode="auto">
          <a:xfrm>
            <a:off x="5486400" y="4648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72" name="Line 69"/>
          <p:cNvSpPr>
            <a:spLocks noChangeShapeType="1"/>
          </p:cNvSpPr>
          <p:nvPr/>
        </p:nvSpPr>
        <p:spPr bwMode="auto">
          <a:xfrm>
            <a:off x="1143000" y="3505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73" name="Line 70"/>
          <p:cNvSpPr>
            <a:spLocks noChangeShapeType="1"/>
          </p:cNvSpPr>
          <p:nvPr/>
        </p:nvSpPr>
        <p:spPr bwMode="auto">
          <a:xfrm>
            <a:off x="3048000" y="2743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74" name="Line 71"/>
          <p:cNvSpPr>
            <a:spLocks noChangeShapeType="1"/>
          </p:cNvSpPr>
          <p:nvPr/>
        </p:nvSpPr>
        <p:spPr bwMode="auto">
          <a:xfrm>
            <a:off x="3124200" y="2057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75" name="Line 72"/>
          <p:cNvSpPr>
            <a:spLocks noChangeShapeType="1"/>
          </p:cNvSpPr>
          <p:nvPr/>
        </p:nvSpPr>
        <p:spPr bwMode="auto">
          <a:xfrm>
            <a:off x="3124200" y="13716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76" name="Line 73"/>
          <p:cNvSpPr>
            <a:spLocks noChangeShapeType="1"/>
          </p:cNvSpPr>
          <p:nvPr/>
        </p:nvSpPr>
        <p:spPr bwMode="auto">
          <a:xfrm>
            <a:off x="3048000" y="533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77" name="AutoShape 74"/>
          <p:cNvSpPr>
            <a:spLocks noChangeArrowheads="1"/>
          </p:cNvSpPr>
          <p:nvPr/>
        </p:nvSpPr>
        <p:spPr bwMode="auto">
          <a:xfrm>
            <a:off x="5715000" y="228600"/>
            <a:ext cx="1752600" cy="990600"/>
          </a:xfrm>
          <a:prstGeom prst="flowChartPredefined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200"/>
              <a:t>Authorized By:</a:t>
            </a:r>
          </a:p>
          <a:p>
            <a:pPr eaLnBrk="1" hangingPunct="1"/>
            <a:r>
              <a:rPr lang="en-US" sz="1200"/>
              <a:t>Authorization List Procedure      AP-432</a:t>
            </a:r>
          </a:p>
          <a:p>
            <a:pPr eaLnBrk="1" hangingPunct="1"/>
            <a:r>
              <a:rPr lang="en-US" sz="1200"/>
              <a:t>or Contract</a:t>
            </a:r>
          </a:p>
        </p:txBody>
      </p:sp>
      <p:sp>
        <p:nvSpPr>
          <p:cNvPr id="2078" name="Line 75"/>
          <p:cNvSpPr>
            <a:spLocks noChangeShapeType="1"/>
          </p:cNvSpPr>
          <p:nvPr/>
        </p:nvSpPr>
        <p:spPr bwMode="auto">
          <a:xfrm flipV="1">
            <a:off x="3962400" y="990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79" name="Line 77"/>
          <p:cNvSpPr>
            <a:spLocks noChangeShapeType="1"/>
          </p:cNvSpPr>
          <p:nvPr/>
        </p:nvSpPr>
        <p:spPr bwMode="auto">
          <a:xfrm>
            <a:off x="6477000" y="2819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80" name="Rectangle 80"/>
          <p:cNvSpPr>
            <a:spLocks noChangeArrowheads="1"/>
          </p:cNvSpPr>
          <p:nvPr/>
        </p:nvSpPr>
        <p:spPr bwMode="auto">
          <a:xfrm>
            <a:off x="533400" y="2895600"/>
            <a:ext cx="15240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sz="1000"/>
          </a:p>
          <a:p>
            <a:pPr eaLnBrk="1" hangingPunct="1"/>
            <a:r>
              <a:rPr lang="en-US" sz="900"/>
              <a:t>Accounting Manager</a:t>
            </a:r>
          </a:p>
          <a:p>
            <a:pPr eaLnBrk="1" hangingPunct="1"/>
            <a:r>
              <a:rPr lang="en-US" sz="900"/>
              <a:t>Releases A/P Batch</a:t>
            </a:r>
          </a:p>
          <a:p>
            <a:pPr eaLnBrk="1" hangingPunct="1"/>
            <a:r>
              <a:rPr lang="en-US" sz="900"/>
              <a:t>With Final Approved </a:t>
            </a:r>
          </a:p>
          <a:p>
            <a:pPr eaLnBrk="1" hangingPunct="1"/>
            <a:r>
              <a:rPr lang="en-US" sz="900"/>
              <a:t>A/P Edit Report</a:t>
            </a:r>
          </a:p>
          <a:p>
            <a:pPr eaLnBrk="1" hangingPunct="1"/>
            <a:endParaRPr lang="en-US" sz="1000"/>
          </a:p>
        </p:txBody>
      </p:sp>
      <p:sp>
        <p:nvSpPr>
          <p:cNvPr id="2081" name="Line 81"/>
          <p:cNvSpPr>
            <a:spLocks noChangeShapeType="1"/>
          </p:cNvSpPr>
          <p:nvPr/>
        </p:nvSpPr>
        <p:spPr bwMode="auto">
          <a:xfrm flipH="1">
            <a:off x="2057400" y="3429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82" name="AutoShape 83"/>
          <p:cNvSpPr>
            <a:spLocks noChangeArrowheads="1"/>
          </p:cNvSpPr>
          <p:nvPr/>
        </p:nvSpPr>
        <p:spPr bwMode="auto">
          <a:xfrm>
            <a:off x="533400" y="3657600"/>
            <a:ext cx="1524000" cy="685800"/>
          </a:xfrm>
          <a:prstGeom prst="flowChartMultidocumen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000"/>
              <a:t>Invoice Documents &amp;</a:t>
            </a:r>
          </a:p>
          <a:p>
            <a:pPr eaLnBrk="1" hangingPunct="1"/>
            <a:r>
              <a:rPr lang="en-US" sz="1000"/>
              <a:t> Aging Report</a:t>
            </a:r>
          </a:p>
          <a:p>
            <a:pPr eaLnBrk="1" hangingPunct="1"/>
            <a:r>
              <a:rPr lang="en-US" sz="1000"/>
              <a:t> </a:t>
            </a:r>
          </a:p>
        </p:txBody>
      </p:sp>
      <p:sp>
        <p:nvSpPr>
          <p:cNvPr id="2083" name="AutoShape 84"/>
          <p:cNvSpPr>
            <a:spLocks noChangeArrowheads="1"/>
          </p:cNvSpPr>
          <p:nvPr/>
        </p:nvSpPr>
        <p:spPr bwMode="auto">
          <a:xfrm>
            <a:off x="5562600" y="5181600"/>
            <a:ext cx="1143000" cy="609600"/>
          </a:xfrm>
          <a:prstGeom prst="flowChartDocumen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000"/>
              <a:t>Solomon A/P </a:t>
            </a:r>
          </a:p>
          <a:p>
            <a:pPr eaLnBrk="1" hangingPunct="1"/>
            <a:r>
              <a:rPr lang="en-US" sz="1000"/>
              <a:t>Edit Report</a:t>
            </a:r>
          </a:p>
        </p:txBody>
      </p:sp>
      <p:sp>
        <p:nvSpPr>
          <p:cNvPr id="2084" name="Line 85"/>
          <p:cNvSpPr>
            <a:spLocks noChangeShapeType="1"/>
          </p:cNvSpPr>
          <p:nvPr/>
        </p:nvSpPr>
        <p:spPr bwMode="auto">
          <a:xfrm>
            <a:off x="6705600" y="5486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85" name="AutoShape 86"/>
          <p:cNvSpPr>
            <a:spLocks noChangeArrowheads="1"/>
          </p:cNvSpPr>
          <p:nvPr/>
        </p:nvSpPr>
        <p:spPr bwMode="auto">
          <a:xfrm>
            <a:off x="685800" y="2362200"/>
            <a:ext cx="838200" cy="457200"/>
          </a:xfrm>
          <a:prstGeom prst="flowChartTerminator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sz="1000"/>
          </a:p>
          <a:p>
            <a:pPr eaLnBrk="1" hangingPunct="1"/>
            <a:r>
              <a:rPr lang="en-US" sz="1200"/>
              <a:t>Start B</a:t>
            </a:r>
          </a:p>
          <a:p>
            <a:pPr eaLnBrk="1" hangingPunct="1"/>
            <a:endParaRPr lang="en-US" sz="1200"/>
          </a:p>
        </p:txBody>
      </p:sp>
      <p:sp>
        <p:nvSpPr>
          <p:cNvPr id="2086" name="Line 88"/>
          <p:cNvSpPr>
            <a:spLocks noChangeShapeType="1"/>
          </p:cNvSpPr>
          <p:nvPr/>
        </p:nvSpPr>
        <p:spPr bwMode="auto">
          <a:xfrm>
            <a:off x="1524000" y="26670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87" name="Rectangle 89"/>
          <p:cNvSpPr>
            <a:spLocks noChangeArrowheads="1"/>
          </p:cNvSpPr>
          <p:nvPr/>
        </p:nvSpPr>
        <p:spPr bwMode="auto">
          <a:xfrm>
            <a:off x="2667000" y="3581400"/>
            <a:ext cx="15240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000"/>
              <a:t>Senior Accounting Clerk</a:t>
            </a:r>
          </a:p>
          <a:p>
            <a:pPr eaLnBrk="1" hangingPunct="1"/>
            <a:r>
              <a:rPr lang="en-US" sz="1000"/>
              <a:t>Payment Selection</a:t>
            </a:r>
          </a:p>
        </p:txBody>
      </p:sp>
      <p:sp>
        <p:nvSpPr>
          <p:cNvPr id="2088" name="Line 90"/>
          <p:cNvSpPr>
            <a:spLocks noChangeShapeType="1"/>
          </p:cNvSpPr>
          <p:nvPr/>
        </p:nvSpPr>
        <p:spPr bwMode="auto">
          <a:xfrm flipV="1">
            <a:off x="4114800" y="2743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89" name="AutoShape 91"/>
          <p:cNvSpPr>
            <a:spLocks noChangeArrowheads="1"/>
          </p:cNvSpPr>
          <p:nvPr/>
        </p:nvSpPr>
        <p:spPr bwMode="auto">
          <a:xfrm>
            <a:off x="304800" y="4572000"/>
            <a:ext cx="1828800" cy="685800"/>
          </a:xfrm>
          <a:prstGeom prst="flowChartMultidocumen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000"/>
              <a:t>Checks signed out by </a:t>
            </a:r>
          </a:p>
          <a:p>
            <a:pPr eaLnBrk="1" hangingPunct="1"/>
            <a:r>
              <a:rPr lang="en-US" sz="1000"/>
              <a:t>the Accounting Manager</a:t>
            </a:r>
          </a:p>
        </p:txBody>
      </p:sp>
      <p:sp>
        <p:nvSpPr>
          <p:cNvPr id="2090" name="Line 92"/>
          <p:cNvSpPr>
            <a:spLocks noChangeShapeType="1"/>
          </p:cNvSpPr>
          <p:nvPr/>
        </p:nvSpPr>
        <p:spPr bwMode="auto">
          <a:xfrm flipV="1">
            <a:off x="2133600" y="3962400"/>
            <a:ext cx="533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91" name="Line 93"/>
          <p:cNvSpPr>
            <a:spLocks noChangeShapeType="1"/>
          </p:cNvSpPr>
          <p:nvPr/>
        </p:nvSpPr>
        <p:spPr bwMode="auto">
          <a:xfrm>
            <a:off x="3352800" y="40386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92" name="Line 94"/>
          <p:cNvSpPr>
            <a:spLocks noChangeShapeType="1"/>
          </p:cNvSpPr>
          <p:nvPr/>
        </p:nvSpPr>
        <p:spPr bwMode="auto">
          <a:xfrm>
            <a:off x="4191000" y="4648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93" name="AutoShape 97"/>
          <p:cNvSpPr>
            <a:spLocks noChangeArrowheads="1"/>
          </p:cNvSpPr>
          <p:nvPr/>
        </p:nvSpPr>
        <p:spPr bwMode="auto">
          <a:xfrm>
            <a:off x="2667000" y="5981700"/>
            <a:ext cx="1219200" cy="739775"/>
          </a:xfrm>
          <a:prstGeom prst="flowChartManualOpe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000"/>
              <a:t>EFT By</a:t>
            </a:r>
          </a:p>
          <a:p>
            <a:pPr eaLnBrk="1" hangingPunct="1"/>
            <a:r>
              <a:rPr lang="en-US" sz="1000"/>
              <a:t>Finance</a:t>
            </a:r>
          </a:p>
          <a:p>
            <a:pPr eaLnBrk="1" hangingPunct="1"/>
            <a:r>
              <a:rPr lang="en-US" sz="1000"/>
              <a:t>Director or</a:t>
            </a:r>
          </a:p>
          <a:p>
            <a:pPr eaLnBrk="1" hangingPunct="1"/>
            <a:r>
              <a:rPr lang="en-US" sz="1000"/>
              <a:t>Designee</a:t>
            </a:r>
          </a:p>
        </p:txBody>
      </p:sp>
      <p:sp>
        <p:nvSpPr>
          <p:cNvPr id="2094" name="Text Box 107"/>
          <p:cNvSpPr txBox="1">
            <a:spLocks noChangeArrowheads="1"/>
          </p:cNvSpPr>
          <p:nvPr/>
        </p:nvSpPr>
        <p:spPr bwMode="auto">
          <a:xfrm>
            <a:off x="7620000" y="6477000"/>
            <a:ext cx="1143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1000"/>
              <a:t>COA: FIN 7.03</a:t>
            </a:r>
          </a:p>
        </p:txBody>
      </p:sp>
      <p:sp>
        <p:nvSpPr>
          <p:cNvPr id="2095" name="Rectangle 108"/>
          <p:cNvSpPr>
            <a:spLocks noChangeArrowheads="1"/>
          </p:cNvSpPr>
          <p:nvPr/>
        </p:nvSpPr>
        <p:spPr bwMode="auto">
          <a:xfrm>
            <a:off x="5943600" y="4343400"/>
            <a:ext cx="15240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000"/>
              <a:t>Accounting Clerk I</a:t>
            </a:r>
          </a:p>
          <a:p>
            <a:pPr eaLnBrk="1" hangingPunct="1"/>
            <a:r>
              <a:rPr lang="en-US" sz="1000"/>
              <a:t>Files </a:t>
            </a:r>
          </a:p>
          <a:p>
            <a:pPr eaLnBrk="1" hangingPunct="1"/>
            <a:r>
              <a:rPr lang="en-US" sz="1000"/>
              <a:t>Invoice/Documentation</a:t>
            </a:r>
          </a:p>
        </p:txBody>
      </p:sp>
      <p:sp>
        <p:nvSpPr>
          <p:cNvPr id="2096" name="AutoShape 110"/>
          <p:cNvSpPr>
            <a:spLocks noChangeArrowheads="1"/>
          </p:cNvSpPr>
          <p:nvPr/>
        </p:nvSpPr>
        <p:spPr bwMode="auto">
          <a:xfrm>
            <a:off x="4343400" y="5181600"/>
            <a:ext cx="1066800" cy="609600"/>
          </a:xfrm>
          <a:prstGeom prst="flowChartOnlineStora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000"/>
              <a:t>Invoice File</a:t>
            </a:r>
          </a:p>
          <a:p>
            <a:pPr eaLnBrk="1" hangingPunct="1"/>
            <a:r>
              <a:rPr lang="en-US" sz="1000"/>
              <a:t>(A – Z)</a:t>
            </a:r>
          </a:p>
        </p:txBody>
      </p:sp>
      <p:sp>
        <p:nvSpPr>
          <p:cNvPr id="2097" name="AutoShape 111"/>
          <p:cNvSpPr>
            <a:spLocks noChangeArrowheads="1"/>
          </p:cNvSpPr>
          <p:nvPr/>
        </p:nvSpPr>
        <p:spPr bwMode="auto">
          <a:xfrm>
            <a:off x="3048000" y="5181600"/>
            <a:ext cx="1066800" cy="609600"/>
          </a:xfrm>
          <a:prstGeom prst="flowChartDocumen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000"/>
              <a:t>Invoice &amp; </a:t>
            </a:r>
          </a:p>
          <a:p>
            <a:pPr eaLnBrk="1" hangingPunct="1"/>
            <a:r>
              <a:rPr lang="en-US" sz="1000"/>
              <a:t>Documentation</a:t>
            </a:r>
          </a:p>
        </p:txBody>
      </p:sp>
      <p:sp>
        <p:nvSpPr>
          <p:cNvPr id="2098" name="Line 112"/>
          <p:cNvSpPr>
            <a:spLocks noChangeShapeType="1"/>
          </p:cNvSpPr>
          <p:nvPr/>
        </p:nvSpPr>
        <p:spPr bwMode="auto">
          <a:xfrm>
            <a:off x="4114800" y="5486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99" name="Line 114"/>
          <p:cNvSpPr>
            <a:spLocks noChangeShapeType="1"/>
          </p:cNvSpPr>
          <p:nvPr/>
        </p:nvSpPr>
        <p:spPr bwMode="auto">
          <a:xfrm flipH="1">
            <a:off x="4419600" y="4114800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00" name="Line 116"/>
          <p:cNvSpPr>
            <a:spLocks noChangeShapeType="1"/>
          </p:cNvSpPr>
          <p:nvPr/>
        </p:nvSpPr>
        <p:spPr bwMode="auto">
          <a:xfrm>
            <a:off x="4419600" y="4114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01" name="Line 117"/>
          <p:cNvSpPr>
            <a:spLocks noChangeShapeType="1"/>
          </p:cNvSpPr>
          <p:nvPr/>
        </p:nvSpPr>
        <p:spPr bwMode="auto">
          <a:xfrm flipH="1">
            <a:off x="4191000" y="4572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02" name="AutoShape 118"/>
          <p:cNvSpPr>
            <a:spLocks noChangeArrowheads="1"/>
          </p:cNvSpPr>
          <p:nvPr/>
        </p:nvSpPr>
        <p:spPr bwMode="auto">
          <a:xfrm>
            <a:off x="1981200" y="5257800"/>
            <a:ext cx="914400" cy="609600"/>
          </a:xfrm>
          <a:prstGeom prst="flowChartManualOpe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000"/>
              <a:t>Mail</a:t>
            </a:r>
          </a:p>
          <a:p>
            <a:pPr eaLnBrk="1" hangingPunct="1"/>
            <a:r>
              <a:rPr lang="en-US" sz="1000"/>
              <a:t>Manual </a:t>
            </a:r>
          </a:p>
          <a:p>
            <a:pPr eaLnBrk="1" hangingPunct="1"/>
            <a:r>
              <a:rPr lang="en-US" sz="1000"/>
              <a:t>Check</a:t>
            </a:r>
          </a:p>
        </p:txBody>
      </p:sp>
      <p:sp>
        <p:nvSpPr>
          <p:cNvPr id="2103" name="Line 122"/>
          <p:cNvSpPr>
            <a:spLocks noChangeShapeType="1"/>
          </p:cNvSpPr>
          <p:nvPr/>
        </p:nvSpPr>
        <p:spPr bwMode="auto">
          <a:xfrm>
            <a:off x="4648200" y="5791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04" name="Line 131"/>
          <p:cNvSpPr>
            <a:spLocks noChangeShapeType="1"/>
          </p:cNvSpPr>
          <p:nvPr/>
        </p:nvSpPr>
        <p:spPr bwMode="auto">
          <a:xfrm flipH="1">
            <a:off x="5029200" y="61722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05" name="Line 132"/>
          <p:cNvSpPr>
            <a:spLocks noChangeShapeType="1"/>
          </p:cNvSpPr>
          <p:nvPr/>
        </p:nvSpPr>
        <p:spPr bwMode="auto">
          <a:xfrm>
            <a:off x="7924800" y="5791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06" name="Line 133"/>
          <p:cNvSpPr>
            <a:spLocks noChangeShapeType="1"/>
          </p:cNvSpPr>
          <p:nvPr/>
        </p:nvSpPr>
        <p:spPr bwMode="auto">
          <a:xfrm>
            <a:off x="3810000" y="62484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07" name="Line 134"/>
          <p:cNvSpPr>
            <a:spLocks noChangeShapeType="1"/>
          </p:cNvSpPr>
          <p:nvPr/>
        </p:nvSpPr>
        <p:spPr bwMode="auto">
          <a:xfrm flipH="1">
            <a:off x="2514600" y="5029200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08" name="Line 135"/>
          <p:cNvSpPr>
            <a:spLocks noChangeShapeType="1"/>
          </p:cNvSpPr>
          <p:nvPr/>
        </p:nvSpPr>
        <p:spPr bwMode="auto">
          <a:xfrm>
            <a:off x="2514600" y="5029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09" name="Line 137"/>
          <p:cNvSpPr>
            <a:spLocks noChangeShapeType="1"/>
          </p:cNvSpPr>
          <p:nvPr/>
        </p:nvSpPr>
        <p:spPr bwMode="auto">
          <a:xfrm>
            <a:off x="2667000" y="58674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10" name="Line 138"/>
          <p:cNvSpPr>
            <a:spLocks noChangeShapeType="1"/>
          </p:cNvSpPr>
          <p:nvPr/>
        </p:nvSpPr>
        <p:spPr bwMode="auto">
          <a:xfrm>
            <a:off x="4419600" y="5867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11" name="Line 139"/>
          <p:cNvSpPr>
            <a:spLocks noChangeShapeType="1"/>
          </p:cNvSpPr>
          <p:nvPr/>
        </p:nvSpPr>
        <p:spPr bwMode="auto">
          <a:xfrm>
            <a:off x="3505200" y="50292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12" name="Line 140"/>
          <p:cNvSpPr>
            <a:spLocks noChangeShapeType="1"/>
          </p:cNvSpPr>
          <p:nvPr/>
        </p:nvSpPr>
        <p:spPr bwMode="auto">
          <a:xfrm>
            <a:off x="5715000" y="48006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13" name="Line 141"/>
          <p:cNvSpPr>
            <a:spLocks noChangeShapeType="1"/>
          </p:cNvSpPr>
          <p:nvPr/>
        </p:nvSpPr>
        <p:spPr bwMode="auto">
          <a:xfrm flipH="1">
            <a:off x="5715000" y="4800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14" name="Line 142"/>
          <p:cNvSpPr>
            <a:spLocks noChangeShapeType="1"/>
          </p:cNvSpPr>
          <p:nvPr/>
        </p:nvSpPr>
        <p:spPr bwMode="auto">
          <a:xfrm flipH="1">
            <a:off x="609600" y="4648200"/>
            <a:ext cx="2057400" cy="1600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15" name="Line 144"/>
          <p:cNvSpPr>
            <a:spLocks noChangeShapeType="1"/>
          </p:cNvSpPr>
          <p:nvPr/>
        </p:nvSpPr>
        <p:spPr bwMode="auto">
          <a:xfrm>
            <a:off x="609600" y="6248400"/>
            <a:ext cx="2133600" cy="76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16" name="Text Box 145"/>
          <p:cNvSpPr txBox="1">
            <a:spLocks noChangeArrowheads="1"/>
          </p:cNvSpPr>
          <p:nvPr/>
        </p:nvSpPr>
        <p:spPr bwMode="auto">
          <a:xfrm>
            <a:off x="7375525" y="331628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2117" name="AutoShape 147"/>
          <p:cNvSpPr>
            <a:spLocks/>
          </p:cNvSpPr>
          <p:nvPr/>
        </p:nvSpPr>
        <p:spPr bwMode="auto">
          <a:xfrm>
            <a:off x="7772400" y="3276600"/>
            <a:ext cx="914400" cy="457200"/>
          </a:xfrm>
          <a:prstGeom prst="callout2">
            <a:avLst>
              <a:gd name="adj1" fmla="val 25000"/>
              <a:gd name="adj2" fmla="val -8333"/>
              <a:gd name="adj3" fmla="val 25000"/>
              <a:gd name="adj4" fmla="val -24306"/>
              <a:gd name="adj5" fmla="val 133333"/>
              <a:gd name="adj6" fmla="val -8159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 type="triangle" w="med" len="med"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900"/>
              <a:t>Payments Entered</a:t>
            </a:r>
          </a:p>
        </p:txBody>
      </p:sp>
      <p:sp>
        <p:nvSpPr>
          <p:cNvPr id="2118" name="Line 148"/>
          <p:cNvSpPr>
            <a:spLocks noChangeShapeType="1"/>
          </p:cNvSpPr>
          <p:nvPr/>
        </p:nvSpPr>
        <p:spPr bwMode="auto">
          <a:xfrm>
            <a:off x="6324600" y="4953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A FIN 703">
  <a:themeElements>
    <a:clrScheme name="COA FIN 70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OA FIN 70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OA FIN 70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A FIN 70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A FIN 70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A FIN 70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A FIN 70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A FIN 70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A FIN 70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A FIN 70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A FIN 70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A FIN 70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A FIN 70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A FIN 70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3697</TotalTime>
  <Words>156</Words>
  <Application>Microsoft Office PowerPoint</Application>
  <PresentationFormat>On-screen Show (4:3)</PresentationFormat>
  <Paragraphs>70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COA FIN 703</vt:lpstr>
      <vt:lpstr>PowerPoint Presentation</vt:lpstr>
    </vt:vector>
  </TitlesOfParts>
  <Company>CBC Brevard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Chad Carnell</dc:creator>
  <cp:lastModifiedBy>user</cp:lastModifiedBy>
  <cp:revision>80</cp:revision>
  <dcterms:created xsi:type="dcterms:W3CDTF">2004-08-24T22:04:32Z</dcterms:created>
  <dcterms:modified xsi:type="dcterms:W3CDTF">2016-08-17T06:14:17Z</dcterms:modified>
</cp:coreProperties>
</file>