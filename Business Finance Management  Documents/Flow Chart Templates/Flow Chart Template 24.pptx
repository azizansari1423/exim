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3" autoAdjust="0"/>
    <p:restoredTop sz="94660"/>
  </p:normalViewPr>
  <p:slideViewPr>
    <p:cSldViewPr snapToGrid="0">
      <p:cViewPr varScale="1">
        <p:scale>
          <a:sx n="62" d="100"/>
          <a:sy n="62" d="100"/>
        </p:scale>
        <p:origin x="4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96C28-EAE9-41EA-AAFC-C2AB243FD5BA}" type="datetimeFigureOut">
              <a:rPr lang="en-US" smtClean="0"/>
              <a:t>8/17/2016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46BF17-4D93-4CBA-8CDE-E8AA1AFF55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337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4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Process strategies</a:t>
            </a:r>
          </a:p>
        </p:txBody>
      </p:sp>
      <p:sp>
        <p:nvSpPr>
          <p:cNvPr id="1259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MGT 301</a:t>
            </a:r>
          </a:p>
        </p:txBody>
      </p:sp>
      <p:sp>
        <p:nvSpPr>
          <p:cNvPr id="125956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r>
              <a:rPr lang="en-US" sz="1200" smtClean="0">
                <a:solidFill>
                  <a:srgbClr val="000000"/>
                </a:solidFill>
                <a:latin typeface="Times New Roman" panose="02020603050405020304" pitchFamily="18" charset="0"/>
              </a:rPr>
              <a:t>Ch 7</a:t>
            </a:r>
          </a:p>
        </p:txBody>
      </p:sp>
      <p:sp>
        <p:nvSpPr>
          <p:cNvPr id="1259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 Narrow" panose="020B0606020202030204" pitchFamily="34" charset="0"/>
              </a:defRPr>
            </a:lvl9pPr>
          </a:lstStyle>
          <a:p>
            <a:pPr eaLnBrk="1" hangingPunct="1"/>
            <a:fld id="{272802B8-05A0-4B11-B67C-0A4A19973D34}" type="slidenum">
              <a:rPr lang="en-US" sz="1200">
                <a:solidFill>
                  <a:srgbClr val="000000"/>
                </a:solidFill>
                <a:latin typeface="Times New Roman" panose="02020603050405020304" pitchFamily="18" charset="0"/>
              </a:rPr>
              <a:pPr eaLnBrk="1" hangingPunct="1"/>
              <a:t>1</a:t>
            </a:fld>
            <a:endParaRPr lang="en-US" sz="120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59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59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AU" smtClean="0"/>
          </a:p>
        </p:txBody>
      </p:sp>
    </p:spTree>
    <p:extLst>
      <p:ext uri="{BB962C8B-B14F-4D97-AF65-F5344CB8AC3E}">
        <p14:creationId xmlns:p14="http://schemas.microsoft.com/office/powerpoint/2010/main" val="21060870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5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8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9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0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1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12" name="Freeform 10"/>
          <p:cNvSpPr>
            <a:spLocks/>
          </p:cNvSpPr>
          <p:nvPr/>
        </p:nvSpPr>
        <p:spPr bwMode="hidden">
          <a:xfrm rot="16200000">
            <a:off x="5590381" y="-1424781"/>
            <a:ext cx="1722438" cy="4572000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13" name="Picture 11" descr="Facbann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80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1524000" y="2286000"/>
            <a:ext cx="103632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181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2844800" y="4114800"/>
            <a:ext cx="85344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Rectangle 14"/>
          <p:cNvSpPr>
            <a:spLocks noGrp="1" noChangeArrowheads="1"/>
          </p:cNvSpPr>
          <p:nvPr>
            <p:ph type="dt" sz="half" idx="10"/>
          </p:nvPr>
        </p:nvSpPr>
        <p:spPr>
          <a:xfrm>
            <a:off x="15240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5" name="Rectangle 15"/>
          <p:cNvSpPr>
            <a:spLocks noGrp="1" noChangeArrowheads="1"/>
          </p:cNvSpPr>
          <p:nvPr>
            <p:ph type="ftr" sz="quarter" idx="11"/>
          </p:nvPr>
        </p:nvSpPr>
        <p:spPr>
          <a:xfrm>
            <a:off x="47752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16" name="Rectangle 1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93472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fld id="{39A46D83-0A0C-4CE4-A153-ED8329A5BDF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4461023"/>
      </p:ext>
    </p:extLst>
  </p:cSld>
  <p:clrMapOvr>
    <a:masterClrMapping/>
  </p:clrMapOvr>
  <p:transition>
    <p:wipe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5C27FD9-639D-4D3C-8AC5-64DA914ADCB5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40693"/>
      </p:ext>
    </p:extLst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524417-F499-43D1-86EC-701BEACD43F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7948441"/>
      </p:ext>
    </p:extLst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A5174FE-F82F-4A0D-9E6C-0B3500A2A88C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106017"/>
      </p:ext>
    </p:extLst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9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EF01927-A634-4F04-AA1F-5EC23F74179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5016727"/>
      </p:ext>
    </p:extLst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3B29971-A831-44BA-BB0C-B06287A2EE7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832405"/>
      </p:ext>
    </p:extLst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3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4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8BD5190-99D8-4C03-B87C-8A30CA0441D3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2261497"/>
      </p:ext>
    </p:extLst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419F20A-ADA5-4E08-8746-85CEA3C402D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23095"/>
      </p:ext>
    </p:extLst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4CC8C5B-C336-4774-A7EF-7E9135BED458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1559215"/>
      </p:ext>
    </p:extLst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5F9A592-7344-4CDA-9C9A-94717856D23D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7574932"/>
      </p:ext>
    </p:extLst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94800" y="304800"/>
            <a:ext cx="25908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22400" y="304800"/>
            <a:ext cx="75692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B76F78-F89F-458D-A617-A46458A3F717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789425"/>
      </p:ext>
    </p:extLst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4224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05600" y="1676400"/>
            <a:ext cx="50800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7705F17-F5CD-49C2-8957-A83346E7994E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3875041"/>
      </p:ext>
    </p:extLst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14224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705600" y="1676400"/>
            <a:ext cx="50800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1422400" y="3810000"/>
            <a:ext cx="10363200" cy="1981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7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8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699B6F6-6866-4D8E-8DE9-09CBC2831CD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653235"/>
      </p:ext>
    </p:extLst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2400" y="304800"/>
            <a:ext cx="10363200" cy="1143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422400" y="1676400"/>
            <a:ext cx="10363200" cy="4114800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13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5" name="Rectangle 14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" name="Rectangle 15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2B62E98-C115-4A21-A568-70461B232501}" type="slidenum">
              <a:rPr lang="en-US">
                <a:solidFill>
                  <a:srgbClr val="EBD189"/>
                </a:solidFill>
              </a:rPr>
              <a:pPr/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229845"/>
      </p:ext>
    </p:extLst>
  </p:cSld>
  <p:clrMapOvr>
    <a:masterClrMapping/>
  </p:clrMapOvr>
  <p:transition>
    <p:wipe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2"/>
            </a:gs>
            <a:gs pos="50000">
              <a:schemeClr val="bg1"/>
            </a:gs>
            <a:gs pos="100000">
              <a:schemeClr val="bg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Freeform 2"/>
          <p:cNvSpPr>
            <a:spLocks/>
          </p:cNvSpPr>
          <p:nvPr/>
        </p:nvSpPr>
        <p:spPr bwMode="hidden">
          <a:xfrm>
            <a:off x="-14817" y="1836738"/>
            <a:ext cx="3024717" cy="2709862"/>
          </a:xfrm>
          <a:custGeom>
            <a:avLst/>
            <a:gdLst/>
            <a:ahLst/>
            <a:cxnLst>
              <a:cxn ang="0">
                <a:pos x="808" y="283"/>
              </a:cxn>
              <a:cxn ang="0">
                <a:pos x="673" y="252"/>
              </a:cxn>
              <a:cxn ang="0">
                <a:pos x="654" y="0"/>
              </a:cxn>
              <a:cxn ang="0">
                <a:pos x="488" y="13"/>
              </a:cxn>
              <a:cxn ang="0">
                <a:pos x="476" y="252"/>
              </a:cxn>
              <a:cxn ang="0">
                <a:pos x="365" y="290"/>
              </a:cxn>
              <a:cxn ang="0">
                <a:pos x="206" y="86"/>
              </a:cxn>
              <a:cxn ang="0">
                <a:pos x="95" y="148"/>
              </a:cxn>
              <a:cxn ang="0">
                <a:pos x="200" y="376"/>
              </a:cxn>
              <a:cxn ang="0">
                <a:pos x="126" y="450"/>
              </a:cxn>
              <a:cxn ang="0">
                <a:pos x="0" y="423"/>
              </a:cxn>
              <a:cxn ang="0">
                <a:pos x="0" y="1273"/>
              </a:cxn>
              <a:cxn ang="0">
                <a:pos x="101" y="1226"/>
              </a:cxn>
              <a:cxn ang="0">
                <a:pos x="181" y="1306"/>
              </a:cxn>
              <a:cxn ang="0">
                <a:pos x="70" y="1509"/>
              </a:cxn>
              <a:cxn ang="0">
                <a:pos x="175" y="1596"/>
              </a:cxn>
              <a:cxn ang="0">
                <a:pos x="365" y="1411"/>
              </a:cxn>
              <a:cxn ang="0">
                <a:pos x="476" y="1448"/>
              </a:cxn>
              <a:cxn ang="0">
                <a:pos x="501" y="1700"/>
              </a:cxn>
              <a:cxn ang="0">
                <a:pos x="667" y="1707"/>
              </a:cxn>
              <a:cxn ang="0">
                <a:pos x="685" y="1442"/>
              </a:cxn>
              <a:cxn ang="0">
                <a:pos x="826" y="1405"/>
              </a:cxn>
              <a:cxn ang="0">
                <a:pos x="993" y="1590"/>
              </a:cxn>
              <a:cxn ang="0">
                <a:pos x="1103" y="1522"/>
              </a:cxn>
              <a:cxn ang="0">
                <a:pos x="993" y="1300"/>
              </a:cxn>
              <a:cxn ang="0">
                <a:pos x="1067" y="1207"/>
              </a:cxn>
              <a:cxn ang="0">
                <a:pos x="1288" y="1312"/>
              </a:cxn>
              <a:cxn ang="0">
                <a:pos x="1355" y="1196"/>
              </a:cxn>
              <a:cxn ang="0">
                <a:pos x="1153" y="1047"/>
              </a:cxn>
              <a:cxn ang="0">
                <a:pos x="1177" y="918"/>
              </a:cxn>
              <a:cxn ang="0">
                <a:pos x="1429" y="894"/>
              </a:cxn>
              <a:cxn ang="0">
                <a:pos x="1423" y="764"/>
              </a:cxn>
              <a:cxn ang="0">
                <a:pos x="1171" y="727"/>
              </a:cxn>
              <a:cxn ang="0">
                <a:pos x="1146" y="629"/>
              </a:cxn>
              <a:cxn ang="0">
                <a:pos x="1349" y="487"/>
              </a:cxn>
              <a:cxn ang="0">
                <a:pos x="1282" y="370"/>
              </a:cxn>
              <a:cxn ang="0">
                <a:pos x="1054" y="462"/>
              </a:cxn>
              <a:cxn ang="0">
                <a:pos x="980" y="388"/>
              </a:cxn>
              <a:cxn ang="0">
                <a:pos x="1097" y="173"/>
              </a:cxn>
              <a:cxn ang="0">
                <a:pos x="986" y="105"/>
              </a:cxn>
              <a:cxn ang="0">
                <a:pos x="808" y="283"/>
              </a:cxn>
            </a:cxnLst>
            <a:rect l="0" t="0" r="r" b="b"/>
            <a:pathLst>
              <a:path w="1429" h="1707">
                <a:moveTo>
                  <a:pt x="808" y="283"/>
                </a:moveTo>
                <a:lnTo>
                  <a:pt x="673" y="252"/>
                </a:lnTo>
                <a:lnTo>
                  <a:pt x="654" y="0"/>
                </a:lnTo>
                <a:lnTo>
                  <a:pt x="488" y="13"/>
                </a:lnTo>
                <a:lnTo>
                  <a:pt x="476" y="252"/>
                </a:lnTo>
                <a:lnTo>
                  <a:pt x="365" y="290"/>
                </a:lnTo>
                <a:lnTo>
                  <a:pt x="206" y="86"/>
                </a:lnTo>
                <a:lnTo>
                  <a:pt x="95" y="148"/>
                </a:lnTo>
                <a:lnTo>
                  <a:pt x="200" y="376"/>
                </a:lnTo>
                <a:lnTo>
                  <a:pt x="126" y="450"/>
                </a:lnTo>
                <a:lnTo>
                  <a:pt x="0" y="423"/>
                </a:lnTo>
                <a:lnTo>
                  <a:pt x="0" y="1273"/>
                </a:lnTo>
                <a:lnTo>
                  <a:pt x="101" y="1226"/>
                </a:lnTo>
                <a:lnTo>
                  <a:pt x="181" y="1306"/>
                </a:lnTo>
                <a:lnTo>
                  <a:pt x="70" y="1509"/>
                </a:lnTo>
                <a:lnTo>
                  <a:pt x="175" y="1596"/>
                </a:lnTo>
                <a:lnTo>
                  <a:pt x="365" y="1411"/>
                </a:lnTo>
                <a:lnTo>
                  <a:pt x="476" y="1448"/>
                </a:lnTo>
                <a:lnTo>
                  <a:pt x="501" y="1700"/>
                </a:lnTo>
                <a:lnTo>
                  <a:pt x="667" y="1707"/>
                </a:lnTo>
                <a:lnTo>
                  <a:pt x="685" y="1442"/>
                </a:lnTo>
                <a:lnTo>
                  <a:pt x="826" y="1405"/>
                </a:lnTo>
                <a:lnTo>
                  <a:pt x="993" y="1590"/>
                </a:lnTo>
                <a:lnTo>
                  <a:pt x="1103" y="1522"/>
                </a:lnTo>
                <a:lnTo>
                  <a:pt x="993" y="1300"/>
                </a:lnTo>
                <a:lnTo>
                  <a:pt x="1067" y="1207"/>
                </a:lnTo>
                <a:lnTo>
                  <a:pt x="1288" y="1312"/>
                </a:lnTo>
                <a:lnTo>
                  <a:pt x="1355" y="1196"/>
                </a:lnTo>
                <a:lnTo>
                  <a:pt x="1153" y="1047"/>
                </a:lnTo>
                <a:lnTo>
                  <a:pt x="1177" y="918"/>
                </a:lnTo>
                <a:lnTo>
                  <a:pt x="1429" y="894"/>
                </a:lnTo>
                <a:lnTo>
                  <a:pt x="1423" y="764"/>
                </a:lnTo>
                <a:lnTo>
                  <a:pt x="1171" y="727"/>
                </a:lnTo>
                <a:lnTo>
                  <a:pt x="1146" y="629"/>
                </a:lnTo>
                <a:lnTo>
                  <a:pt x="1349" y="487"/>
                </a:lnTo>
                <a:lnTo>
                  <a:pt x="1282" y="370"/>
                </a:lnTo>
                <a:lnTo>
                  <a:pt x="1054" y="462"/>
                </a:lnTo>
                <a:lnTo>
                  <a:pt x="980" y="388"/>
                </a:lnTo>
                <a:lnTo>
                  <a:pt x="1097" y="173"/>
                </a:lnTo>
                <a:lnTo>
                  <a:pt x="986" y="105"/>
                </a:lnTo>
                <a:lnTo>
                  <a:pt x="808" y="283"/>
                </a:lnTo>
                <a:close/>
              </a:path>
            </a:pathLst>
          </a:cu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Freeform 3"/>
          <p:cNvSpPr>
            <a:spLocks/>
          </p:cNvSpPr>
          <p:nvPr/>
        </p:nvSpPr>
        <p:spPr bwMode="hidden">
          <a:xfrm>
            <a:off x="143933" y="15875"/>
            <a:ext cx="1117600" cy="787400"/>
          </a:xfrm>
          <a:custGeom>
            <a:avLst/>
            <a:gdLst/>
            <a:ahLst/>
            <a:cxnLst>
              <a:cxn ang="0">
                <a:pos x="335" y="56"/>
              </a:cxn>
              <a:cxn ang="0">
                <a:pos x="293" y="46"/>
              </a:cxn>
              <a:cxn ang="0">
                <a:pos x="288" y="0"/>
              </a:cxn>
              <a:cxn ang="0">
                <a:pos x="238" y="0"/>
              </a:cxn>
              <a:cxn ang="0">
                <a:pos x="232" y="46"/>
              </a:cxn>
              <a:cxn ang="0">
                <a:pos x="198" y="58"/>
              </a:cxn>
              <a:cxn ang="0">
                <a:pos x="146" y="0"/>
              </a:cxn>
              <a:cxn ang="0">
                <a:pos x="114" y="14"/>
              </a:cxn>
              <a:cxn ang="0">
                <a:pos x="147" y="84"/>
              </a:cxn>
              <a:cxn ang="0">
                <a:pos x="124" y="107"/>
              </a:cxn>
              <a:cxn ang="0">
                <a:pos x="50" y="81"/>
              </a:cxn>
              <a:cxn ang="0">
                <a:pos x="32" y="109"/>
              </a:cxn>
              <a:cxn ang="0">
                <a:pos x="90" y="159"/>
              </a:cxn>
              <a:cxn ang="0">
                <a:pos x="80" y="197"/>
              </a:cxn>
              <a:cxn ang="0">
                <a:pos x="2" y="202"/>
              </a:cxn>
              <a:cxn ang="0">
                <a:pos x="0" y="244"/>
              </a:cxn>
              <a:cxn ang="0">
                <a:pos x="80" y="256"/>
              </a:cxn>
              <a:cxn ang="0">
                <a:pos x="88" y="292"/>
              </a:cxn>
              <a:cxn ang="0">
                <a:pos x="29" y="345"/>
              </a:cxn>
              <a:cxn ang="0">
                <a:pos x="50" y="378"/>
              </a:cxn>
              <a:cxn ang="0">
                <a:pos x="116" y="347"/>
              </a:cxn>
              <a:cxn ang="0">
                <a:pos x="141" y="372"/>
              </a:cxn>
              <a:cxn ang="0">
                <a:pos x="107" y="435"/>
              </a:cxn>
              <a:cxn ang="0">
                <a:pos x="139" y="462"/>
              </a:cxn>
              <a:cxn ang="0">
                <a:pos x="198" y="404"/>
              </a:cxn>
              <a:cxn ang="0">
                <a:pos x="232" y="416"/>
              </a:cxn>
              <a:cxn ang="0">
                <a:pos x="240" y="494"/>
              </a:cxn>
              <a:cxn ang="0">
                <a:pos x="292" y="496"/>
              </a:cxn>
              <a:cxn ang="0">
                <a:pos x="297" y="414"/>
              </a:cxn>
              <a:cxn ang="0">
                <a:pos x="341" y="403"/>
              </a:cxn>
              <a:cxn ang="0">
                <a:pos x="393" y="460"/>
              </a:cxn>
              <a:cxn ang="0">
                <a:pos x="427" y="439"/>
              </a:cxn>
              <a:cxn ang="0">
                <a:pos x="393" y="370"/>
              </a:cxn>
              <a:cxn ang="0">
                <a:pos x="416" y="341"/>
              </a:cxn>
              <a:cxn ang="0">
                <a:pos x="484" y="374"/>
              </a:cxn>
              <a:cxn ang="0">
                <a:pos x="505" y="338"/>
              </a:cxn>
              <a:cxn ang="0">
                <a:pos x="442" y="292"/>
              </a:cxn>
              <a:cxn ang="0">
                <a:pos x="450" y="252"/>
              </a:cxn>
              <a:cxn ang="0">
                <a:pos x="528" y="244"/>
              </a:cxn>
              <a:cxn ang="0">
                <a:pos x="526" y="204"/>
              </a:cxn>
              <a:cxn ang="0">
                <a:pos x="448" y="193"/>
              </a:cxn>
              <a:cxn ang="0">
                <a:pos x="440" y="162"/>
              </a:cxn>
              <a:cxn ang="0">
                <a:pos x="503" y="119"/>
              </a:cxn>
              <a:cxn ang="0">
                <a:pos x="482" y="82"/>
              </a:cxn>
              <a:cxn ang="0">
                <a:pos x="412" y="111"/>
              </a:cxn>
              <a:cxn ang="0">
                <a:pos x="389" y="88"/>
              </a:cxn>
              <a:cxn ang="0">
                <a:pos x="425" y="21"/>
              </a:cxn>
              <a:cxn ang="0">
                <a:pos x="391" y="0"/>
              </a:cxn>
              <a:cxn ang="0">
                <a:pos x="335" y="56"/>
              </a:cxn>
            </a:cxnLst>
            <a:rect l="0" t="0" r="r" b="b"/>
            <a:pathLst>
              <a:path w="528" h="496">
                <a:moveTo>
                  <a:pt x="335" y="56"/>
                </a:moveTo>
                <a:lnTo>
                  <a:pt x="293" y="46"/>
                </a:lnTo>
                <a:lnTo>
                  <a:pt x="288" y="0"/>
                </a:lnTo>
                <a:lnTo>
                  <a:pt x="238" y="0"/>
                </a:lnTo>
                <a:lnTo>
                  <a:pt x="232" y="46"/>
                </a:lnTo>
                <a:lnTo>
                  <a:pt x="198" y="58"/>
                </a:lnTo>
                <a:lnTo>
                  <a:pt x="146" y="0"/>
                </a:lnTo>
                <a:lnTo>
                  <a:pt x="114" y="14"/>
                </a:lnTo>
                <a:lnTo>
                  <a:pt x="147" y="84"/>
                </a:lnTo>
                <a:lnTo>
                  <a:pt x="124" y="107"/>
                </a:lnTo>
                <a:lnTo>
                  <a:pt x="50" y="81"/>
                </a:lnTo>
                <a:lnTo>
                  <a:pt x="32" y="109"/>
                </a:lnTo>
                <a:lnTo>
                  <a:pt x="90" y="159"/>
                </a:lnTo>
                <a:lnTo>
                  <a:pt x="80" y="197"/>
                </a:lnTo>
                <a:lnTo>
                  <a:pt x="2" y="202"/>
                </a:lnTo>
                <a:lnTo>
                  <a:pt x="0" y="244"/>
                </a:lnTo>
                <a:lnTo>
                  <a:pt x="80" y="256"/>
                </a:lnTo>
                <a:lnTo>
                  <a:pt x="88" y="292"/>
                </a:lnTo>
                <a:lnTo>
                  <a:pt x="29" y="345"/>
                </a:lnTo>
                <a:lnTo>
                  <a:pt x="50" y="378"/>
                </a:lnTo>
                <a:lnTo>
                  <a:pt x="116" y="347"/>
                </a:lnTo>
                <a:lnTo>
                  <a:pt x="141" y="372"/>
                </a:lnTo>
                <a:lnTo>
                  <a:pt x="107" y="435"/>
                </a:lnTo>
                <a:lnTo>
                  <a:pt x="139" y="462"/>
                </a:lnTo>
                <a:lnTo>
                  <a:pt x="198" y="404"/>
                </a:lnTo>
                <a:lnTo>
                  <a:pt x="232" y="416"/>
                </a:lnTo>
                <a:lnTo>
                  <a:pt x="240" y="494"/>
                </a:lnTo>
                <a:lnTo>
                  <a:pt x="292" y="496"/>
                </a:lnTo>
                <a:lnTo>
                  <a:pt x="297" y="414"/>
                </a:lnTo>
                <a:lnTo>
                  <a:pt x="341" y="403"/>
                </a:lnTo>
                <a:lnTo>
                  <a:pt x="393" y="460"/>
                </a:lnTo>
                <a:lnTo>
                  <a:pt x="427" y="439"/>
                </a:lnTo>
                <a:lnTo>
                  <a:pt x="393" y="370"/>
                </a:lnTo>
                <a:lnTo>
                  <a:pt x="416" y="341"/>
                </a:lnTo>
                <a:lnTo>
                  <a:pt x="484" y="374"/>
                </a:lnTo>
                <a:lnTo>
                  <a:pt x="505" y="338"/>
                </a:lnTo>
                <a:lnTo>
                  <a:pt x="442" y="292"/>
                </a:lnTo>
                <a:lnTo>
                  <a:pt x="450" y="252"/>
                </a:lnTo>
                <a:lnTo>
                  <a:pt x="528" y="244"/>
                </a:lnTo>
                <a:lnTo>
                  <a:pt x="526" y="204"/>
                </a:lnTo>
                <a:lnTo>
                  <a:pt x="448" y="193"/>
                </a:lnTo>
                <a:lnTo>
                  <a:pt x="440" y="162"/>
                </a:lnTo>
                <a:lnTo>
                  <a:pt x="503" y="119"/>
                </a:lnTo>
                <a:lnTo>
                  <a:pt x="482" y="82"/>
                </a:lnTo>
                <a:lnTo>
                  <a:pt x="412" y="111"/>
                </a:lnTo>
                <a:lnTo>
                  <a:pt x="389" y="88"/>
                </a:lnTo>
                <a:lnTo>
                  <a:pt x="425" y="21"/>
                </a:lnTo>
                <a:lnTo>
                  <a:pt x="391" y="0"/>
                </a:lnTo>
                <a:lnTo>
                  <a:pt x="335" y="56"/>
                </a:lnTo>
                <a:close/>
              </a:path>
            </a:pathLst>
          </a:custGeom>
          <a:gradFill rotWithShape="0">
            <a:gsLst>
              <a:gs pos="0">
                <a:schemeClr val="accent1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Freeform 4"/>
          <p:cNvSpPr>
            <a:spLocks/>
          </p:cNvSpPr>
          <p:nvPr/>
        </p:nvSpPr>
        <p:spPr bwMode="hidden">
          <a:xfrm>
            <a:off x="1589617" y="354014"/>
            <a:ext cx="3022600" cy="22701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189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Freeform 5"/>
          <p:cNvSpPr>
            <a:spLocks/>
          </p:cNvSpPr>
          <p:nvPr/>
        </p:nvSpPr>
        <p:spPr bwMode="hidden">
          <a:xfrm>
            <a:off x="3376084" y="1270000"/>
            <a:ext cx="4893733" cy="3671888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0" name="Freeform 6"/>
          <p:cNvSpPr>
            <a:spLocks/>
          </p:cNvSpPr>
          <p:nvPr/>
        </p:nvSpPr>
        <p:spPr bwMode="hidden">
          <a:xfrm>
            <a:off x="4233" y="4797425"/>
            <a:ext cx="4557184" cy="2097088"/>
          </a:xfrm>
          <a:custGeom>
            <a:avLst/>
            <a:gdLst/>
            <a:ahLst/>
            <a:cxnLst>
              <a:cxn ang="0">
                <a:pos x="1368" y="358"/>
              </a:cxn>
              <a:cxn ang="0">
                <a:pos x="1197" y="318"/>
              </a:cxn>
              <a:cxn ang="0">
                <a:pos x="1173" y="0"/>
              </a:cxn>
              <a:cxn ang="0">
                <a:pos x="964" y="16"/>
              </a:cxn>
              <a:cxn ang="0">
                <a:pos x="948" y="318"/>
              </a:cxn>
              <a:cxn ang="0">
                <a:pos x="808" y="366"/>
              </a:cxn>
              <a:cxn ang="0">
                <a:pos x="606" y="109"/>
              </a:cxn>
              <a:cxn ang="0">
                <a:pos x="467" y="187"/>
              </a:cxn>
              <a:cxn ang="0">
                <a:pos x="599" y="474"/>
              </a:cxn>
              <a:cxn ang="0">
                <a:pos x="506" y="568"/>
              </a:cxn>
              <a:cxn ang="0">
                <a:pos x="202" y="459"/>
              </a:cxn>
              <a:cxn ang="0">
                <a:pos x="132" y="576"/>
              </a:cxn>
              <a:cxn ang="0">
                <a:pos x="365" y="778"/>
              </a:cxn>
              <a:cxn ang="0">
                <a:pos x="327" y="933"/>
              </a:cxn>
              <a:cxn ang="0">
                <a:pos x="7" y="956"/>
              </a:cxn>
              <a:cxn ang="0">
                <a:pos x="0" y="1128"/>
              </a:cxn>
              <a:cxn ang="0">
                <a:pos x="327" y="1174"/>
              </a:cxn>
              <a:cxn ang="0">
                <a:pos x="358" y="1321"/>
              </a:cxn>
              <a:cxn ang="0">
                <a:pos x="1804" y="1321"/>
              </a:cxn>
              <a:cxn ang="0">
                <a:pos x="1835" y="1158"/>
              </a:cxn>
              <a:cxn ang="0">
                <a:pos x="2153" y="1128"/>
              </a:cxn>
              <a:cxn ang="0">
                <a:pos x="2146" y="964"/>
              </a:cxn>
              <a:cxn ang="0">
                <a:pos x="1827" y="917"/>
              </a:cxn>
              <a:cxn ang="0">
                <a:pos x="1795" y="793"/>
              </a:cxn>
              <a:cxn ang="0">
                <a:pos x="2052" y="615"/>
              </a:cxn>
              <a:cxn ang="0">
                <a:pos x="1967" y="467"/>
              </a:cxn>
              <a:cxn ang="0">
                <a:pos x="1679" y="583"/>
              </a:cxn>
              <a:cxn ang="0">
                <a:pos x="1586" y="490"/>
              </a:cxn>
              <a:cxn ang="0">
                <a:pos x="1733" y="218"/>
              </a:cxn>
              <a:cxn ang="0">
                <a:pos x="1593" y="132"/>
              </a:cxn>
              <a:cxn ang="0">
                <a:pos x="1368" y="358"/>
              </a:cxn>
            </a:cxnLst>
            <a:rect l="0" t="0" r="r" b="b"/>
            <a:pathLst>
              <a:path w="2153" h="1321">
                <a:moveTo>
                  <a:pt x="1368" y="358"/>
                </a:moveTo>
                <a:lnTo>
                  <a:pt x="1197" y="318"/>
                </a:lnTo>
                <a:lnTo>
                  <a:pt x="1173" y="0"/>
                </a:lnTo>
                <a:lnTo>
                  <a:pt x="964" y="16"/>
                </a:lnTo>
                <a:lnTo>
                  <a:pt x="948" y="318"/>
                </a:lnTo>
                <a:lnTo>
                  <a:pt x="808" y="366"/>
                </a:lnTo>
                <a:lnTo>
                  <a:pt x="606" y="109"/>
                </a:lnTo>
                <a:lnTo>
                  <a:pt x="467" y="187"/>
                </a:lnTo>
                <a:lnTo>
                  <a:pt x="599" y="474"/>
                </a:lnTo>
                <a:lnTo>
                  <a:pt x="506" y="568"/>
                </a:lnTo>
                <a:lnTo>
                  <a:pt x="202" y="459"/>
                </a:lnTo>
                <a:lnTo>
                  <a:pt x="132" y="576"/>
                </a:lnTo>
                <a:lnTo>
                  <a:pt x="365" y="778"/>
                </a:lnTo>
                <a:lnTo>
                  <a:pt x="327" y="933"/>
                </a:lnTo>
                <a:lnTo>
                  <a:pt x="7" y="956"/>
                </a:lnTo>
                <a:lnTo>
                  <a:pt x="0" y="1128"/>
                </a:lnTo>
                <a:lnTo>
                  <a:pt x="327" y="1174"/>
                </a:lnTo>
                <a:lnTo>
                  <a:pt x="358" y="1321"/>
                </a:lnTo>
                <a:lnTo>
                  <a:pt x="1804" y="1321"/>
                </a:lnTo>
                <a:lnTo>
                  <a:pt x="1835" y="1158"/>
                </a:lnTo>
                <a:lnTo>
                  <a:pt x="2153" y="1128"/>
                </a:lnTo>
                <a:lnTo>
                  <a:pt x="2146" y="964"/>
                </a:lnTo>
                <a:lnTo>
                  <a:pt x="1827" y="917"/>
                </a:lnTo>
                <a:lnTo>
                  <a:pt x="1795" y="793"/>
                </a:lnTo>
                <a:lnTo>
                  <a:pt x="2052" y="615"/>
                </a:lnTo>
                <a:lnTo>
                  <a:pt x="1967" y="467"/>
                </a:lnTo>
                <a:lnTo>
                  <a:pt x="1679" y="583"/>
                </a:lnTo>
                <a:lnTo>
                  <a:pt x="1586" y="490"/>
                </a:lnTo>
                <a:lnTo>
                  <a:pt x="1733" y="218"/>
                </a:lnTo>
                <a:lnTo>
                  <a:pt x="1593" y="132"/>
                </a:lnTo>
                <a:lnTo>
                  <a:pt x="1368" y="358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1" name="Freeform 7"/>
          <p:cNvSpPr>
            <a:spLocks/>
          </p:cNvSpPr>
          <p:nvPr/>
        </p:nvSpPr>
        <p:spPr bwMode="hidden">
          <a:xfrm>
            <a:off x="5992285" y="4425951"/>
            <a:ext cx="3018367" cy="226377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2" name="Freeform 8"/>
          <p:cNvSpPr>
            <a:spLocks/>
          </p:cNvSpPr>
          <p:nvPr/>
        </p:nvSpPr>
        <p:spPr bwMode="hidden">
          <a:xfrm>
            <a:off x="7528985" y="487363"/>
            <a:ext cx="3905249" cy="2930525"/>
          </a:xfrm>
          <a:custGeom>
            <a:avLst/>
            <a:gdLst/>
            <a:ahLst/>
            <a:cxnLst>
              <a:cxn ang="0">
                <a:pos x="1469" y="384"/>
              </a:cxn>
              <a:cxn ang="0">
                <a:pos x="1285" y="342"/>
              </a:cxn>
              <a:cxn ang="0">
                <a:pos x="1260" y="0"/>
              </a:cxn>
              <a:cxn ang="0">
                <a:pos x="1035" y="17"/>
              </a:cxn>
              <a:cxn ang="0">
                <a:pos x="1018" y="342"/>
              </a:cxn>
              <a:cxn ang="0">
                <a:pos x="868" y="393"/>
              </a:cxn>
              <a:cxn ang="0">
                <a:pos x="651" y="117"/>
              </a:cxn>
              <a:cxn ang="0">
                <a:pos x="501" y="201"/>
              </a:cxn>
              <a:cxn ang="0">
                <a:pos x="643" y="509"/>
              </a:cxn>
              <a:cxn ang="0">
                <a:pos x="543" y="610"/>
              </a:cxn>
              <a:cxn ang="0">
                <a:pos x="217" y="493"/>
              </a:cxn>
              <a:cxn ang="0">
                <a:pos x="142" y="618"/>
              </a:cxn>
              <a:cxn ang="0">
                <a:pos x="392" y="835"/>
              </a:cxn>
              <a:cxn ang="0">
                <a:pos x="351" y="1002"/>
              </a:cxn>
              <a:cxn ang="0">
                <a:pos x="8" y="1027"/>
              </a:cxn>
              <a:cxn ang="0">
                <a:pos x="0" y="1211"/>
              </a:cxn>
              <a:cxn ang="0">
                <a:pos x="351" y="1261"/>
              </a:cxn>
              <a:cxn ang="0">
                <a:pos x="384" y="1419"/>
              </a:cxn>
              <a:cxn ang="0">
                <a:pos x="125" y="1653"/>
              </a:cxn>
              <a:cxn ang="0">
                <a:pos x="217" y="1795"/>
              </a:cxn>
              <a:cxn ang="0">
                <a:pos x="509" y="1661"/>
              </a:cxn>
              <a:cxn ang="0">
                <a:pos x="618" y="1770"/>
              </a:cxn>
              <a:cxn ang="0">
                <a:pos x="467" y="2045"/>
              </a:cxn>
              <a:cxn ang="0">
                <a:pos x="609" y="2162"/>
              </a:cxn>
              <a:cxn ang="0">
                <a:pos x="868" y="1912"/>
              </a:cxn>
              <a:cxn ang="0">
                <a:pos x="1018" y="1962"/>
              </a:cxn>
              <a:cxn ang="0">
                <a:pos x="1052" y="2304"/>
              </a:cxn>
              <a:cxn ang="0">
                <a:pos x="1277" y="2313"/>
              </a:cxn>
              <a:cxn ang="0">
                <a:pos x="1302" y="1954"/>
              </a:cxn>
              <a:cxn ang="0">
                <a:pos x="1494" y="1904"/>
              </a:cxn>
              <a:cxn ang="0">
                <a:pos x="1720" y="2154"/>
              </a:cxn>
              <a:cxn ang="0">
                <a:pos x="1870" y="2062"/>
              </a:cxn>
              <a:cxn ang="0">
                <a:pos x="1720" y="1762"/>
              </a:cxn>
              <a:cxn ang="0">
                <a:pos x="1820" y="1636"/>
              </a:cxn>
              <a:cxn ang="0">
                <a:pos x="2120" y="1778"/>
              </a:cxn>
              <a:cxn ang="0">
                <a:pos x="2212" y="1620"/>
              </a:cxn>
              <a:cxn ang="0">
                <a:pos x="1937" y="1419"/>
              </a:cxn>
              <a:cxn ang="0">
                <a:pos x="1970" y="1244"/>
              </a:cxn>
              <a:cxn ang="0">
                <a:pos x="2312" y="1211"/>
              </a:cxn>
              <a:cxn ang="0">
                <a:pos x="2304" y="1035"/>
              </a:cxn>
              <a:cxn ang="0">
                <a:pos x="1962" y="985"/>
              </a:cxn>
              <a:cxn ang="0">
                <a:pos x="1928" y="852"/>
              </a:cxn>
              <a:cxn ang="0">
                <a:pos x="2204" y="660"/>
              </a:cxn>
              <a:cxn ang="0">
                <a:pos x="2112" y="501"/>
              </a:cxn>
              <a:cxn ang="0">
                <a:pos x="1803" y="626"/>
              </a:cxn>
              <a:cxn ang="0">
                <a:pos x="1703" y="526"/>
              </a:cxn>
              <a:cxn ang="0">
                <a:pos x="1861" y="234"/>
              </a:cxn>
              <a:cxn ang="0">
                <a:pos x="1711" y="142"/>
              </a:cxn>
              <a:cxn ang="0">
                <a:pos x="1469" y="384"/>
              </a:cxn>
            </a:cxnLst>
            <a:rect l="0" t="0" r="r" b="b"/>
            <a:pathLst>
              <a:path w="2312" h="2313">
                <a:moveTo>
                  <a:pt x="1469" y="384"/>
                </a:moveTo>
                <a:lnTo>
                  <a:pt x="1285" y="342"/>
                </a:lnTo>
                <a:lnTo>
                  <a:pt x="1260" y="0"/>
                </a:lnTo>
                <a:lnTo>
                  <a:pt x="1035" y="17"/>
                </a:lnTo>
                <a:lnTo>
                  <a:pt x="1018" y="342"/>
                </a:lnTo>
                <a:lnTo>
                  <a:pt x="868" y="393"/>
                </a:lnTo>
                <a:lnTo>
                  <a:pt x="651" y="117"/>
                </a:lnTo>
                <a:lnTo>
                  <a:pt x="501" y="201"/>
                </a:lnTo>
                <a:lnTo>
                  <a:pt x="643" y="509"/>
                </a:lnTo>
                <a:lnTo>
                  <a:pt x="543" y="610"/>
                </a:lnTo>
                <a:lnTo>
                  <a:pt x="217" y="493"/>
                </a:lnTo>
                <a:lnTo>
                  <a:pt x="142" y="618"/>
                </a:lnTo>
                <a:lnTo>
                  <a:pt x="392" y="835"/>
                </a:lnTo>
                <a:lnTo>
                  <a:pt x="351" y="1002"/>
                </a:lnTo>
                <a:lnTo>
                  <a:pt x="8" y="1027"/>
                </a:lnTo>
                <a:lnTo>
                  <a:pt x="0" y="1211"/>
                </a:lnTo>
                <a:lnTo>
                  <a:pt x="351" y="1261"/>
                </a:lnTo>
                <a:lnTo>
                  <a:pt x="384" y="1419"/>
                </a:lnTo>
                <a:lnTo>
                  <a:pt x="125" y="1653"/>
                </a:lnTo>
                <a:lnTo>
                  <a:pt x="217" y="1795"/>
                </a:lnTo>
                <a:lnTo>
                  <a:pt x="509" y="1661"/>
                </a:lnTo>
                <a:lnTo>
                  <a:pt x="618" y="1770"/>
                </a:lnTo>
                <a:lnTo>
                  <a:pt x="467" y="2045"/>
                </a:lnTo>
                <a:lnTo>
                  <a:pt x="609" y="2162"/>
                </a:lnTo>
                <a:lnTo>
                  <a:pt x="868" y="1912"/>
                </a:lnTo>
                <a:lnTo>
                  <a:pt x="1018" y="1962"/>
                </a:lnTo>
                <a:lnTo>
                  <a:pt x="1052" y="2304"/>
                </a:lnTo>
                <a:lnTo>
                  <a:pt x="1277" y="2313"/>
                </a:lnTo>
                <a:lnTo>
                  <a:pt x="1302" y="1954"/>
                </a:lnTo>
                <a:lnTo>
                  <a:pt x="1494" y="1904"/>
                </a:lnTo>
                <a:lnTo>
                  <a:pt x="1720" y="2154"/>
                </a:lnTo>
                <a:lnTo>
                  <a:pt x="1870" y="2062"/>
                </a:lnTo>
                <a:lnTo>
                  <a:pt x="1720" y="1762"/>
                </a:lnTo>
                <a:lnTo>
                  <a:pt x="1820" y="1636"/>
                </a:lnTo>
                <a:lnTo>
                  <a:pt x="2120" y="1778"/>
                </a:lnTo>
                <a:lnTo>
                  <a:pt x="2212" y="1620"/>
                </a:lnTo>
                <a:lnTo>
                  <a:pt x="1937" y="1419"/>
                </a:lnTo>
                <a:lnTo>
                  <a:pt x="1970" y="1244"/>
                </a:lnTo>
                <a:lnTo>
                  <a:pt x="2312" y="1211"/>
                </a:lnTo>
                <a:lnTo>
                  <a:pt x="2304" y="1035"/>
                </a:lnTo>
                <a:lnTo>
                  <a:pt x="1962" y="985"/>
                </a:lnTo>
                <a:lnTo>
                  <a:pt x="1928" y="852"/>
                </a:lnTo>
                <a:lnTo>
                  <a:pt x="2204" y="660"/>
                </a:lnTo>
                <a:lnTo>
                  <a:pt x="2112" y="501"/>
                </a:lnTo>
                <a:lnTo>
                  <a:pt x="1803" y="626"/>
                </a:lnTo>
                <a:lnTo>
                  <a:pt x="1703" y="526"/>
                </a:lnTo>
                <a:lnTo>
                  <a:pt x="1861" y="234"/>
                </a:lnTo>
                <a:lnTo>
                  <a:pt x="1711" y="142"/>
                </a:lnTo>
                <a:lnTo>
                  <a:pt x="1469" y="384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bg2"/>
              </a:gs>
            </a:gsLst>
            <a:lin ang="270000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sp>
        <p:nvSpPr>
          <p:cNvPr id="6153" name="Freeform 9"/>
          <p:cNvSpPr>
            <a:spLocks/>
          </p:cNvSpPr>
          <p:nvPr/>
        </p:nvSpPr>
        <p:spPr bwMode="hidden">
          <a:xfrm>
            <a:off x="9529233" y="2555876"/>
            <a:ext cx="2677584" cy="3997325"/>
          </a:xfrm>
          <a:custGeom>
            <a:avLst/>
            <a:gdLst/>
            <a:ahLst/>
            <a:cxnLst>
              <a:cxn ang="0">
                <a:pos x="1265" y="0"/>
              </a:cxn>
              <a:cxn ang="0">
                <a:pos x="1128" y="18"/>
              </a:cxn>
              <a:cxn ang="0">
                <a:pos x="1110" y="372"/>
              </a:cxn>
              <a:cxn ang="0">
                <a:pos x="946" y="428"/>
              </a:cxn>
              <a:cxn ang="0">
                <a:pos x="710" y="127"/>
              </a:cxn>
              <a:cxn ang="0">
                <a:pos x="546" y="219"/>
              </a:cxn>
              <a:cxn ang="0">
                <a:pos x="701" y="555"/>
              </a:cxn>
              <a:cxn ang="0">
                <a:pos x="592" y="665"/>
              </a:cxn>
              <a:cxn ang="0">
                <a:pos x="237" y="537"/>
              </a:cxn>
              <a:cxn ang="0">
                <a:pos x="155" y="674"/>
              </a:cxn>
              <a:cxn ang="0">
                <a:pos x="427" y="911"/>
              </a:cxn>
              <a:cxn ang="0">
                <a:pos x="383" y="1093"/>
              </a:cxn>
              <a:cxn ang="0">
                <a:pos x="9" y="1121"/>
              </a:cxn>
              <a:cxn ang="0">
                <a:pos x="0" y="1322"/>
              </a:cxn>
              <a:cxn ang="0">
                <a:pos x="383" y="1376"/>
              </a:cxn>
              <a:cxn ang="0">
                <a:pos x="419" y="1549"/>
              </a:cxn>
              <a:cxn ang="0">
                <a:pos x="136" y="1804"/>
              </a:cxn>
              <a:cxn ang="0">
                <a:pos x="237" y="1959"/>
              </a:cxn>
              <a:cxn ang="0">
                <a:pos x="555" y="1813"/>
              </a:cxn>
              <a:cxn ang="0">
                <a:pos x="674" y="1932"/>
              </a:cxn>
              <a:cxn ang="0">
                <a:pos x="509" y="2232"/>
              </a:cxn>
              <a:cxn ang="0">
                <a:pos x="664" y="2360"/>
              </a:cxn>
              <a:cxn ang="0">
                <a:pos x="946" y="2087"/>
              </a:cxn>
              <a:cxn ang="0">
                <a:pos x="1110" y="2142"/>
              </a:cxn>
              <a:cxn ang="0">
                <a:pos x="1147" y="2515"/>
              </a:cxn>
              <a:cxn ang="0">
                <a:pos x="1265" y="2518"/>
              </a:cxn>
              <a:cxn ang="0">
                <a:pos x="1265" y="0"/>
              </a:cxn>
            </a:cxnLst>
            <a:rect l="0" t="0" r="r" b="b"/>
            <a:pathLst>
              <a:path w="1265" h="2518">
                <a:moveTo>
                  <a:pt x="1265" y="0"/>
                </a:moveTo>
                <a:lnTo>
                  <a:pt x="1128" y="18"/>
                </a:lnTo>
                <a:lnTo>
                  <a:pt x="1110" y="372"/>
                </a:lnTo>
                <a:lnTo>
                  <a:pt x="946" y="428"/>
                </a:lnTo>
                <a:lnTo>
                  <a:pt x="710" y="127"/>
                </a:lnTo>
                <a:lnTo>
                  <a:pt x="546" y="219"/>
                </a:lnTo>
                <a:lnTo>
                  <a:pt x="701" y="555"/>
                </a:lnTo>
                <a:lnTo>
                  <a:pt x="592" y="665"/>
                </a:lnTo>
                <a:lnTo>
                  <a:pt x="237" y="537"/>
                </a:lnTo>
                <a:lnTo>
                  <a:pt x="155" y="674"/>
                </a:lnTo>
                <a:lnTo>
                  <a:pt x="427" y="911"/>
                </a:lnTo>
                <a:lnTo>
                  <a:pt x="383" y="1093"/>
                </a:lnTo>
                <a:lnTo>
                  <a:pt x="9" y="1121"/>
                </a:lnTo>
                <a:lnTo>
                  <a:pt x="0" y="1322"/>
                </a:lnTo>
                <a:lnTo>
                  <a:pt x="383" y="1376"/>
                </a:lnTo>
                <a:lnTo>
                  <a:pt x="419" y="1549"/>
                </a:lnTo>
                <a:lnTo>
                  <a:pt x="136" y="1804"/>
                </a:lnTo>
                <a:lnTo>
                  <a:pt x="237" y="1959"/>
                </a:lnTo>
                <a:lnTo>
                  <a:pt x="555" y="1813"/>
                </a:lnTo>
                <a:lnTo>
                  <a:pt x="674" y="1932"/>
                </a:lnTo>
                <a:lnTo>
                  <a:pt x="509" y="2232"/>
                </a:lnTo>
                <a:lnTo>
                  <a:pt x="664" y="2360"/>
                </a:lnTo>
                <a:lnTo>
                  <a:pt x="946" y="2087"/>
                </a:lnTo>
                <a:lnTo>
                  <a:pt x="1110" y="2142"/>
                </a:lnTo>
                <a:lnTo>
                  <a:pt x="1147" y="2515"/>
                </a:lnTo>
                <a:lnTo>
                  <a:pt x="1265" y="2518"/>
                </a:lnTo>
                <a:lnTo>
                  <a:pt x="1265" y="0"/>
                </a:lnTo>
                <a:close/>
              </a:path>
            </a:pathLst>
          </a:custGeom>
          <a:gradFill rotWithShape="0">
            <a:gsLst>
              <a:gs pos="0">
                <a:schemeClr val="bg1"/>
              </a:gs>
              <a:gs pos="100000">
                <a:schemeClr val="accent2"/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sz="2400">
              <a:solidFill>
                <a:srgbClr val="EAEAEA"/>
              </a:solidFill>
              <a:latin typeface="Arial Narrow" panose="020B0606020202030204" pitchFamily="34" charset="0"/>
            </a:endParaRPr>
          </a:p>
        </p:txBody>
      </p:sp>
      <p:pic>
        <p:nvPicPr>
          <p:cNvPr id="2058" name="Picture 10" descr="Facbanna"/>
          <p:cNvPicPr>
            <a:picLocks noChangeAspect="1" noChangeArrowheads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invGray">
          <a:xfrm>
            <a:off x="4234" y="-3175"/>
            <a:ext cx="107103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9" name="Rectangle 11"/>
          <p:cNvSpPr>
            <a:spLocks noGrp="1" noChangeArrowheads="1"/>
          </p:cNvSpPr>
          <p:nvPr>
            <p:ph type="title"/>
          </p:nvPr>
        </p:nvSpPr>
        <p:spPr bwMode="auto">
          <a:xfrm>
            <a:off x="1422400" y="304800"/>
            <a:ext cx="103632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2060" name="Rectangle 12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22400" y="1676400"/>
            <a:ext cx="10363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157" name="Rectangle 1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4224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8" name="Rectangle 1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673600" y="63246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chemeClr val="tx2"/>
                </a:solidFill>
                <a:latin typeface="+mn-lt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>
              <a:solidFill>
                <a:srgbClr val="EBD189"/>
              </a:solidFill>
            </a:endParaRPr>
          </a:p>
        </p:txBody>
      </p:sp>
      <p:sp>
        <p:nvSpPr>
          <p:cNvPr id="6159" name="Rectangle 1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45600" y="63246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chemeClr val="tx2"/>
                </a:solidFill>
                <a:latin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D8398CF-1905-4762-A4CF-B039352649CB}" type="slidenum">
              <a:rPr lang="en-US">
                <a:solidFill>
                  <a:srgbClr val="EBD189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>
              <a:solidFill>
                <a:srgbClr val="EBD18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054142"/>
      </p:ext>
    </p:extLst>
  </p:cSld>
  <p:clrMap bg1="dk2" tx1="lt1" bg2="dk1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</p:sldLayoutIdLst>
  <p:transition>
    <p:wipe dir="r"/>
  </p:transition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FF00"/>
        </a:buClr>
        <a:buSzPct val="80000"/>
        <a:buFont typeface="Wingdings" panose="05000000000000000000" pitchFamily="2" charset="2"/>
        <a:buChar char="®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SzPct val="70000"/>
        <a:buFont typeface="Wingdings" panose="05000000000000000000" pitchFamily="2" charset="2"/>
        <a:buChar char="®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60000"/>
        <a:buFont typeface="Wingdings" panose="05000000000000000000" pitchFamily="2" charset="2"/>
        <a:buChar char="®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l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533400"/>
            <a:ext cx="7772400" cy="863600"/>
          </a:xfrm>
          <a:solidFill>
            <a:schemeClr val="accent2"/>
          </a:solidFill>
          <a:ln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mtClean="0"/>
              <a:t>Service Blueprint</a:t>
            </a:r>
          </a:p>
        </p:txBody>
      </p:sp>
      <p:grpSp>
        <p:nvGrpSpPr>
          <p:cNvPr id="2" name="Group 3"/>
          <p:cNvGrpSpPr>
            <a:grpSpLocks/>
          </p:cNvGrpSpPr>
          <p:nvPr/>
        </p:nvGrpSpPr>
        <p:grpSpPr bwMode="auto">
          <a:xfrm>
            <a:off x="2322513" y="1649413"/>
            <a:ext cx="7656512" cy="304800"/>
            <a:chOff x="503" y="1039"/>
            <a:chExt cx="4823" cy="192"/>
          </a:xfrm>
        </p:grpSpPr>
        <p:sp>
          <p:nvSpPr>
            <p:cNvPr id="67670" name="Rectangle 4"/>
            <p:cNvSpPr>
              <a:spLocks noChangeArrowheads="1"/>
            </p:cNvSpPr>
            <p:nvPr/>
          </p:nvSpPr>
          <p:spPr bwMode="auto">
            <a:xfrm>
              <a:off x="503" y="1039"/>
              <a:ext cx="1078" cy="192"/>
            </a:xfrm>
            <a:prstGeom prst="rect">
              <a:avLst/>
            </a:prstGeom>
            <a:solidFill>
              <a:srgbClr val="993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EAEAEA"/>
                  </a:solidFill>
                  <a:latin typeface="Arial" panose="020B0604020202020204" pitchFamily="34" charset="0"/>
                </a:rPr>
                <a:t>Personal Greeting</a:t>
              </a:r>
            </a:p>
          </p:txBody>
        </p:sp>
        <p:sp>
          <p:nvSpPr>
            <p:cNvPr id="67671" name="Rectangle 5"/>
            <p:cNvSpPr>
              <a:spLocks noChangeArrowheads="1"/>
            </p:cNvSpPr>
            <p:nvPr/>
          </p:nvSpPr>
          <p:spPr bwMode="auto">
            <a:xfrm>
              <a:off x="1751" y="1039"/>
              <a:ext cx="1078" cy="192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EAEAEA"/>
                  </a:solidFill>
                  <a:latin typeface="Arial" panose="020B0604020202020204" pitchFamily="34" charset="0"/>
                </a:rPr>
                <a:t>Service Diagnosis</a:t>
              </a:r>
            </a:p>
          </p:txBody>
        </p:sp>
        <p:sp>
          <p:nvSpPr>
            <p:cNvPr id="67672" name="Rectangle 6"/>
            <p:cNvSpPr>
              <a:spLocks noChangeArrowheads="1"/>
            </p:cNvSpPr>
            <p:nvPr/>
          </p:nvSpPr>
          <p:spPr bwMode="auto">
            <a:xfrm>
              <a:off x="3000" y="1039"/>
              <a:ext cx="1079" cy="192"/>
            </a:xfrm>
            <a:prstGeom prst="rect">
              <a:avLst/>
            </a:prstGeom>
            <a:solidFill>
              <a:srgbClr val="99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00007A"/>
                  </a:solidFill>
                  <a:latin typeface="Arial" panose="020B0604020202020204" pitchFamily="34" charset="0"/>
                </a:rPr>
                <a:t>Perform Service</a:t>
              </a:r>
            </a:p>
          </p:txBody>
        </p:sp>
        <p:sp>
          <p:nvSpPr>
            <p:cNvPr id="67673" name="Rectangle 7"/>
            <p:cNvSpPr>
              <a:spLocks noChangeArrowheads="1"/>
            </p:cNvSpPr>
            <p:nvPr/>
          </p:nvSpPr>
          <p:spPr bwMode="auto">
            <a:xfrm>
              <a:off x="4246" y="1039"/>
              <a:ext cx="1080" cy="19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US" sz="1400" b="1" i="1">
                  <a:solidFill>
                    <a:srgbClr val="EAEAEA"/>
                  </a:solidFill>
                  <a:latin typeface="Arial" panose="020B0604020202020204" pitchFamily="34" charset="0"/>
                </a:rPr>
                <a:t>Friendly Close</a:t>
              </a:r>
            </a:p>
          </p:txBody>
        </p:sp>
      </p:grpSp>
      <p:grpSp>
        <p:nvGrpSpPr>
          <p:cNvPr id="3" name="Group 8"/>
          <p:cNvGrpSpPr>
            <a:grpSpLocks/>
          </p:cNvGrpSpPr>
          <p:nvPr/>
        </p:nvGrpSpPr>
        <p:grpSpPr bwMode="auto">
          <a:xfrm>
            <a:off x="2384425" y="2020888"/>
            <a:ext cx="1589088" cy="1687512"/>
            <a:chOff x="502" y="1273"/>
            <a:chExt cx="1001" cy="1063"/>
          </a:xfrm>
        </p:grpSpPr>
        <p:sp>
          <p:nvSpPr>
            <p:cNvPr id="67662" name="Freeform 9"/>
            <p:cNvSpPr>
              <a:spLocks/>
            </p:cNvSpPr>
            <p:nvPr/>
          </p:nvSpPr>
          <p:spPr bwMode="auto">
            <a:xfrm>
              <a:off x="1000" y="1464"/>
              <a:ext cx="408" cy="872"/>
            </a:xfrm>
            <a:custGeom>
              <a:avLst/>
              <a:gdLst>
                <a:gd name="T0" fmla="*/ 0 w 408"/>
                <a:gd name="T1" fmla="*/ 0 h 872"/>
                <a:gd name="T2" fmla="*/ 0 w 408"/>
                <a:gd name="T3" fmla="*/ 872 h 872"/>
                <a:gd name="T4" fmla="*/ 408 w 408"/>
                <a:gd name="T5" fmla="*/ 872 h 872"/>
                <a:gd name="T6" fmla="*/ 0 60000 65536"/>
                <a:gd name="T7" fmla="*/ 0 60000 65536"/>
                <a:gd name="T8" fmla="*/ 0 60000 65536"/>
                <a:gd name="T9" fmla="*/ 0 w 408"/>
                <a:gd name="T10" fmla="*/ 0 h 872"/>
                <a:gd name="T11" fmla="*/ 408 w 408"/>
                <a:gd name="T12" fmla="*/ 872 h 87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08" h="872">
                  <a:moveTo>
                    <a:pt x="0" y="0"/>
                  </a:moveTo>
                  <a:lnTo>
                    <a:pt x="0" y="872"/>
                  </a:lnTo>
                  <a:lnTo>
                    <a:pt x="408" y="872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grpSp>
          <p:nvGrpSpPr>
            <p:cNvPr id="67663" name="Group 10"/>
            <p:cNvGrpSpPr>
              <a:grpSpLocks/>
            </p:cNvGrpSpPr>
            <p:nvPr/>
          </p:nvGrpSpPr>
          <p:grpSpPr bwMode="auto">
            <a:xfrm>
              <a:off x="502" y="1273"/>
              <a:ext cx="1000" cy="264"/>
              <a:chOff x="502" y="1273"/>
              <a:chExt cx="1000" cy="264"/>
            </a:xfrm>
          </p:grpSpPr>
          <p:sp>
            <p:nvSpPr>
              <p:cNvPr id="67668" name="Oval 11"/>
              <p:cNvSpPr>
                <a:spLocks noChangeArrowheads="1"/>
              </p:cNvSpPr>
              <p:nvPr/>
            </p:nvSpPr>
            <p:spPr bwMode="auto">
              <a:xfrm>
                <a:off x="502" y="1273"/>
                <a:ext cx="1000" cy="2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69" name="Rectangle 12"/>
              <p:cNvSpPr>
                <a:spLocks noChangeArrowheads="1"/>
              </p:cNvSpPr>
              <p:nvPr/>
            </p:nvSpPr>
            <p:spPr bwMode="auto">
              <a:xfrm>
                <a:off x="541" y="1283"/>
                <a:ext cx="922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 dirty="0">
                    <a:solidFill>
                      <a:srgbClr val="EAEAEA"/>
                    </a:solidFill>
                    <a:latin typeface="Arial" panose="020B0604020202020204" pitchFamily="34" charset="0"/>
                  </a:rPr>
                  <a:t>Customer arrives for service</a:t>
                </a:r>
              </a:p>
            </p:txBody>
          </p:sp>
        </p:grpSp>
        <p:grpSp>
          <p:nvGrpSpPr>
            <p:cNvPr id="67664" name="Group 13"/>
            <p:cNvGrpSpPr>
              <a:grpSpLocks/>
            </p:cNvGrpSpPr>
            <p:nvPr/>
          </p:nvGrpSpPr>
          <p:grpSpPr bwMode="auto">
            <a:xfrm>
              <a:off x="503" y="1849"/>
              <a:ext cx="1000" cy="405"/>
              <a:chOff x="503" y="1849"/>
              <a:chExt cx="1000" cy="405"/>
            </a:xfrm>
          </p:grpSpPr>
          <p:sp>
            <p:nvSpPr>
              <p:cNvPr id="67666" name="Oval 14"/>
              <p:cNvSpPr>
                <a:spLocks noChangeArrowheads="1"/>
              </p:cNvSpPr>
              <p:nvPr/>
            </p:nvSpPr>
            <p:spPr bwMode="auto">
              <a:xfrm>
                <a:off x="503" y="1849"/>
                <a:ext cx="1000" cy="405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67" name="Rectangle 15"/>
              <p:cNvSpPr>
                <a:spLocks noChangeArrowheads="1"/>
              </p:cNvSpPr>
              <p:nvPr/>
            </p:nvSpPr>
            <p:spPr bwMode="auto">
              <a:xfrm>
                <a:off x="567" y="1881"/>
                <a:ext cx="871" cy="35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Warm greeting and obtain service request</a:t>
                </a:r>
              </a:p>
            </p:txBody>
          </p:sp>
        </p:grpSp>
        <p:sp>
          <p:nvSpPr>
            <p:cNvPr id="67665" name="Oval 16"/>
            <p:cNvSpPr>
              <a:spLocks noChangeArrowheads="1"/>
            </p:cNvSpPr>
            <p:nvPr/>
          </p:nvSpPr>
          <p:spPr bwMode="auto">
            <a:xfrm>
              <a:off x="918" y="1599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2384426" y="4095750"/>
            <a:ext cx="1870075" cy="1079500"/>
            <a:chOff x="542" y="2580"/>
            <a:chExt cx="1178" cy="680"/>
          </a:xfrm>
        </p:grpSpPr>
        <p:sp>
          <p:nvSpPr>
            <p:cNvPr id="67657" name="Freeform 18"/>
            <p:cNvSpPr>
              <a:spLocks/>
            </p:cNvSpPr>
            <p:nvPr/>
          </p:nvSpPr>
          <p:spPr bwMode="auto">
            <a:xfrm>
              <a:off x="1040" y="2856"/>
              <a:ext cx="680" cy="404"/>
            </a:xfrm>
            <a:custGeom>
              <a:avLst/>
              <a:gdLst>
                <a:gd name="T0" fmla="*/ 406 w 720"/>
                <a:gd name="T1" fmla="*/ 21347 h 260"/>
                <a:gd name="T2" fmla="*/ 0 w 720"/>
                <a:gd name="T3" fmla="*/ 21347 h 260"/>
                <a:gd name="T4" fmla="*/ 0 w 720"/>
                <a:gd name="T5" fmla="*/ 0 h 260"/>
                <a:gd name="T6" fmla="*/ 0 60000 65536"/>
                <a:gd name="T7" fmla="*/ 0 60000 65536"/>
                <a:gd name="T8" fmla="*/ 0 60000 65536"/>
                <a:gd name="T9" fmla="*/ 0 w 720"/>
                <a:gd name="T10" fmla="*/ 0 h 260"/>
                <a:gd name="T11" fmla="*/ 720 w 720"/>
                <a:gd name="T12" fmla="*/ 260 h 26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20" h="260">
                  <a:moveTo>
                    <a:pt x="720" y="260"/>
                  </a:moveTo>
                  <a:lnTo>
                    <a:pt x="0" y="260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grpSp>
          <p:nvGrpSpPr>
            <p:cNvPr id="67658" name="Group 19"/>
            <p:cNvGrpSpPr>
              <a:grpSpLocks/>
            </p:cNvGrpSpPr>
            <p:nvPr/>
          </p:nvGrpSpPr>
          <p:grpSpPr bwMode="auto">
            <a:xfrm>
              <a:off x="542" y="2580"/>
              <a:ext cx="1000" cy="277"/>
              <a:chOff x="502" y="2580"/>
              <a:chExt cx="1000" cy="277"/>
            </a:xfrm>
          </p:grpSpPr>
          <p:sp>
            <p:nvSpPr>
              <p:cNvPr id="67660" name="Oval 20"/>
              <p:cNvSpPr>
                <a:spLocks noChangeArrowheads="1"/>
              </p:cNvSpPr>
              <p:nvPr/>
            </p:nvSpPr>
            <p:spPr bwMode="auto">
              <a:xfrm>
                <a:off x="502" y="2580"/>
                <a:ext cx="1000" cy="277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61" name="Rectangle 21"/>
              <p:cNvSpPr>
                <a:spLocks noChangeArrowheads="1"/>
              </p:cNvSpPr>
              <p:nvPr/>
            </p:nvSpPr>
            <p:spPr bwMode="auto">
              <a:xfrm>
                <a:off x="568" y="2595"/>
                <a:ext cx="868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Direct customer to waiting room</a:t>
                </a:r>
              </a:p>
            </p:txBody>
          </p:sp>
        </p:grpSp>
        <p:sp>
          <p:nvSpPr>
            <p:cNvPr id="67659" name="Oval 22"/>
            <p:cNvSpPr>
              <a:spLocks noChangeArrowheads="1"/>
            </p:cNvSpPr>
            <p:nvPr/>
          </p:nvSpPr>
          <p:spPr bwMode="auto">
            <a:xfrm>
              <a:off x="958" y="3032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</p:grpSp>
      <p:grpSp>
        <p:nvGrpSpPr>
          <p:cNvPr id="8" name="Group 23"/>
          <p:cNvGrpSpPr>
            <a:grpSpLocks/>
          </p:cNvGrpSpPr>
          <p:nvPr/>
        </p:nvGrpSpPr>
        <p:grpSpPr bwMode="auto">
          <a:xfrm>
            <a:off x="7245350" y="2127250"/>
            <a:ext cx="2946400" cy="4349750"/>
            <a:chOff x="3604" y="1340"/>
            <a:chExt cx="1856" cy="2740"/>
          </a:xfrm>
        </p:grpSpPr>
        <p:sp>
          <p:nvSpPr>
            <p:cNvPr id="67641" name="Freeform 24"/>
            <p:cNvSpPr>
              <a:spLocks/>
            </p:cNvSpPr>
            <p:nvPr/>
          </p:nvSpPr>
          <p:spPr bwMode="auto">
            <a:xfrm>
              <a:off x="3952" y="1436"/>
              <a:ext cx="500" cy="628"/>
            </a:xfrm>
            <a:custGeom>
              <a:avLst/>
              <a:gdLst>
                <a:gd name="T0" fmla="*/ 0 w 500"/>
                <a:gd name="T1" fmla="*/ 664 h 624"/>
                <a:gd name="T2" fmla="*/ 252 w 500"/>
                <a:gd name="T3" fmla="*/ 664 h 624"/>
                <a:gd name="T4" fmla="*/ 252 w 500"/>
                <a:gd name="T5" fmla="*/ 0 h 624"/>
                <a:gd name="T6" fmla="*/ 500 w 500"/>
                <a:gd name="T7" fmla="*/ 0 h 6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00"/>
                <a:gd name="T13" fmla="*/ 0 h 624"/>
                <a:gd name="T14" fmla="*/ 500 w 500"/>
                <a:gd name="T15" fmla="*/ 624 h 6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00" h="624">
                  <a:moveTo>
                    <a:pt x="0" y="624"/>
                  </a:moveTo>
                  <a:lnTo>
                    <a:pt x="252" y="624"/>
                  </a:lnTo>
                  <a:lnTo>
                    <a:pt x="252" y="0"/>
                  </a:lnTo>
                  <a:lnTo>
                    <a:pt x="50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grpSp>
          <p:nvGrpSpPr>
            <p:cNvPr id="67642" name="Group 25"/>
            <p:cNvGrpSpPr>
              <a:grpSpLocks/>
            </p:cNvGrpSpPr>
            <p:nvPr/>
          </p:nvGrpSpPr>
          <p:grpSpPr bwMode="auto">
            <a:xfrm>
              <a:off x="3604" y="1340"/>
              <a:ext cx="1856" cy="2740"/>
              <a:chOff x="3564" y="1340"/>
              <a:chExt cx="1856" cy="2740"/>
            </a:xfrm>
          </p:grpSpPr>
          <p:sp>
            <p:nvSpPr>
              <p:cNvPr id="67643" name="Line 26"/>
              <p:cNvSpPr>
                <a:spLocks noChangeShapeType="1"/>
              </p:cNvSpPr>
              <p:nvPr/>
            </p:nvSpPr>
            <p:spPr bwMode="auto">
              <a:xfrm flipV="1">
                <a:off x="4920" y="1876"/>
                <a:ext cx="0" cy="83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EAEAEA"/>
                  </a:solidFill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67644" name="Group 27"/>
              <p:cNvGrpSpPr>
                <a:grpSpLocks/>
              </p:cNvGrpSpPr>
              <p:nvPr/>
            </p:nvGrpSpPr>
            <p:grpSpPr bwMode="auto">
              <a:xfrm>
                <a:off x="4420" y="2672"/>
                <a:ext cx="1000" cy="392"/>
                <a:chOff x="4420" y="2672"/>
                <a:chExt cx="1000" cy="392"/>
              </a:xfrm>
            </p:grpSpPr>
            <p:sp>
              <p:nvSpPr>
                <p:cNvPr id="67655" name="Oval 28"/>
                <p:cNvSpPr>
                  <a:spLocks noChangeArrowheads="1"/>
                </p:cNvSpPr>
                <p:nvPr/>
              </p:nvSpPr>
              <p:spPr bwMode="auto">
                <a:xfrm>
                  <a:off x="4420" y="2672"/>
                  <a:ext cx="1000" cy="392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EAEAEA"/>
                    </a:solidFill>
                  </a:endParaRPr>
                </a:p>
              </p:txBody>
            </p:sp>
            <p:sp>
              <p:nvSpPr>
                <p:cNvPr id="67656" name="Rectangle 29"/>
                <p:cNvSpPr>
                  <a:spLocks noChangeArrowheads="1"/>
                </p:cNvSpPr>
                <p:nvPr/>
              </p:nvSpPr>
              <p:spPr bwMode="auto">
                <a:xfrm>
                  <a:off x="4555" y="2683"/>
                  <a:ext cx="730" cy="352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 fontAlgn="base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EAEAEA"/>
                      </a:solidFill>
                      <a:latin typeface="Arial" panose="020B0604020202020204" pitchFamily="34" charset="0"/>
                    </a:rPr>
                    <a:t>Notify customer the car is ready</a:t>
                  </a:r>
                </a:p>
              </p:txBody>
            </p:sp>
          </p:grpSp>
          <p:sp>
            <p:nvSpPr>
              <p:cNvPr id="67645" name="Oval 30"/>
              <p:cNvSpPr>
                <a:spLocks noChangeArrowheads="1"/>
              </p:cNvSpPr>
              <p:nvPr/>
            </p:nvSpPr>
            <p:spPr bwMode="auto">
              <a:xfrm>
                <a:off x="4836" y="2064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46" name="Oval 31"/>
              <p:cNvSpPr>
                <a:spLocks noChangeArrowheads="1"/>
              </p:cNvSpPr>
              <p:nvPr/>
            </p:nvSpPr>
            <p:spPr bwMode="auto">
              <a:xfrm>
                <a:off x="4836" y="2316"/>
                <a:ext cx="168" cy="168"/>
              </a:xfrm>
              <a:prstGeom prst="ellipse">
                <a:avLst/>
              </a:prstGeom>
              <a:solidFill>
                <a:schemeClr val="folHlink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47" name="Line 32"/>
              <p:cNvSpPr>
                <a:spLocks noChangeShapeType="1"/>
              </p:cNvSpPr>
              <p:nvPr/>
            </p:nvSpPr>
            <p:spPr bwMode="auto">
              <a:xfrm flipV="1">
                <a:off x="4920" y="1536"/>
                <a:ext cx="0" cy="164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EAEAEA"/>
                  </a:solidFill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67648" name="Group 33"/>
              <p:cNvGrpSpPr>
                <a:grpSpLocks/>
              </p:cNvGrpSpPr>
              <p:nvPr/>
            </p:nvGrpSpPr>
            <p:grpSpPr bwMode="auto">
              <a:xfrm>
                <a:off x="4420" y="1340"/>
                <a:ext cx="1000" cy="196"/>
                <a:chOff x="4420" y="1340"/>
                <a:chExt cx="1000" cy="196"/>
              </a:xfrm>
            </p:grpSpPr>
            <p:sp>
              <p:nvSpPr>
                <p:cNvPr id="67653" name="Oval 34"/>
                <p:cNvSpPr>
                  <a:spLocks noChangeArrowheads="1"/>
                </p:cNvSpPr>
                <p:nvPr/>
              </p:nvSpPr>
              <p:spPr bwMode="auto">
                <a:xfrm>
                  <a:off x="4420" y="1340"/>
                  <a:ext cx="1000" cy="196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EAEAEA"/>
                    </a:solidFill>
                  </a:endParaRPr>
                </a:p>
              </p:txBody>
            </p:sp>
            <p:sp>
              <p:nvSpPr>
                <p:cNvPr id="67654" name="Rectangle 35"/>
                <p:cNvSpPr>
                  <a:spLocks noChangeArrowheads="1"/>
                </p:cNvSpPr>
                <p:nvPr/>
              </p:nvSpPr>
              <p:spPr bwMode="auto">
                <a:xfrm>
                  <a:off x="4452" y="1355"/>
                  <a:ext cx="936" cy="1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 fontAlgn="base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EAEAEA"/>
                      </a:solidFill>
                      <a:latin typeface="Arial" panose="020B0604020202020204" pitchFamily="34" charset="0"/>
                    </a:rPr>
                    <a:t>Customer departs</a:t>
                  </a:r>
                </a:p>
              </p:txBody>
            </p:sp>
          </p:grpSp>
          <p:grpSp>
            <p:nvGrpSpPr>
              <p:cNvPr id="67649" name="Group 36"/>
              <p:cNvGrpSpPr>
                <a:grpSpLocks/>
              </p:cNvGrpSpPr>
              <p:nvPr/>
            </p:nvGrpSpPr>
            <p:grpSpPr bwMode="auto">
              <a:xfrm>
                <a:off x="4420" y="1664"/>
                <a:ext cx="1000" cy="212"/>
                <a:chOff x="4420" y="1616"/>
                <a:chExt cx="1000" cy="212"/>
              </a:xfrm>
            </p:grpSpPr>
            <p:sp>
              <p:nvSpPr>
                <p:cNvPr id="67651" name="Oval 37"/>
                <p:cNvSpPr>
                  <a:spLocks noChangeArrowheads="1"/>
                </p:cNvSpPr>
                <p:nvPr/>
              </p:nvSpPr>
              <p:spPr bwMode="auto">
                <a:xfrm>
                  <a:off x="4420" y="1616"/>
                  <a:ext cx="1000" cy="212"/>
                </a:xfrm>
                <a:prstGeom prst="ellipse">
                  <a:avLst/>
                </a:prstGeom>
                <a:solidFill>
                  <a:schemeClr val="accent2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EAEAEA"/>
                    </a:solidFill>
                  </a:endParaRPr>
                </a:p>
              </p:txBody>
            </p:sp>
            <p:sp>
              <p:nvSpPr>
                <p:cNvPr id="67652" name="Rectangle 38"/>
                <p:cNvSpPr>
                  <a:spLocks noChangeArrowheads="1"/>
                </p:cNvSpPr>
                <p:nvPr/>
              </p:nvSpPr>
              <p:spPr bwMode="auto">
                <a:xfrm>
                  <a:off x="4432" y="1643"/>
                  <a:ext cx="975" cy="156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algn="ctr" fontAlgn="base">
                    <a:lnSpc>
                      <a:spcPct val="85000"/>
                    </a:lnSpc>
                    <a:spcBef>
                      <a:spcPct val="0"/>
                    </a:spcBef>
                    <a:spcAft>
                      <a:spcPct val="0"/>
                    </a:spcAft>
                  </a:pPr>
                  <a:r>
                    <a:rPr lang="en-US" sz="1200" b="1" i="1">
                      <a:solidFill>
                        <a:srgbClr val="EAEAEA"/>
                      </a:solidFill>
                      <a:latin typeface="Arial" panose="020B0604020202020204" pitchFamily="34" charset="0"/>
                    </a:rPr>
                    <a:t>Customer pays bill</a:t>
                  </a:r>
                </a:p>
              </p:txBody>
            </p:sp>
          </p:grpSp>
          <p:sp>
            <p:nvSpPr>
              <p:cNvPr id="67650" name="Freeform 39"/>
              <p:cNvSpPr>
                <a:spLocks/>
              </p:cNvSpPr>
              <p:nvPr/>
            </p:nvSpPr>
            <p:spPr bwMode="auto">
              <a:xfrm>
                <a:off x="3564" y="3072"/>
                <a:ext cx="1352" cy="1008"/>
              </a:xfrm>
              <a:custGeom>
                <a:avLst/>
                <a:gdLst>
                  <a:gd name="T0" fmla="*/ 0 w 1352"/>
                  <a:gd name="T1" fmla="*/ 1008 h 1008"/>
                  <a:gd name="T2" fmla="*/ 1352 w 1352"/>
                  <a:gd name="T3" fmla="*/ 1008 h 1008"/>
                  <a:gd name="T4" fmla="*/ 1352 w 1352"/>
                  <a:gd name="T5" fmla="*/ 0 h 1008"/>
                  <a:gd name="T6" fmla="*/ 0 60000 65536"/>
                  <a:gd name="T7" fmla="*/ 0 60000 65536"/>
                  <a:gd name="T8" fmla="*/ 0 60000 65536"/>
                  <a:gd name="T9" fmla="*/ 0 w 1352"/>
                  <a:gd name="T10" fmla="*/ 0 h 1008"/>
                  <a:gd name="T11" fmla="*/ 1352 w 1352"/>
                  <a:gd name="T12" fmla="*/ 1008 h 100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52" h="1008">
                    <a:moveTo>
                      <a:pt x="0" y="1008"/>
                    </a:moveTo>
                    <a:lnTo>
                      <a:pt x="1352" y="1008"/>
                    </a:lnTo>
                    <a:lnTo>
                      <a:pt x="1352" y="0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</p:grpSp>
      </p:grpSp>
      <p:grpSp>
        <p:nvGrpSpPr>
          <p:cNvPr id="13" name="Group 40"/>
          <p:cNvGrpSpPr>
            <a:grpSpLocks/>
          </p:cNvGrpSpPr>
          <p:nvPr/>
        </p:nvGrpSpPr>
        <p:grpSpPr bwMode="auto">
          <a:xfrm>
            <a:off x="4194176" y="5024438"/>
            <a:ext cx="3749675" cy="1579562"/>
            <a:chOff x="1682" y="3165"/>
            <a:chExt cx="2362" cy="995"/>
          </a:xfrm>
        </p:grpSpPr>
        <p:sp>
          <p:nvSpPr>
            <p:cNvPr id="67628" name="Line 41"/>
            <p:cNvSpPr>
              <a:spLocks noChangeShapeType="1"/>
            </p:cNvSpPr>
            <p:nvPr/>
          </p:nvSpPr>
          <p:spPr bwMode="auto">
            <a:xfrm>
              <a:off x="3544" y="3460"/>
              <a:ext cx="0" cy="58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EAEAEA"/>
                </a:solidFill>
                <a:latin typeface="Arial Narrow" panose="020B0606020202030204" pitchFamily="34" charset="0"/>
              </a:endParaRPr>
            </a:p>
          </p:txBody>
        </p:sp>
        <p:grpSp>
          <p:nvGrpSpPr>
            <p:cNvPr id="67629" name="Group 42"/>
            <p:cNvGrpSpPr>
              <a:grpSpLocks/>
            </p:cNvGrpSpPr>
            <p:nvPr/>
          </p:nvGrpSpPr>
          <p:grpSpPr bwMode="auto">
            <a:xfrm>
              <a:off x="3044" y="3243"/>
              <a:ext cx="1000" cy="265"/>
              <a:chOff x="3004" y="3155"/>
              <a:chExt cx="1000" cy="265"/>
            </a:xfrm>
          </p:grpSpPr>
          <p:sp>
            <p:nvSpPr>
              <p:cNvPr id="67639" name="Oval 43"/>
              <p:cNvSpPr>
                <a:spLocks noChangeArrowheads="1"/>
              </p:cNvSpPr>
              <p:nvPr/>
            </p:nvSpPr>
            <p:spPr bwMode="auto">
              <a:xfrm>
                <a:off x="3004" y="3156"/>
                <a:ext cx="1000" cy="264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40" name="Rectangle 44"/>
              <p:cNvSpPr>
                <a:spLocks noChangeArrowheads="1"/>
              </p:cNvSpPr>
              <p:nvPr/>
            </p:nvSpPr>
            <p:spPr bwMode="auto">
              <a:xfrm>
                <a:off x="3095" y="3155"/>
                <a:ext cx="818" cy="2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Perform required work</a:t>
                </a:r>
              </a:p>
            </p:txBody>
          </p:sp>
        </p:grpSp>
        <p:grpSp>
          <p:nvGrpSpPr>
            <p:cNvPr id="67630" name="Group 45"/>
            <p:cNvGrpSpPr>
              <a:grpSpLocks/>
            </p:cNvGrpSpPr>
            <p:nvPr/>
          </p:nvGrpSpPr>
          <p:grpSpPr bwMode="auto">
            <a:xfrm>
              <a:off x="3044" y="3720"/>
              <a:ext cx="1000" cy="248"/>
              <a:chOff x="3004" y="3632"/>
              <a:chExt cx="1000" cy="248"/>
            </a:xfrm>
          </p:grpSpPr>
          <p:sp>
            <p:nvSpPr>
              <p:cNvPr id="67637" name="Oval 46"/>
              <p:cNvSpPr>
                <a:spLocks noChangeArrowheads="1"/>
              </p:cNvSpPr>
              <p:nvPr/>
            </p:nvSpPr>
            <p:spPr bwMode="auto">
              <a:xfrm>
                <a:off x="3004" y="3632"/>
                <a:ext cx="1000" cy="2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38" name="Rectangle 47"/>
              <p:cNvSpPr>
                <a:spLocks noChangeArrowheads="1"/>
              </p:cNvSpPr>
              <p:nvPr/>
            </p:nvSpPr>
            <p:spPr bwMode="auto">
              <a:xfrm>
                <a:off x="3088" y="3675"/>
                <a:ext cx="830" cy="15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Prepare invoice</a:t>
                </a:r>
              </a:p>
            </p:txBody>
          </p:sp>
        </p:grpSp>
        <p:sp>
          <p:nvSpPr>
            <p:cNvPr id="67631" name="Oval 48"/>
            <p:cNvSpPr>
              <a:spLocks noChangeArrowheads="1"/>
            </p:cNvSpPr>
            <p:nvPr/>
          </p:nvSpPr>
          <p:spPr bwMode="auto">
            <a:xfrm>
              <a:off x="3460" y="3528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62513" name="Rectangle 49"/>
            <p:cNvSpPr>
              <a:spLocks noChangeArrowheads="1"/>
            </p:cNvSpPr>
            <p:nvPr/>
          </p:nvSpPr>
          <p:spPr bwMode="auto">
            <a:xfrm>
              <a:off x="2370" y="3165"/>
              <a:ext cx="28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Yes</a:t>
              </a:r>
            </a:p>
          </p:txBody>
        </p:sp>
        <p:sp>
          <p:nvSpPr>
            <p:cNvPr id="62514" name="Rectangle 50"/>
            <p:cNvSpPr>
              <a:spLocks noChangeArrowheads="1"/>
            </p:cNvSpPr>
            <p:nvPr/>
          </p:nvSpPr>
          <p:spPr bwMode="auto">
            <a:xfrm>
              <a:off x="1682" y="3165"/>
              <a:ext cx="286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Yes</a:t>
              </a:r>
            </a:p>
          </p:txBody>
        </p:sp>
        <p:sp>
          <p:nvSpPr>
            <p:cNvPr id="67634" name="Oval 51"/>
            <p:cNvSpPr>
              <a:spLocks noChangeArrowheads="1"/>
            </p:cNvSpPr>
            <p:nvPr/>
          </p:nvSpPr>
          <p:spPr bwMode="auto">
            <a:xfrm>
              <a:off x="3460" y="3992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67635" name="Freeform 52"/>
            <p:cNvSpPr>
              <a:spLocks/>
            </p:cNvSpPr>
            <p:nvPr/>
          </p:nvSpPr>
          <p:spPr bwMode="auto">
            <a:xfrm>
              <a:off x="1824" y="3308"/>
              <a:ext cx="1216" cy="68"/>
            </a:xfrm>
            <a:custGeom>
              <a:avLst/>
              <a:gdLst>
                <a:gd name="T0" fmla="*/ 1216 w 1216"/>
                <a:gd name="T1" fmla="*/ 68 h 68"/>
                <a:gd name="T2" fmla="*/ 0 w 1216"/>
                <a:gd name="T3" fmla="*/ 68 h 68"/>
                <a:gd name="T4" fmla="*/ 0 w 1216"/>
                <a:gd name="T5" fmla="*/ 0 h 68"/>
                <a:gd name="T6" fmla="*/ 0 60000 65536"/>
                <a:gd name="T7" fmla="*/ 0 60000 65536"/>
                <a:gd name="T8" fmla="*/ 0 60000 65536"/>
                <a:gd name="T9" fmla="*/ 0 w 1216"/>
                <a:gd name="T10" fmla="*/ 0 h 68"/>
                <a:gd name="T11" fmla="*/ 1216 w 1216"/>
                <a:gd name="T12" fmla="*/ 68 h 6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216" h="68">
                  <a:moveTo>
                    <a:pt x="1216" y="68"/>
                  </a:moveTo>
                  <a:lnTo>
                    <a:pt x="0" y="68"/>
                  </a:ln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 type="triangle" w="sm" len="sm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67636" name="Line 53"/>
            <p:cNvSpPr>
              <a:spLocks noChangeShapeType="1"/>
            </p:cNvSpPr>
            <p:nvPr/>
          </p:nvSpPr>
          <p:spPr bwMode="auto">
            <a:xfrm>
              <a:off x="2516" y="3320"/>
              <a:ext cx="0" cy="5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EAEAEA"/>
                </a:solidFill>
                <a:latin typeface="Arial Narrow" panose="020B0606020202030204" pitchFamily="34" charset="0"/>
              </a:endParaRPr>
            </a:p>
          </p:txBody>
        </p:sp>
      </p:grpSp>
      <p:sp>
        <p:nvSpPr>
          <p:cNvPr id="62518" name="Rectangle 54"/>
          <p:cNvSpPr>
            <a:spLocks noChangeArrowheads="1"/>
          </p:cNvSpPr>
          <p:nvPr/>
        </p:nvSpPr>
        <p:spPr bwMode="auto">
          <a:xfrm>
            <a:off x="1699333" y="5307014"/>
            <a:ext cx="641522" cy="458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1">
                <a:solidFill>
                  <a:srgbClr val="EAEAEA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Level</a:t>
            </a:r>
          </a:p>
          <a:p>
            <a:pPr algn="ctr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en-US" sz="1400" b="1" i="1">
                <a:solidFill>
                  <a:srgbClr val="EAEAEA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#3</a:t>
            </a:r>
          </a:p>
        </p:txBody>
      </p:sp>
      <p:grpSp>
        <p:nvGrpSpPr>
          <p:cNvPr id="16" name="Group 55"/>
          <p:cNvGrpSpPr>
            <a:grpSpLocks/>
          </p:cNvGrpSpPr>
          <p:nvPr/>
        </p:nvGrpSpPr>
        <p:grpSpPr bwMode="auto">
          <a:xfrm>
            <a:off x="1701800" y="1990726"/>
            <a:ext cx="8483600" cy="498475"/>
            <a:chOff x="112" y="1254"/>
            <a:chExt cx="5344" cy="314"/>
          </a:xfrm>
        </p:grpSpPr>
        <p:sp>
          <p:nvSpPr>
            <p:cNvPr id="62520" name="Rectangle 56"/>
            <p:cNvSpPr>
              <a:spLocks noChangeArrowheads="1"/>
            </p:cNvSpPr>
            <p:nvPr/>
          </p:nvSpPr>
          <p:spPr bwMode="auto">
            <a:xfrm>
              <a:off x="112" y="1254"/>
              <a:ext cx="465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Level</a:t>
              </a:r>
            </a:p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#1</a:t>
              </a:r>
            </a:p>
          </p:txBody>
        </p:sp>
        <p:sp>
          <p:nvSpPr>
            <p:cNvPr id="67627" name="Line 57"/>
            <p:cNvSpPr>
              <a:spLocks noChangeShapeType="1"/>
            </p:cNvSpPr>
            <p:nvPr/>
          </p:nvSpPr>
          <p:spPr bwMode="auto">
            <a:xfrm>
              <a:off x="144" y="1568"/>
              <a:ext cx="531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EAEAEA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7" name="Group 58"/>
          <p:cNvGrpSpPr>
            <a:grpSpLocks/>
          </p:cNvGrpSpPr>
          <p:nvPr/>
        </p:nvGrpSpPr>
        <p:grpSpPr bwMode="auto">
          <a:xfrm>
            <a:off x="1701800" y="3683000"/>
            <a:ext cx="8483600" cy="1422400"/>
            <a:chOff x="112" y="2320"/>
            <a:chExt cx="5344" cy="896"/>
          </a:xfrm>
        </p:grpSpPr>
        <p:sp>
          <p:nvSpPr>
            <p:cNvPr id="62523" name="Rectangle 59"/>
            <p:cNvSpPr>
              <a:spLocks noChangeArrowheads="1"/>
            </p:cNvSpPr>
            <p:nvPr/>
          </p:nvSpPr>
          <p:spPr bwMode="auto">
            <a:xfrm>
              <a:off x="112" y="2320"/>
              <a:ext cx="453" cy="28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Level</a:t>
              </a:r>
            </a:p>
            <a:p>
              <a:pPr algn="ctr" eaLnBrk="0" fontAlgn="base" hangingPunct="0">
                <a:lnSpc>
                  <a:spcPct val="85000"/>
                </a:lnSpc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#2</a:t>
              </a:r>
            </a:p>
          </p:txBody>
        </p:sp>
        <p:sp>
          <p:nvSpPr>
            <p:cNvPr id="67625" name="Line 60"/>
            <p:cNvSpPr>
              <a:spLocks noChangeShapeType="1"/>
            </p:cNvSpPr>
            <p:nvPr/>
          </p:nvSpPr>
          <p:spPr bwMode="auto">
            <a:xfrm>
              <a:off x="144" y="3216"/>
              <a:ext cx="5312" cy="0"/>
            </a:xfrm>
            <a:prstGeom prst="line">
              <a:avLst/>
            </a:prstGeom>
            <a:noFill/>
            <a:ln w="3810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EAEAEA"/>
                </a:solidFill>
                <a:latin typeface="Arial Narrow" panose="020B0606020202030204" pitchFamily="34" charset="0"/>
              </a:endParaRPr>
            </a:p>
          </p:txBody>
        </p:sp>
      </p:grpSp>
      <p:grpSp>
        <p:nvGrpSpPr>
          <p:cNvPr id="18" name="Group 61"/>
          <p:cNvGrpSpPr>
            <a:grpSpLocks/>
          </p:cNvGrpSpPr>
          <p:nvPr/>
        </p:nvGrpSpPr>
        <p:grpSpPr bwMode="auto">
          <a:xfrm>
            <a:off x="3086100" y="5816600"/>
            <a:ext cx="2286000" cy="304800"/>
            <a:chOff x="1016" y="3744"/>
            <a:chExt cx="1440" cy="192"/>
          </a:xfrm>
        </p:grpSpPr>
        <p:sp>
          <p:nvSpPr>
            <p:cNvPr id="67622" name="Oval 62"/>
            <p:cNvSpPr>
              <a:spLocks noChangeArrowheads="1"/>
            </p:cNvSpPr>
            <p:nvPr/>
          </p:nvSpPr>
          <p:spPr bwMode="auto">
            <a:xfrm>
              <a:off x="1016" y="3756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sp>
          <p:nvSpPr>
            <p:cNvPr id="62527" name="Rectangle 63"/>
            <p:cNvSpPr>
              <a:spLocks noChangeArrowheads="1"/>
            </p:cNvSpPr>
            <p:nvPr/>
          </p:nvSpPr>
          <p:spPr bwMode="auto">
            <a:xfrm>
              <a:off x="1200" y="3744"/>
              <a:ext cx="1256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4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Potential failure point</a:t>
              </a:r>
            </a:p>
          </p:txBody>
        </p:sp>
      </p:grpSp>
      <p:grpSp>
        <p:nvGrpSpPr>
          <p:cNvPr id="19" name="Group 65"/>
          <p:cNvGrpSpPr>
            <a:grpSpLocks/>
          </p:cNvGrpSpPr>
          <p:nvPr/>
        </p:nvGrpSpPr>
        <p:grpSpPr bwMode="auto">
          <a:xfrm>
            <a:off x="6159501" y="2754313"/>
            <a:ext cx="1763713" cy="1484312"/>
            <a:chOff x="2880" y="1735"/>
            <a:chExt cx="1111" cy="935"/>
          </a:xfrm>
        </p:grpSpPr>
        <p:sp>
          <p:nvSpPr>
            <p:cNvPr id="67616" name="Line 66"/>
            <p:cNvSpPr>
              <a:spLocks noChangeShapeType="1"/>
            </p:cNvSpPr>
            <p:nvPr/>
          </p:nvSpPr>
          <p:spPr bwMode="auto">
            <a:xfrm>
              <a:off x="2880" y="2588"/>
              <a:ext cx="212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0"/>
                </a:spcBef>
                <a:spcAft>
                  <a:spcPct val="0"/>
                </a:spcAft>
              </a:pPr>
              <a:endParaRPr lang="en-US" sz="2400">
                <a:solidFill>
                  <a:srgbClr val="EAEAEA"/>
                </a:solidFill>
                <a:latin typeface="Arial Narrow" panose="020B0606020202030204" pitchFamily="34" charset="0"/>
              </a:endParaRPr>
            </a:p>
          </p:txBody>
        </p:sp>
        <p:sp>
          <p:nvSpPr>
            <p:cNvPr id="62531" name="Rectangle 67"/>
            <p:cNvSpPr>
              <a:spLocks noChangeArrowheads="1"/>
            </p:cNvSpPr>
            <p:nvPr/>
          </p:nvSpPr>
          <p:spPr bwMode="auto">
            <a:xfrm>
              <a:off x="3066" y="2497"/>
              <a:ext cx="2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en-US" sz="1200" b="1" i="1">
                  <a:solidFill>
                    <a:srgbClr val="EAEAEA"/>
                  </a:solidFill>
                  <a:effectLst>
                    <a:outerShdw blurRad="38100" dist="38100" dir="2700000" algn="tl">
                      <a:srgbClr val="000000"/>
                    </a:outerShdw>
                  </a:effectLst>
                </a:rPr>
                <a:t>No</a:t>
              </a:r>
            </a:p>
          </p:txBody>
        </p:sp>
        <p:sp>
          <p:nvSpPr>
            <p:cNvPr id="67618" name="Freeform 68"/>
            <p:cNvSpPr>
              <a:spLocks/>
            </p:cNvSpPr>
            <p:nvPr/>
          </p:nvSpPr>
          <p:spPr bwMode="auto">
            <a:xfrm>
              <a:off x="3288" y="2392"/>
              <a:ext cx="216" cy="196"/>
            </a:xfrm>
            <a:custGeom>
              <a:avLst/>
              <a:gdLst>
                <a:gd name="T0" fmla="*/ 0 w 216"/>
                <a:gd name="T1" fmla="*/ 196 h 196"/>
                <a:gd name="T2" fmla="*/ 216 w 216"/>
                <a:gd name="T3" fmla="*/ 196 h 196"/>
                <a:gd name="T4" fmla="*/ 216 w 216"/>
                <a:gd name="T5" fmla="*/ 0 h 196"/>
                <a:gd name="T6" fmla="*/ 0 60000 65536"/>
                <a:gd name="T7" fmla="*/ 0 60000 65536"/>
                <a:gd name="T8" fmla="*/ 0 60000 65536"/>
                <a:gd name="T9" fmla="*/ 0 w 216"/>
                <a:gd name="T10" fmla="*/ 0 h 196"/>
                <a:gd name="T11" fmla="*/ 216 w 216"/>
                <a:gd name="T12" fmla="*/ 196 h 19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" h="196">
                  <a:moveTo>
                    <a:pt x="0" y="196"/>
                  </a:moveTo>
                  <a:lnTo>
                    <a:pt x="216" y="196"/>
                  </a:lnTo>
                  <a:lnTo>
                    <a:pt x="216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triangl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grpSp>
          <p:nvGrpSpPr>
            <p:cNvPr id="67619" name="Group 69"/>
            <p:cNvGrpSpPr>
              <a:grpSpLocks/>
            </p:cNvGrpSpPr>
            <p:nvPr/>
          </p:nvGrpSpPr>
          <p:grpSpPr bwMode="auto">
            <a:xfrm>
              <a:off x="3016" y="1735"/>
              <a:ext cx="975" cy="657"/>
              <a:chOff x="3016" y="1735"/>
              <a:chExt cx="975" cy="657"/>
            </a:xfrm>
          </p:grpSpPr>
          <p:sp>
            <p:nvSpPr>
              <p:cNvPr id="67620" name="Oval 70"/>
              <p:cNvSpPr>
                <a:spLocks noChangeArrowheads="1"/>
              </p:cNvSpPr>
              <p:nvPr/>
            </p:nvSpPr>
            <p:spPr bwMode="auto">
              <a:xfrm>
                <a:off x="3068" y="1744"/>
                <a:ext cx="872" cy="648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eaLnBrk="1" fontAlgn="base" hangingPunct="1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solidFill>
                    <a:srgbClr val="EAEAEA"/>
                  </a:solidFill>
                </a:endParaRPr>
              </a:p>
            </p:txBody>
          </p:sp>
          <p:sp>
            <p:nvSpPr>
              <p:cNvPr id="67621" name="Rectangle 71"/>
              <p:cNvSpPr>
                <a:spLocks noChangeArrowheads="1"/>
              </p:cNvSpPr>
              <p:nvPr/>
            </p:nvSpPr>
            <p:spPr bwMode="auto">
              <a:xfrm>
                <a:off x="3016" y="1735"/>
                <a:ext cx="975" cy="6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1pPr>
                <a:lvl2pPr marL="742950" indent="-28575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2pPr>
                <a:lvl3pPr marL="11430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3pPr>
                <a:lvl4pPr marL="16002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4pPr>
                <a:lvl5pPr marL="2057400" indent="-228600" eaLnBrk="0" hangingPunct="0"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 Narrow" panose="020B0606020202030204" pitchFamily="34" charset="0"/>
                  </a:defRPr>
                </a:lvl9pPr>
              </a:lstStyle>
              <a:p>
                <a:pPr algn="ctr" fontAlgn="base"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Notify</a:t>
                </a:r>
                <a:b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</a:b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customer</a:t>
                </a:r>
                <a:b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</a:b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and recommend</a:t>
                </a:r>
                <a:b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</a:b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an alternative</a:t>
                </a:r>
                <a:b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</a:br>
                <a:r>
                  <a:rPr lang="en-US" sz="1200" b="1" i="1">
                    <a:solidFill>
                      <a:srgbClr val="EAEAEA"/>
                    </a:solidFill>
                    <a:latin typeface="Arial" panose="020B0604020202020204" pitchFamily="34" charset="0"/>
                  </a:rPr>
                  <a:t>provider</a:t>
                </a:r>
              </a:p>
            </p:txBody>
          </p:sp>
        </p:grpSp>
      </p:grpSp>
      <p:grpSp>
        <p:nvGrpSpPr>
          <p:cNvPr id="21" name="Group 72"/>
          <p:cNvGrpSpPr>
            <a:grpSpLocks/>
          </p:cNvGrpSpPr>
          <p:nvPr/>
        </p:nvGrpSpPr>
        <p:grpSpPr bwMode="auto">
          <a:xfrm>
            <a:off x="3816350" y="2817814"/>
            <a:ext cx="2438400" cy="2262187"/>
            <a:chOff x="1444" y="1775"/>
            <a:chExt cx="1536" cy="1425"/>
          </a:xfrm>
        </p:grpSpPr>
        <p:sp>
          <p:nvSpPr>
            <p:cNvPr id="67598" name="Oval 73"/>
            <p:cNvSpPr>
              <a:spLocks noChangeArrowheads="1"/>
            </p:cNvSpPr>
            <p:nvPr/>
          </p:nvSpPr>
          <p:spPr bwMode="auto">
            <a:xfrm>
              <a:off x="1739" y="3032"/>
              <a:ext cx="168" cy="168"/>
            </a:xfrm>
            <a:prstGeom prst="ellipse">
              <a:avLst/>
            </a:prstGeom>
            <a:solidFill>
              <a:schemeClr val="folHlink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1pPr>
              <a:lvl2pPr marL="742950" indent="-28575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2pPr>
              <a:lvl3pPr marL="11430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3pPr>
              <a:lvl4pPr marL="16002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4pPr>
              <a:lvl5pPr marL="2057400" indent="-228600" eaLnBrk="0" hangingPunct="0"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 Narrow" panose="020B0606020202030204" pitchFamily="34" charset="0"/>
                </a:defRPr>
              </a:lvl9pPr>
            </a:lstStyle>
            <a:p>
              <a:pPr eaLnBrk="1" fontAlgn="base" hangingPunct="1">
                <a:spcBef>
                  <a:spcPct val="0"/>
                </a:spcBef>
                <a:spcAft>
                  <a:spcPct val="0"/>
                </a:spcAft>
              </a:pPr>
              <a:endParaRPr lang="en-US">
                <a:solidFill>
                  <a:srgbClr val="EAEAEA"/>
                </a:solidFill>
              </a:endParaRPr>
            </a:p>
          </p:txBody>
        </p:sp>
        <p:grpSp>
          <p:nvGrpSpPr>
            <p:cNvPr id="67599" name="Group 74"/>
            <p:cNvGrpSpPr>
              <a:grpSpLocks/>
            </p:cNvGrpSpPr>
            <p:nvPr/>
          </p:nvGrpSpPr>
          <p:grpSpPr bwMode="auto">
            <a:xfrm>
              <a:off x="1444" y="1775"/>
              <a:ext cx="1536" cy="1425"/>
              <a:chOff x="1444" y="1775"/>
              <a:chExt cx="1536" cy="1425"/>
            </a:xfrm>
          </p:grpSpPr>
          <p:sp>
            <p:nvSpPr>
              <p:cNvPr id="67600" name="Line 75"/>
              <p:cNvSpPr>
                <a:spLocks noChangeShapeType="1"/>
              </p:cNvSpPr>
              <p:nvPr/>
            </p:nvSpPr>
            <p:spPr bwMode="auto">
              <a:xfrm>
                <a:off x="1824" y="2096"/>
                <a:ext cx="0" cy="92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 type="triangle" w="sm" len="sm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</a:pPr>
                <a:endParaRPr lang="en-US" sz="2400">
                  <a:solidFill>
                    <a:srgbClr val="EAEAEA"/>
                  </a:solidFill>
                  <a:latin typeface="Arial Narrow" panose="020B0606020202030204" pitchFamily="34" charset="0"/>
                </a:endParaRPr>
              </a:p>
            </p:txBody>
          </p:sp>
          <p:grpSp>
            <p:nvGrpSpPr>
              <p:cNvPr id="67601" name="Group 76"/>
              <p:cNvGrpSpPr>
                <a:grpSpLocks/>
              </p:cNvGrpSpPr>
              <p:nvPr/>
            </p:nvGrpSpPr>
            <p:grpSpPr bwMode="auto">
              <a:xfrm>
                <a:off x="1444" y="1775"/>
                <a:ext cx="1536" cy="1425"/>
                <a:chOff x="1404" y="1775"/>
                <a:chExt cx="1536" cy="1425"/>
              </a:xfrm>
            </p:grpSpPr>
            <p:sp>
              <p:nvSpPr>
                <p:cNvPr id="67602" name="Line 77"/>
                <p:cNvSpPr>
                  <a:spLocks noChangeShapeType="1"/>
                </p:cNvSpPr>
                <p:nvPr/>
              </p:nvSpPr>
              <p:spPr bwMode="auto">
                <a:xfrm>
                  <a:off x="2472" y="1976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EAEAEA"/>
                    </a:solidFill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67603" name="Group 78"/>
                <p:cNvGrpSpPr>
                  <a:grpSpLocks/>
                </p:cNvGrpSpPr>
                <p:nvPr/>
              </p:nvGrpSpPr>
              <p:grpSpPr bwMode="auto">
                <a:xfrm>
                  <a:off x="1404" y="2124"/>
                  <a:ext cx="760" cy="428"/>
                  <a:chOff x="1404" y="2124"/>
                  <a:chExt cx="760" cy="428"/>
                </a:xfrm>
              </p:grpSpPr>
              <p:sp>
                <p:nvSpPr>
                  <p:cNvPr id="67614" name="AutoShape 79"/>
                  <p:cNvSpPr>
                    <a:spLocks noChangeArrowheads="1"/>
                  </p:cNvSpPr>
                  <p:nvPr/>
                </p:nvSpPr>
                <p:spPr bwMode="auto">
                  <a:xfrm>
                    <a:off x="1404" y="2124"/>
                    <a:ext cx="760" cy="428"/>
                  </a:xfrm>
                  <a:prstGeom prst="diamond">
                    <a:avLst/>
                  </a:prstGeom>
                  <a:solidFill>
                    <a:schemeClr val="bg2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EAEAEA"/>
                      </a:solidFill>
                    </a:endParaRPr>
                  </a:p>
                </p:txBody>
              </p:sp>
              <p:sp>
                <p:nvSpPr>
                  <p:cNvPr id="67615" name="Rectangle 80"/>
                  <p:cNvSpPr>
                    <a:spLocks noChangeArrowheads="1"/>
                  </p:cNvSpPr>
                  <p:nvPr/>
                </p:nvSpPr>
                <p:spPr bwMode="auto">
                  <a:xfrm>
                    <a:off x="1478" y="2219"/>
                    <a:ext cx="602" cy="2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algn="ctr" fontAlgn="base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  <a:t>Standard request</a:t>
                    </a:r>
                  </a:p>
                </p:txBody>
              </p:sp>
            </p:grpSp>
            <p:grpSp>
              <p:nvGrpSpPr>
                <p:cNvPr id="67604" name="Group 81"/>
                <p:cNvGrpSpPr>
                  <a:grpSpLocks/>
                </p:cNvGrpSpPr>
                <p:nvPr/>
              </p:nvGrpSpPr>
              <p:grpSpPr bwMode="auto">
                <a:xfrm>
                  <a:off x="2022" y="1775"/>
                  <a:ext cx="896" cy="254"/>
                  <a:chOff x="2022" y="1787"/>
                  <a:chExt cx="896" cy="254"/>
                </a:xfrm>
              </p:grpSpPr>
              <p:sp>
                <p:nvSpPr>
                  <p:cNvPr id="67612" name="Oval 82"/>
                  <p:cNvSpPr>
                    <a:spLocks noChangeArrowheads="1"/>
                  </p:cNvSpPr>
                  <p:nvPr/>
                </p:nvSpPr>
                <p:spPr bwMode="auto">
                  <a:xfrm>
                    <a:off x="2022" y="1788"/>
                    <a:ext cx="896" cy="248"/>
                  </a:xfrm>
                  <a:prstGeom prst="ellipse">
                    <a:avLst/>
                  </a:prstGeom>
                  <a:solidFill>
                    <a:schemeClr val="accent2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EAEAEA"/>
                      </a:solidFill>
                    </a:endParaRPr>
                  </a:p>
                </p:txBody>
              </p:sp>
              <p:sp>
                <p:nvSpPr>
                  <p:cNvPr id="67613" name="Rectangle 83"/>
                  <p:cNvSpPr>
                    <a:spLocks noChangeArrowheads="1"/>
                  </p:cNvSpPr>
                  <p:nvPr/>
                </p:nvSpPr>
                <p:spPr bwMode="auto">
                  <a:xfrm>
                    <a:off x="2150" y="1787"/>
                    <a:ext cx="639" cy="254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algn="ctr" fontAlgn="base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 dirty="0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  <a:t>Determine specifics</a:t>
                    </a:r>
                  </a:p>
                </p:txBody>
              </p:sp>
            </p:grpSp>
            <p:sp>
              <p:nvSpPr>
                <p:cNvPr id="67605" name="Oval 84"/>
                <p:cNvSpPr>
                  <a:spLocks noChangeArrowheads="1"/>
                </p:cNvSpPr>
                <p:nvPr/>
              </p:nvSpPr>
              <p:spPr bwMode="auto">
                <a:xfrm>
                  <a:off x="2386" y="3032"/>
                  <a:ext cx="168" cy="168"/>
                </a:xfrm>
                <a:prstGeom prst="ellipse">
                  <a:avLst/>
                </a:prstGeom>
                <a:solidFill>
                  <a:schemeClr val="folHlink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EAEAEA"/>
                    </a:solidFill>
                  </a:endParaRPr>
                </a:p>
              </p:txBody>
            </p:sp>
            <p:sp>
              <p:nvSpPr>
                <p:cNvPr id="67606" name="Freeform 85"/>
                <p:cNvSpPr>
                  <a:spLocks/>
                </p:cNvSpPr>
                <p:nvPr/>
              </p:nvSpPr>
              <p:spPr bwMode="auto">
                <a:xfrm>
                  <a:off x="1776" y="1904"/>
                  <a:ext cx="236" cy="68"/>
                </a:xfrm>
                <a:custGeom>
                  <a:avLst/>
                  <a:gdLst>
                    <a:gd name="T0" fmla="*/ 0 w 236"/>
                    <a:gd name="T1" fmla="*/ 68 h 68"/>
                    <a:gd name="T2" fmla="*/ 0 w 236"/>
                    <a:gd name="T3" fmla="*/ 0 h 68"/>
                    <a:gd name="T4" fmla="*/ 236 w 236"/>
                    <a:gd name="T5" fmla="*/ 0 h 68"/>
                    <a:gd name="T6" fmla="*/ 0 60000 65536"/>
                    <a:gd name="T7" fmla="*/ 0 60000 65536"/>
                    <a:gd name="T8" fmla="*/ 0 60000 65536"/>
                    <a:gd name="T9" fmla="*/ 0 w 236"/>
                    <a:gd name="T10" fmla="*/ 0 h 68"/>
                    <a:gd name="T11" fmla="*/ 236 w 236"/>
                    <a:gd name="T12" fmla="*/ 68 h 68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236" h="68">
                      <a:moveTo>
                        <a:pt x="0" y="68"/>
                      </a:moveTo>
                      <a:lnTo>
                        <a:pt x="0" y="0"/>
                      </a:lnTo>
                      <a:lnTo>
                        <a:pt x="236" y="0"/>
                      </a:lnTo>
                    </a:path>
                  </a:pathLst>
                </a:cu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1pPr>
                  <a:lvl2pPr marL="742950" indent="-28575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2pPr>
                  <a:lvl3pPr marL="11430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3pPr>
                  <a:lvl4pPr marL="16002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4pPr>
                  <a:lvl5pPr marL="2057400" indent="-228600" eaLnBrk="0" hangingPunct="0"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sz="2400">
                      <a:solidFill>
                        <a:schemeClr val="tx1"/>
                      </a:solidFill>
                      <a:latin typeface="Arial Narrow" panose="020B0606020202030204" pitchFamily="34" charset="0"/>
                    </a:defRPr>
                  </a:lvl9pPr>
                </a:lstStyle>
                <a:p>
                  <a:pPr eaLnBrk="1" fontAlgn="base" hangingPunct="1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>
                    <a:solidFill>
                      <a:srgbClr val="EAEAEA"/>
                    </a:solidFill>
                  </a:endParaRPr>
                </a:p>
              </p:txBody>
            </p:sp>
            <p:sp>
              <p:nvSpPr>
                <p:cNvPr id="62550" name="Rectangle 86"/>
                <p:cNvSpPr>
                  <a:spLocks noChangeArrowheads="1"/>
                </p:cNvSpPr>
                <p:nvPr/>
              </p:nvSpPr>
              <p:spPr bwMode="auto">
                <a:xfrm>
                  <a:off x="1658" y="1953"/>
                  <a:ext cx="244" cy="173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ffectLst/>
              </p:spPr>
              <p:txBody>
                <a:bodyPr wrap="none">
                  <a:spAutoFit/>
                </a:bodyPr>
                <a:lstStyle/>
                <a:p>
                  <a: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/>
                  </a:pPr>
                  <a:r>
                    <a:rPr lang="en-US" sz="1200" b="1" i="1">
                      <a:solidFill>
                        <a:srgbClr val="EAEAEA"/>
                      </a:solidFill>
                      <a:effectLst>
                        <a:outerShdw blurRad="38100" dist="38100" dir="2700000" algn="tl">
                          <a:srgbClr val="000000"/>
                        </a:outerShdw>
                      </a:effectLst>
                    </a:rPr>
                    <a:t>No</a:t>
                  </a:r>
                </a:p>
              </p:txBody>
            </p:sp>
            <p:sp>
              <p:nvSpPr>
                <p:cNvPr id="67608" name="Line 87"/>
                <p:cNvSpPr>
                  <a:spLocks noChangeShapeType="1"/>
                </p:cNvSpPr>
                <p:nvPr/>
              </p:nvSpPr>
              <p:spPr bwMode="auto">
                <a:xfrm>
                  <a:off x="2468" y="2800"/>
                  <a:ext cx="0" cy="24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 type="triangl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400">
                    <a:solidFill>
                      <a:srgbClr val="EAEAEA"/>
                    </a:solidFill>
                    <a:latin typeface="Arial Narrow" panose="020B0606020202030204" pitchFamily="34" charset="0"/>
                  </a:endParaRPr>
                </a:p>
              </p:txBody>
            </p:sp>
            <p:grpSp>
              <p:nvGrpSpPr>
                <p:cNvPr id="67609" name="Group 88"/>
                <p:cNvGrpSpPr>
                  <a:grpSpLocks/>
                </p:cNvGrpSpPr>
                <p:nvPr/>
              </p:nvGrpSpPr>
              <p:grpSpPr bwMode="auto">
                <a:xfrm>
                  <a:off x="2000" y="2220"/>
                  <a:ext cx="940" cy="736"/>
                  <a:chOff x="2000" y="2220"/>
                  <a:chExt cx="940" cy="736"/>
                </a:xfrm>
              </p:grpSpPr>
              <p:sp>
                <p:nvSpPr>
                  <p:cNvPr id="67610" name="AutoShape 89"/>
                  <p:cNvSpPr>
                    <a:spLocks noChangeArrowheads="1"/>
                  </p:cNvSpPr>
                  <p:nvPr/>
                </p:nvSpPr>
                <p:spPr bwMode="auto">
                  <a:xfrm>
                    <a:off x="2000" y="2220"/>
                    <a:ext cx="940" cy="736"/>
                  </a:xfrm>
                  <a:prstGeom prst="diamond">
                    <a:avLst/>
                  </a:prstGeom>
                  <a:solidFill>
                    <a:schemeClr val="bg2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eaLnBrk="1" fontAlgn="base" hangingPunct="1">
                      <a:spcBef>
                        <a:spcPct val="0"/>
                      </a:spcBef>
                      <a:spcAft>
                        <a:spcPct val="0"/>
                      </a:spcAft>
                    </a:pPr>
                    <a:endParaRPr lang="en-US">
                      <a:solidFill>
                        <a:srgbClr val="EAEAEA"/>
                      </a:solidFill>
                    </a:endParaRPr>
                  </a:p>
                </p:txBody>
              </p:sp>
              <p:sp>
                <p:nvSpPr>
                  <p:cNvPr id="67611" name="Rectangle 90"/>
                  <p:cNvSpPr>
                    <a:spLocks noChangeArrowheads="1"/>
                  </p:cNvSpPr>
                  <p:nvPr/>
                </p:nvSpPr>
                <p:spPr bwMode="auto">
                  <a:xfrm>
                    <a:off x="2054" y="2283"/>
                    <a:ext cx="831" cy="548"/>
                  </a:xfrm>
                  <a:prstGeom prst="rect">
                    <a:avLst/>
                  </a:prstGeom>
                  <a:noFill/>
                  <a:ln>
                    <a:noFill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>
                    <a:spAutoFit/>
                  </a:bodyPr>
                  <a:lstStyle>
                    <a:lvl1pPr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1pPr>
                    <a:lvl2pPr marL="742950" indent="-28575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2pPr>
                    <a:lvl3pPr marL="11430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3pPr>
                    <a:lvl4pPr marL="16002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4pPr>
                    <a:lvl5pPr marL="2057400" indent="-228600" eaLnBrk="0" hangingPunct="0"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sz="2400">
                        <a:solidFill>
                          <a:schemeClr val="tx1"/>
                        </a:solidFill>
                        <a:latin typeface="Arial Narrow" panose="020B0606020202030204" pitchFamily="34" charset="0"/>
                      </a:defRPr>
                    </a:lvl9pPr>
                  </a:lstStyle>
                  <a:p>
                    <a:pPr algn="ctr" fontAlgn="base">
                      <a:lnSpc>
                        <a:spcPct val="85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</a:pPr>
                    <a: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  <a:t>Can</a:t>
                    </a:r>
                    <a:b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</a:br>
                    <a: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  <a:t>service be</a:t>
                    </a:r>
                    <a:b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</a:br>
                    <a:r>
                      <a:rPr lang="en-US" sz="1200" b="1" i="1">
                        <a:solidFill>
                          <a:srgbClr val="EAEAEA"/>
                        </a:solidFill>
                        <a:latin typeface="Arial" panose="020B0604020202020204" pitchFamily="34" charset="0"/>
                      </a:rPr>
                      <a:t>done and does customer approve?</a:t>
                    </a:r>
                  </a:p>
                </p:txBody>
              </p:sp>
            </p:grpSp>
          </p:grpSp>
        </p:grpSp>
      </p:grpSp>
    </p:spTree>
    <p:extLst>
      <p:ext uri="{BB962C8B-B14F-4D97-AF65-F5344CB8AC3E}">
        <p14:creationId xmlns:p14="http://schemas.microsoft.com/office/powerpoint/2010/main" val="3108781582"/>
      </p:ext>
    </p:extLst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2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9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6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62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518" grpId="0" autoUpdateAnimBg="0"/>
    </p:bldLst>
  </p:timing>
</p:sld>
</file>

<file path=ppt/theme/theme1.xml><?xml version="1.0" encoding="utf-8"?>
<a:theme xmlns:a="http://schemas.openxmlformats.org/drawingml/2006/main" name="Factory">
  <a:themeElements>
    <a:clrScheme name="Factory 1">
      <a:dk1>
        <a:srgbClr val="000054"/>
      </a:dk1>
      <a:lt1>
        <a:srgbClr val="EAEAEA"/>
      </a:lt1>
      <a:dk2>
        <a:srgbClr val="00007A"/>
      </a:dk2>
      <a:lt2>
        <a:srgbClr val="EBD189"/>
      </a:lt2>
      <a:accent1>
        <a:srgbClr val="FCAB40"/>
      </a:accent1>
      <a:accent2>
        <a:srgbClr val="555BAD"/>
      </a:accent2>
      <a:accent3>
        <a:srgbClr val="AAAABE"/>
      </a:accent3>
      <a:accent4>
        <a:srgbClr val="C8C8C8"/>
      </a:accent4>
      <a:accent5>
        <a:srgbClr val="FDD2AF"/>
      </a:accent5>
      <a:accent6>
        <a:srgbClr val="4C529C"/>
      </a:accent6>
      <a:hlink>
        <a:srgbClr val="B97C01"/>
      </a:hlink>
      <a:folHlink>
        <a:srgbClr val="CCFF33"/>
      </a:folHlink>
    </a:clrScheme>
    <a:fontScheme name="Factory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 Narrow" pitchFamily="34" charset="0"/>
          </a:defRPr>
        </a:defPPr>
      </a:lstStyle>
    </a:lnDef>
  </a:objectDefaults>
  <a:extraClrSchemeLst>
    <a:extraClrScheme>
      <a:clrScheme name="Factory 1">
        <a:dk1>
          <a:srgbClr val="000054"/>
        </a:dk1>
        <a:lt1>
          <a:srgbClr val="EAEAEA"/>
        </a:lt1>
        <a:dk2>
          <a:srgbClr val="00007A"/>
        </a:dk2>
        <a:lt2>
          <a:srgbClr val="EBD189"/>
        </a:lt2>
        <a:accent1>
          <a:srgbClr val="FCAB40"/>
        </a:accent1>
        <a:accent2>
          <a:srgbClr val="555BAD"/>
        </a:accent2>
        <a:accent3>
          <a:srgbClr val="AAAABE"/>
        </a:accent3>
        <a:accent4>
          <a:srgbClr val="C8C8C8"/>
        </a:accent4>
        <a:accent5>
          <a:srgbClr val="FDD2AF"/>
        </a:accent5>
        <a:accent6>
          <a:srgbClr val="4C529C"/>
        </a:accent6>
        <a:hlink>
          <a:srgbClr val="B97C01"/>
        </a:hlink>
        <a:folHlink>
          <a:srgbClr val="CCFF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2">
        <a:dk1>
          <a:srgbClr val="000000"/>
        </a:dk1>
        <a:lt1>
          <a:srgbClr val="FFFFCC"/>
        </a:lt1>
        <a:dk2>
          <a:srgbClr val="993300"/>
        </a:dk2>
        <a:lt2>
          <a:srgbClr val="EDE1AF"/>
        </a:lt2>
        <a:accent1>
          <a:srgbClr val="CAC0E2"/>
        </a:accent1>
        <a:accent2>
          <a:srgbClr val="DFC977"/>
        </a:accent2>
        <a:accent3>
          <a:srgbClr val="FFFFE2"/>
        </a:accent3>
        <a:accent4>
          <a:srgbClr val="000000"/>
        </a:accent4>
        <a:accent5>
          <a:srgbClr val="E1DCEE"/>
        </a:accent5>
        <a:accent6>
          <a:srgbClr val="CAB66B"/>
        </a:accent6>
        <a:hlink>
          <a:srgbClr val="660033"/>
        </a:hlink>
        <a:folHlink>
          <a:srgbClr val="9933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3">
        <a:dk1>
          <a:srgbClr val="000000"/>
        </a:dk1>
        <a:lt1>
          <a:srgbClr val="FFFFFF"/>
        </a:lt1>
        <a:dk2>
          <a:srgbClr val="000000"/>
        </a:dk2>
        <a:lt2>
          <a:srgbClr val="EAEAEA"/>
        </a:lt2>
        <a:accent1>
          <a:srgbClr val="DDDDDD"/>
        </a:accent1>
        <a:accent2>
          <a:srgbClr val="B2B2B2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A1A1A1"/>
        </a:accent6>
        <a:hlink>
          <a:srgbClr val="4D4D4D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actory 4">
        <a:dk1>
          <a:srgbClr val="481800"/>
        </a:dk1>
        <a:lt1>
          <a:srgbClr val="EAEAEA"/>
        </a:lt1>
        <a:dk2>
          <a:srgbClr val="762700"/>
        </a:dk2>
        <a:lt2>
          <a:srgbClr val="EBD189"/>
        </a:lt2>
        <a:accent1>
          <a:srgbClr val="FCAB40"/>
        </a:accent1>
        <a:accent2>
          <a:srgbClr val="AD717F"/>
        </a:accent2>
        <a:accent3>
          <a:srgbClr val="BDACAA"/>
        </a:accent3>
        <a:accent4>
          <a:srgbClr val="C8C8C8"/>
        </a:accent4>
        <a:accent5>
          <a:srgbClr val="FDD2AF"/>
        </a:accent5>
        <a:accent6>
          <a:srgbClr val="9C6672"/>
        </a:accent6>
        <a:hlink>
          <a:srgbClr val="FFFF99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5">
        <a:dk1>
          <a:srgbClr val="330066"/>
        </a:dk1>
        <a:lt1>
          <a:srgbClr val="EAEAEA"/>
        </a:lt1>
        <a:dk2>
          <a:srgbClr val="4E009C"/>
        </a:dk2>
        <a:lt2>
          <a:srgbClr val="EBD189"/>
        </a:lt2>
        <a:accent1>
          <a:srgbClr val="FCAB40"/>
        </a:accent1>
        <a:accent2>
          <a:srgbClr val="8871BB"/>
        </a:accent2>
        <a:accent3>
          <a:srgbClr val="B2AACB"/>
        </a:accent3>
        <a:accent4>
          <a:srgbClr val="C8C8C8"/>
        </a:accent4>
        <a:accent5>
          <a:srgbClr val="FDD2AF"/>
        </a:accent5>
        <a:accent6>
          <a:srgbClr val="7B66A9"/>
        </a:accent6>
        <a:hlink>
          <a:srgbClr val="99CC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6">
        <a:dk1>
          <a:srgbClr val="454425"/>
        </a:dk1>
        <a:lt1>
          <a:srgbClr val="EAEAEA"/>
        </a:lt1>
        <a:dk2>
          <a:srgbClr val="4D6A2A"/>
        </a:dk2>
        <a:lt2>
          <a:srgbClr val="EBD189"/>
        </a:lt2>
        <a:accent1>
          <a:srgbClr val="FCAB40"/>
        </a:accent1>
        <a:accent2>
          <a:srgbClr val="A59E79"/>
        </a:accent2>
        <a:accent3>
          <a:srgbClr val="B2B9AC"/>
        </a:accent3>
        <a:accent4>
          <a:srgbClr val="C8C8C8"/>
        </a:accent4>
        <a:accent5>
          <a:srgbClr val="FDD2AF"/>
        </a:accent5>
        <a:accent6>
          <a:srgbClr val="958F6D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Factory 7">
        <a:dk1>
          <a:srgbClr val="3C2924"/>
        </a:dk1>
        <a:lt1>
          <a:srgbClr val="EAEAEA"/>
        </a:lt1>
        <a:dk2>
          <a:srgbClr val="0D0A46"/>
        </a:dk2>
        <a:lt2>
          <a:srgbClr val="EBD189"/>
        </a:lt2>
        <a:accent1>
          <a:srgbClr val="FCAB40"/>
        </a:accent1>
        <a:accent2>
          <a:srgbClr val="633D4E"/>
        </a:accent2>
        <a:accent3>
          <a:srgbClr val="AAAAB0"/>
        </a:accent3>
        <a:accent4>
          <a:srgbClr val="C8C8C8"/>
        </a:accent4>
        <a:accent5>
          <a:srgbClr val="FDD2AF"/>
        </a:accent5>
        <a:accent6>
          <a:srgbClr val="593646"/>
        </a:accent6>
        <a:hlink>
          <a:srgbClr val="FFCC66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Widescreen</PresentationFormat>
  <Paragraphs>32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Calibri</vt:lpstr>
      <vt:lpstr>Times New Roman</vt:lpstr>
      <vt:lpstr>Wingdings</vt:lpstr>
      <vt:lpstr>Factory</vt:lpstr>
      <vt:lpstr>Service Blueprint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user</cp:lastModifiedBy>
  <cp:revision>2</cp:revision>
  <dcterms:created xsi:type="dcterms:W3CDTF">2016-08-15T06:20:42Z</dcterms:created>
  <dcterms:modified xsi:type="dcterms:W3CDTF">2016-08-17T05:37:50Z</dcterms:modified>
</cp:coreProperties>
</file>