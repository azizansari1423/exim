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A6D2B-3B38-4C88-9541-FB414DAAA34D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51A90-9E09-4ED9-8284-7D95BDC42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4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9F1B97-292B-4B05-B038-090108BCCA40}" type="slidenum">
              <a:rPr lang="en-AU">
                <a:solidFill>
                  <a:srgbClr val="000000"/>
                </a:solidFill>
              </a:rPr>
              <a:pPr/>
              <a:t>1</a:t>
            </a:fld>
            <a:endParaRPr lang="en-AU">
              <a:solidFill>
                <a:srgbClr val="000000"/>
              </a:solidFill>
            </a:endParaRPr>
          </a:p>
        </p:txBody>
      </p:sp>
      <p:sp>
        <p:nvSpPr>
          <p:cNvPr id="4823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446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472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71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231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28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90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4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92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75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36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08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3830-2244-49AE-BC4A-47F415C177C6}" type="datetimeFigureOut">
              <a:rPr lang="en-US" smtClean="0"/>
              <a:t>8/17/2016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27A5A-7290-4DE1-BA94-4BE8A8E57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11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C633830-2244-49AE-BC4A-47F415C177C6}" type="datetimeFigureOut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AC27A5A-7290-4DE1-BA94-4BE8A8E57D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8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87" name="Group 107"/>
          <p:cNvGrpSpPr>
            <a:grpSpLocks/>
          </p:cNvGrpSpPr>
          <p:nvPr/>
        </p:nvGrpSpPr>
        <p:grpSpPr bwMode="auto">
          <a:xfrm>
            <a:off x="7245350" y="2127250"/>
            <a:ext cx="2946400" cy="4349750"/>
            <a:chOff x="3604" y="1340"/>
            <a:chExt cx="1856" cy="2740"/>
          </a:xfrm>
        </p:grpSpPr>
        <p:grpSp>
          <p:nvGrpSpPr>
            <p:cNvPr id="481372" name="Group 92"/>
            <p:cNvGrpSpPr>
              <a:grpSpLocks/>
            </p:cNvGrpSpPr>
            <p:nvPr/>
          </p:nvGrpSpPr>
          <p:grpSpPr bwMode="auto">
            <a:xfrm>
              <a:off x="3604" y="1340"/>
              <a:ext cx="1856" cy="2740"/>
              <a:chOff x="3604" y="1340"/>
              <a:chExt cx="1856" cy="2740"/>
            </a:xfrm>
          </p:grpSpPr>
          <p:sp>
            <p:nvSpPr>
              <p:cNvPr id="481343" name="Freeform 63"/>
              <p:cNvSpPr>
                <a:spLocks/>
              </p:cNvSpPr>
              <p:nvPr/>
            </p:nvSpPr>
            <p:spPr bwMode="auto">
              <a:xfrm>
                <a:off x="3952" y="1436"/>
                <a:ext cx="500" cy="628"/>
              </a:xfrm>
              <a:custGeom>
                <a:avLst/>
                <a:gdLst>
                  <a:gd name="T0" fmla="*/ 0 w 500"/>
                  <a:gd name="T1" fmla="*/ 624 h 624"/>
                  <a:gd name="T2" fmla="*/ 252 w 500"/>
                  <a:gd name="T3" fmla="*/ 624 h 624"/>
                  <a:gd name="T4" fmla="*/ 252 w 500"/>
                  <a:gd name="T5" fmla="*/ 0 h 624"/>
                  <a:gd name="T6" fmla="*/ 500 w 500"/>
                  <a:gd name="T7" fmla="*/ 0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0" h="624">
                    <a:moveTo>
                      <a:pt x="0" y="624"/>
                    </a:moveTo>
                    <a:lnTo>
                      <a:pt x="252" y="624"/>
                    </a:lnTo>
                    <a:lnTo>
                      <a:pt x="252" y="0"/>
                    </a:lnTo>
                    <a:lnTo>
                      <a:pt x="50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81357" name="Group 77"/>
              <p:cNvGrpSpPr>
                <a:grpSpLocks/>
              </p:cNvGrpSpPr>
              <p:nvPr/>
            </p:nvGrpSpPr>
            <p:grpSpPr bwMode="auto">
              <a:xfrm>
                <a:off x="3604" y="1340"/>
                <a:ext cx="1856" cy="2740"/>
                <a:chOff x="3564" y="1340"/>
                <a:chExt cx="1856" cy="2740"/>
              </a:xfrm>
            </p:grpSpPr>
            <p:sp>
              <p:nvSpPr>
                <p:cNvPr id="481345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4920" y="1876"/>
                  <a:ext cx="0" cy="8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81329" name="Group 49"/>
                <p:cNvGrpSpPr>
                  <a:grpSpLocks/>
                </p:cNvGrpSpPr>
                <p:nvPr/>
              </p:nvGrpSpPr>
              <p:grpSpPr bwMode="auto">
                <a:xfrm>
                  <a:off x="4420" y="2672"/>
                  <a:ext cx="1000" cy="392"/>
                  <a:chOff x="4420" y="2672"/>
                  <a:chExt cx="1000" cy="392"/>
                </a:xfrm>
              </p:grpSpPr>
              <p:sp>
                <p:nvSpPr>
                  <p:cNvPr id="481314" name="Oval 34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672"/>
                    <a:ext cx="1000" cy="392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b="1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1297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555" y="2683"/>
                    <a:ext cx="730" cy="3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 eaLnBrk="0" fontAlgn="base" hangingPunct="0">
                      <a:lnSpc>
                        <a:spcPct val="8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1" i="1">
                        <a:solidFill>
                          <a:srgbClr val="000000"/>
                        </a:solidFill>
                      </a:rPr>
                      <a:t>Notify customer the car is ready</a:t>
                    </a:r>
                  </a:p>
                </p:txBody>
              </p:sp>
            </p:grpSp>
            <p:sp>
              <p:nvSpPr>
                <p:cNvPr id="481306" name="Oval 26"/>
                <p:cNvSpPr>
                  <a:spLocks noChangeArrowheads="1"/>
                </p:cNvSpPr>
                <p:nvPr/>
              </p:nvSpPr>
              <p:spPr bwMode="auto">
                <a:xfrm>
                  <a:off x="4836" y="2064"/>
                  <a:ext cx="168" cy="168"/>
                </a:xfrm>
                <a:prstGeom prst="ellipse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307" name="Oval 27"/>
                <p:cNvSpPr>
                  <a:spLocks noChangeArrowheads="1"/>
                </p:cNvSpPr>
                <p:nvPr/>
              </p:nvSpPr>
              <p:spPr bwMode="auto">
                <a:xfrm>
                  <a:off x="4836" y="2316"/>
                  <a:ext cx="168" cy="168"/>
                </a:xfrm>
                <a:prstGeom prst="ellipse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344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4920" y="1536"/>
                  <a:ext cx="0" cy="1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81327" name="Group 47"/>
                <p:cNvGrpSpPr>
                  <a:grpSpLocks/>
                </p:cNvGrpSpPr>
                <p:nvPr/>
              </p:nvGrpSpPr>
              <p:grpSpPr bwMode="auto">
                <a:xfrm>
                  <a:off x="4420" y="1340"/>
                  <a:ext cx="1000" cy="196"/>
                  <a:chOff x="4420" y="1340"/>
                  <a:chExt cx="1000" cy="196"/>
                </a:xfrm>
              </p:grpSpPr>
              <p:sp>
                <p:nvSpPr>
                  <p:cNvPr id="481315" name="Oval 35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1340"/>
                    <a:ext cx="1000" cy="196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b="1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129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4452" y="1355"/>
                    <a:ext cx="936" cy="15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 eaLnBrk="0" fontAlgn="base" hangingPunct="0">
                      <a:lnSpc>
                        <a:spcPct val="8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1" i="1">
                        <a:solidFill>
                          <a:srgbClr val="000000"/>
                        </a:solidFill>
                      </a:rPr>
                      <a:t>Customer departs</a:t>
                    </a:r>
                  </a:p>
                </p:txBody>
              </p:sp>
            </p:grpSp>
            <p:grpSp>
              <p:nvGrpSpPr>
                <p:cNvPr id="481328" name="Group 48"/>
                <p:cNvGrpSpPr>
                  <a:grpSpLocks/>
                </p:cNvGrpSpPr>
                <p:nvPr/>
              </p:nvGrpSpPr>
              <p:grpSpPr bwMode="auto">
                <a:xfrm>
                  <a:off x="4420" y="1664"/>
                  <a:ext cx="1000" cy="212"/>
                  <a:chOff x="4420" y="1616"/>
                  <a:chExt cx="1000" cy="212"/>
                </a:xfrm>
              </p:grpSpPr>
              <p:sp>
                <p:nvSpPr>
                  <p:cNvPr id="481316" name="Oval 36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1616"/>
                    <a:ext cx="1000" cy="212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b="1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1296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4432" y="1643"/>
                    <a:ext cx="975" cy="15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 eaLnBrk="0" fontAlgn="base" hangingPunct="0">
                      <a:lnSpc>
                        <a:spcPct val="8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1" i="1">
                        <a:solidFill>
                          <a:srgbClr val="000000"/>
                        </a:solidFill>
                      </a:rPr>
                      <a:t>Customer pays bill</a:t>
                    </a:r>
                  </a:p>
                </p:txBody>
              </p:sp>
            </p:grpSp>
            <p:sp>
              <p:nvSpPr>
                <p:cNvPr id="481346" name="Freeform 66"/>
                <p:cNvSpPr>
                  <a:spLocks/>
                </p:cNvSpPr>
                <p:nvPr/>
              </p:nvSpPr>
              <p:spPr bwMode="auto">
                <a:xfrm>
                  <a:off x="3564" y="3072"/>
                  <a:ext cx="1352" cy="1008"/>
                </a:xfrm>
                <a:custGeom>
                  <a:avLst/>
                  <a:gdLst>
                    <a:gd name="T0" fmla="*/ 0 w 1352"/>
                    <a:gd name="T1" fmla="*/ 1008 h 1008"/>
                    <a:gd name="T2" fmla="*/ 1352 w 1352"/>
                    <a:gd name="T3" fmla="*/ 1008 h 1008"/>
                    <a:gd name="T4" fmla="*/ 1352 w 1352"/>
                    <a:gd name="T5" fmla="*/ 0 h 10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52" h="1008">
                      <a:moveTo>
                        <a:pt x="0" y="1008"/>
                      </a:moveTo>
                      <a:lnTo>
                        <a:pt x="1352" y="1008"/>
                      </a:lnTo>
                      <a:lnTo>
                        <a:pt x="1352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481381" name="Text Box 101"/>
            <p:cNvSpPr txBox="1">
              <a:spLocks noChangeArrowheads="1"/>
            </p:cNvSpPr>
            <p:nvPr/>
          </p:nvSpPr>
          <p:spPr bwMode="auto">
            <a:xfrm>
              <a:off x="4863" y="2306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481382" name="Text Box 102"/>
            <p:cNvSpPr txBox="1">
              <a:spLocks noChangeArrowheads="1"/>
            </p:cNvSpPr>
            <p:nvPr/>
          </p:nvSpPr>
          <p:spPr bwMode="auto">
            <a:xfrm>
              <a:off x="4863" y="2055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863600"/>
          </a:xfrm>
          <a:solidFill>
            <a:srgbClr val="2FFF74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Service 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Flowchart</a:t>
            </a:r>
            <a:endParaRPr lang="en-US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481370" name="Group 90"/>
          <p:cNvGrpSpPr>
            <a:grpSpLocks/>
          </p:cNvGrpSpPr>
          <p:nvPr/>
        </p:nvGrpSpPr>
        <p:grpSpPr bwMode="auto">
          <a:xfrm>
            <a:off x="2322513" y="1649413"/>
            <a:ext cx="7656512" cy="304800"/>
            <a:chOff x="503" y="1039"/>
            <a:chExt cx="4823" cy="192"/>
          </a:xfrm>
        </p:grpSpPr>
        <p:sp>
          <p:nvSpPr>
            <p:cNvPr id="481284" name="Rectangle 4"/>
            <p:cNvSpPr>
              <a:spLocks noChangeArrowheads="1"/>
            </p:cNvSpPr>
            <p:nvPr/>
          </p:nvSpPr>
          <p:spPr bwMode="auto">
            <a:xfrm>
              <a:off x="503" y="1039"/>
              <a:ext cx="1078" cy="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Personal Greeting</a:t>
              </a:r>
            </a:p>
          </p:txBody>
        </p:sp>
        <p:sp>
          <p:nvSpPr>
            <p:cNvPr id="481285" name="Rectangle 5"/>
            <p:cNvSpPr>
              <a:spLocks noChangeArrowheads="1"/>
            </p:cNvSpPr>
            <p:nvPr/>
          </p:nvSpPr>
          <p:spPr bwMode="auto">
            <a:xfrm>
              <a:off x="1751" y="1039"/>
              <a:ext cx="1078" cy="192"/>
            </a:xfrm>
            <a:prstGeom prst="rect">
              <a:avLst/>
            </a:prstGeom>
            <a:solidFill>
              <a:srgbClr val="2FFF7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 dirty="0">
                  <a:solidFill>
                    <a:srgbClr val="000000"/>
                  </a:solidFill>
                </a:rPr>
                <a:t>Service Diagnosis</a:t>
              </a:r>
            </a:p>
          </p:txBody>
        </p:sp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3000" y="1039"/>
              <a:ext cx="1079" cy="19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 dirty="0">
                  <a:solidFill>
                    <a:srgbClr val="F7FBFF"/>
                  </a:solidFill>
                </a:rPr>
                <a:t>Perform Service</a:t>
              </a:r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4246" y="1039"/>
              <a:ext cx="1080" cy="19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Friendly Close</a:t>
              </a:r>
            </a:p>
          </p:txBody>
        </p:sp>
      </p:grpSp>
      <p:sp>
        <p:nvSpPr>
          <p:cNvPr id="481360" name="Rectangle 80"/>
          <p:cNvSpPr>
            <a:spLocks noChangeArrowheads="1"/>
          </p:cNvSpPr>
          <p:nvPr/>
        </p:nvSpPr>
        <p:spPr bwMode="auto">
          <a:xfrm>
            <a:off x="1699333" y="5307014"/>
            <a:ext cx="641522" cy="45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Level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#3</a:t>
            </a:r>
          </a:p>
        </p:txBody>
      </p:sp>
      <p:grpSp>
        <p:nvGrpSpPr>
          <p:cNvPr id="481363" name="Group 83"/>
          <p:cNvGrpSpPr>
            <a:grpSpLocks/>
          </p:cNvGrpSpPr>
          <p:nvPr/>
        </p:nvGrpSpPr>
        <p:grpSpPr bwMode="auto">
          <a:xfrm>
            <a:off x="1701800" y="1990726"/>
            <a:ext cx="8483600" cy="498475"/>
            <a:chOff x="112" y="1254"/>
            <a:chExt cx="5344" cy="314"/>
          </a:xfrm>
        </p:grpSpPr>
        <p:sp>
          <p:nvSpPr>
            <p:cNvPr id="481358" name="Rectangle 78"/>
            <p:cNvSpPr>
              <a:spLocks noChangeArrowheads="1"/>
            </p:cNvSpPr>
            <p:nvPr/>
          </p:nvSpPr>
          <p:spPr bwMode="auto">
            <a:xfrm>
              <a:off x="112" y="1254"/>
              <a:ext cx="46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Level</a:t>
              </a:r>
            </a:p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#1</a:t>
              </a:r>
            </a:p>
          </p:txBody>
        </p:sp>
        <p:sp>
          <p:nvSpPr>
            <p:cNvPr id="481361" name="Line 81"/>
            <p:cNvSpPr>
              <a:spLocks noChangeShapeType="1"/>
            </p:cNvSpPr>
            <p:nvPr/>
          </p:nvSpPr>
          <p:spPr bwMode="auto">
            <a:xfrm>
              <a:off x="144" y="1568"/>
              <a:ext cx="531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 i="1">
                <a:solidFill>
                  <a:srgbClr val="000000"/>
                </a:solidFill>
              </a:endParaRPr>
            </a:p>
          </p:txBody>
        </p:sp>
      </p:grpSp>
      <p:grpSp>
        <p:nvGrpSpPr>
          <p:cNvPr id="481364" name="Group 84"/>
          <p:cNvGrpSpPr>
            <a:grpSpLocks/>
          </p:cNvGrpSpPr>
          <p:nvPr/>
        </p:nvGrpSpPr>
        <p:grpSpPr bwMode="auto">
          <a:xfrm>
            <a:off x="1701800" y="3683000"/>
            <a:ext cx="8483600" cy="1422400"/>
            <a:chOff x="112" y="2320"/>
            <a:chExt cx="5344" cy="896"/>
          </a:xfrm>
        </p:grpSpPr>
        <p:sp>
          <p:nvSpPr>
            <p:cNvPr id="481359" name="Rectangle 79"/>
            <p:cNvSpPr>
              <a:spLocks noChangeArrowheads="1"/>
            </p:cNvSpPr>
            <p:nvPr/>
          </p:nvSpPr>
          <p:spPr bwMode="auto">
            <a:xfrm>
              <a:off x="112" y="2320"/>
              <a:ext cx="45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Level</a:t>
              </a:r>
            </a:p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#2</a:t>
              </a:r>
            </a:p>
          </p:txBody>
        </p:sp>
        <p:sp>
          <p:nvSpPr>
            <p:cNvPr id="481362" name="Line 82"/>
            <p:cNvSpPr>
              <a:spLocks noChangeShapeType="1"/>
            </p:cNvSpPr>
            <p:nvPr/>
          </p:nvSpPr>
          <p:spPr bwMode="auto">
            <a:xfrm>
              <a:off x="144" y="3216"/>
              <a:ext cx="531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 i="1">
                <a:solidFill>
                  <a:srgbClr val="000000"/>
                </a:solidFill>
              </a:endParaRPr>
            </a:p>
          </p:txBody>
        </p:sp>
      </p:grpSp>
      <p:sp>
        <p:nvSpPr>
          <p:cNvPr id="481369" name="Rectangle 89"/>
          <p:cNvSpPr>
            <a:spLocks noChangeArrowheads="1"/>
          </p:cNvSpPr>
          <p:nvPr/>
        </p:nvSpPr>
        <p:spPr bwMode="auto">
          <a:xfrm>
            <a:off x="1787525" y="6207125"/>
            <a:ext cx="1257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Figure 7.10</a:t>
            </a:r>
          </a:p>
        </p:txBody>
      </p:sp>
      <p:grpSp>
        <p:nvGrpSpPr>
          <p:cNvPr id="481356" name="Group 76"/>
          <p:cNvGrpSpPr>
            <a:grpSpLocks/>
          </p:cNvGrpSpPr>
          <p:nvPr/>
        </p:nvGrpSpPr>
        <p:grpSpPr bwMode="auto">
          <a:xfrm>
            <a:off x="6159501" y="2754313"/>
            <a:ext cx="1763713" cy="1484312"/>
            <a:chOff x="2880" y="1735"/>
            <a:chExt cx="1111" cy="935"/>
          </a:xfrm>
        </p:grpSpPr>
        <p:sp>
          <p:nvSpPr>
            <p:cNvPr id="481341" name="Line 61"/>
            <p:cNvSpPr>
              <a:spLocks noChangeShapeType="1"/>
            </p:cNvSpPr>
            <p:nvPr/>
          </p:nvSpPr>
          <p:spPr bwMode="auto">
            <a:xfrm>
              <a:off x="2880" y="2588"/>
              <a:ext cx="2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 i="1">
                <a:solidFill>
                  <a:srgbClr val="000000"/>
                </a:solidFill>
              </a:endParaRPr>
            </a:p>
          </p:txBody>
        </p:sp>
        <p:sp>
          <p:nvSpPr>
            <p:cNvPr id="481338" name="Rectangle 58"/>
            <p:cNvSpPr>
              <a:spLocks noChangeArrowheads="1"/>
            </p:cNvSpPr>
            <p:nvPr/>
          </p:nvSpPr>
          <p:spPr bwMode="auto">
            <a:xfrm>
              <a:off x="3066" y="2497"/>
              <a:ext cx="24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i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No</a:t>
              </a:r>
            </a:p>
          </p:txBody>
        </p:sp>
        <p:sp>
          <p:nvSpPr>
            <p:cNvPr id="481342" name="Freeform 62"/>
            <p:cNvSpPr>
              <a:spLocks/>
            </p:cNvSpPr>
            <p:nvPr/>
          </p:nvSpPr>
          <p:spPr bwMode="auto">
            <a:xfrm>
              <a:off x="3288" y="2392"/>
              <a:ext cx="216" cy="196"/>
            </a:xfrm>
            <a:custGeom>
              <a:avLst/>
              <a:gdLst>
                <a:gd name="T0" fmla="*/ 0 w 216"/>
                <a:gd name="T1" fmla="*/ 196 h 196"/>
                <a:gd name="T2" fmla="*/ 216 w 216"/>
                <a:gd name="T3" fmla="*/ 196 h 196"/>
                <a:gd name="T4" fmla="*/ 216 w 216"/>
                <a:gd name="T5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" h="196">
                  <a:moveTo>
                    <a:pt x="0" y="196"/>
                  </a:moveTo>
                  <a:lnTo>
                    <a:pt x="216" y="196"/>
                  </a:lnTo>
                  <a:lnTo>
                    <a:pt x="21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 i="1">
                <a:solidFill>
                  <a:srgbClr val="000000"/>
                </a:solidFill>
              </a:endParaRPr>
            </a:p>
          </p:txBody>
        </p:sp>
        <p:grpSp>
          <p:nvGrpSpPr>
            <p:cNvPr id="481326" name="Group 46"/>
            <p:cNvGrpSpPr>
              <a:grpSpLocks/>
            </p:cNvGrpSpPr>
            <p:nvPr/>
          </p:nvGrpSpPr>
          <p:grpSpPr bwMode="auto">
            <a:xfrm>
              <a:off x="3016" y="1735"/>
              <a:ext cx="975" cy="657"/>
              <a:chOff x="3016" y="1735"/>
              <a:chExt cx="975" cy="657"/>
            </a:xfrm>
          </p:grpSpPr>
          <p:sp>
            <p:nvSpPr>
              <p:cNvPr id="481309" name="Oval 29"/>
              <p:cNvSpPr>
                <a:spLocks noChangeArrowheads="1"/>
              </p:cNvSpPr>
              <p:nvPr/>
            </p:nvSpPr>
            <p:spPr bwMode="auto">
              <a:xfrm>
                <a:off x="3068" y="1744"/>
                <a:ext cx="872" cy="6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1294" name="Rectangle 14"/>
              <p:cNvSpPr>
                <a:spLocks noChangeArrowheads="1"/>
              </p:cNvSpPr>
              <p:nvPr/>
            </p:nvSpPr>
            <p:spPr bwMode="auto">
              <a:xfrm>
                <a:off x="3016" y="1735"/>
                <a:ext cx="975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 dirty="0">
                    <a:solidFill>
                      <a:srgbClr val="000000"/>
                    </a:solidFill>
                  </a:rPr>
                  <a:t>Notify</a:t>
                </a:r>
                <a:br>
                  <a:rPr lang="en-US" sz="1200" b="1" i="1" dirty="0">
                    <a:solidFill>
                      <a:srgbClr val="000000"/>
                    </a:solidFill>
                  </a:rPr>
                </a:br>
                <a:r>
                  <a:rPr lang="en-US" sz="1200" b="1" i="1" dirty="0">
                    <a:solidFill>
                      <a:srgbClr val="000000"/>
                    </a:solidFill>
                  </a:rPr>
                  <a:t>customer</a:t>
                </a:r>
                <a:br>
                  <a:rPr lang="en-US" sz="1200" b="1" i="1" dirty="0">
                    <a:solidFill>
                      <a:srgbClr val="000000"/>
                    </a:solidFill>
                  </a:rPr>
                </a:br>
                <a:r>
                  <a:rPr lang="en-US" sz="1200" b="1" i="1" dirty="0">
                    <a:solidFill>
                      <a:srgbClr val="000000"/>
                    </a:solidFill>
                  </a:rPr>
                  <a:t>and recommend</a:t>
                </a:r>
                <a:br>
                  <a:rPr lang="en-US" sz="1200" b="1" i="1" dirty="0">
                    <a:solidFill>
                      <a:srgbClr val="000000"/>
                    </a:solidFill>
                  </a:rPr>
                </a:br>
                <a:r>
                  <a:rPr lang="en-US" sz="1200" b="1" i="1" dirty="0">
                    <a:solidFill>
                      <a:srgbClr val="000000"/>
                    </a:solidFill>
                  </a:rPr>
                  <a:t>an alternative</a:t>
                </a:r>
                <a:br>
                  <a:rPr lang="en-US" sz="1200" b="1" i="1" dirty="0">
                    <a:solidFill>
                      <a:srgbClr val="000000"/>
                    </a:solidFill>
                  </a:rPr>
                </a:br>
                <a:r>
                  <a:rPr lang="en-US" sz="1200" b="1" i="1" dirty="0">
                    <a:solidFill>
                      <a:srgbClr val="000000"/>
                    </a:solidFill>
                  </a:rPr>
                  <a:t>provider</a:t>
                </a:r>
              </a:p>
            </p:txBody>
          </p:sp>
        </p:grpSp>
      </p:grpSp>
      <p:grpSp>
        <p:nvGrpSpPr>
          <p:cNvPr id="481383" name="Group 103"/>
          <p:cNvGrpSpPr>
            <a:grpSpLocks/>
          </p:cNvGrpSpPr>
          <p:nvPr/>
        </p:nvGrpSpPr>
        <p:grpSpPr bwMode="auto">
          <a:xfrm>
            <a:off x="2384425" y="2020888"/>
            <a:ext cx="1589088" cy="1687512"/>
            <a:chOff x="542" y="1273"/>
            <a:chExt cx="1001" cy="1063"/>
          </a:xfrm>
        </p:grpSpPr>
        <p:grpSp>
          <p:nvGrpSpPr>
            <p:cNvPr id="481352" name="Group 72"/>
            <p:cNvGrpSpPr>
              <a:grpSpLocks/>
            </p:cNvGrpSpPr>
            <p:nvPr/>
          </p:nvGrpSpPr>
          <p:grpSpPr bwMode="auto">
            <a:xfrm>
              <a:off x="542" y="1273"/>
              <a:ext cx="1001" cy="1063"/>
              <a:chOff x="502" y="1273"/>
              <a:chExt cx="1001" cy="1063"/>
            </a:xfrm>
          </p:grpSpPr>
          <p:sp>
            <p:nvSpPr>
              <p:cNvPr id="481332" name="Freeform 52"/>
              <p:cNvSpPr>
                <a:spLocks/>
              </p:cNvSpPr>
              <p:nvPr/>
            </p:nvSpPr>
            <p:spPr bwMode="auto">
              <a:xfrm>
                <a:off x="1000" y="1464"/>
                <a:ext cx="408" cy="872"/>
              </a:xfrm>
              <a:custGeom>
                <a:avLst/>
                <a:gdLst>
                  <a:gd name="T0" fmla="*/ 0 w 408"/>
                  <a:gd name="T1" fmla="*/ 0 h 872"/>
                  <a:gd name="T2" fmla="*/ 0 w 408"/>
                  <a:gd name="T3" fmla="*/ 872 h 872"/>
                  <a:gd name="T4" fmla="*/ 408 w 408"/>
                  <a:gd name="T5" fmla="*/ 872 h 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8" h="872">
                    <a:moveTo>
                      <a:pt x="0" y="0"/>
                    </a:moveTo>
                    <a:lnTo>
                      <a:pt x="0" y="872"/>
                    </a:lnTo>
                    <a:lnTo>
                      <a:pt x="408" y="872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81320" name="Group 40"/>
              <p:cNvGrpSpPr>
                <a:grpSpLocks/>
              </p:cNvGrpSpPr>
              <p:nvPr/>
            </p:nvGrpSpPr>
            <p:grpSpPr bwMode="auto">
              <a:xfrm>
                <a:off x="502" y="1273"/>
                <a:ext cx="1000" cy="264"/>
                <a:chOff x="502" y="1273"/>
                <a:chExt cx="1000" cy="264"/>
              </a:xfrm>
            </p:grpSpPr>
            <p:sp>
              <p:nvSpPr>
                <p:cNvPr id="481308" name="Oval 28"/>
                <p:cNvSpPr>
                  <a:spLocks noChangeArrowheads="1"/>
                </p:cNvSpPr>
                <p:nvPr/>
              </p:nvSpPr>
              <p:spPr bwMode="auto">
                <a:xfrm>
                  <a:off x="502" y="1273"/>
                  <a:ext cx="1000" cy="248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288" name="Rectangle 8"/>
                <p:cNvSpPr>
                  <a:spLocks noChangeArrowheads="1"/>
                </p:cNvSpPr>
                <p:nvPr/>
              </p:nvSpPr>
              <p:spPr bwMode="auto">
                <a:xfrm>
                  <a:off x="541" y="1283"/>
                  <a:ext cx="922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000000"/>
                      </a:solidFill>
                    </a:rPr>
                    <a:t>Customer arrives for service</a:t>
                  </a:r>
                </a:p>
              </p:txBody>
            </p:sp>
          </p:grpSp>
          <p:grpSp>
            <p:nvGrpSpPr>
              <p:cNvPr id="481321" name="Group 41"/>
              <p:cNvGrpSpPr>
                <a:grpSpLocks/>
              </p:cNvGrpSpPr>
              <p:nvPr/>
            </p:nvGrpSpPr>
            <p:grpSpPr bwMode="auto">
              <a:xfrm>
                <a:off x="503" y="1849"/>
                <a:ext cx="1000" cy="405"/>
                <a:chOff x="503" y="1849"/>
                <a:chExt cx="1000" cy="405"/>
              </a:xfrm>
            </p:grpSpPr>
            <p:sp>
              <p:nvSpPr>
                <p:cNvPr id="481310" name="Oval 30"/>
                <p:cNvSpPr>
                  <a:spLocks noChangeArrowheads="1"/>
                </p:cNvSpPr>
                <p:nvPr/>
              </p:nvSpPr>
              <p:spPr bwMode="auto">
                <a:xfrm>
                  <a:off x="503" y="1849"/>
                  <a:ext cx="1000" cy="405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289" name="Rectangle 9"/>
                <p:cNvSpPr>
                  <a:spLocks noChangeArrowheads="1"/>
                </p:cNvSpPr>
                <p:nvPr/>
              </p:nvSpPr>
              <p:spPr bwMode="auto">
                <a:xfrm>
                  <a:off x="567" y="1881"/>
                  <a:ext cx="871" cy="3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000000"/>
                      </a:solidFill>
                    </a:rPr>
                    <a:t>Warm greeting and obtain service request</a:t>
                  </a:r>
                </a:p>
              </p:txBody>
            </p:sp>
          </p:grpSp>
          <p:sp>
            <p:nvSpPr>
              <p:cNvPr id="481300" name="Oval 20"/>
              <p:cNvSpPr>
                <a:spLocks noChangeArrowheads="1"/>
              </p:cNvSpPr>
              <p:nvPr/>
            </p:nvSpPr>
            <p:spPr bwMode="auto">
              <a:xfrm>
                <a:off x="918" y="1599"/>
                <a:ext cx="168" cy="16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1375" name="Text Box 95"/>
            <p:cNvSpPr txBox="1">
              <a:spLocks noChangeArrowheads="1"/>
            </p:cNvSpPr>
            <p:nvPr/>
          </p:nvSpPr>
          <p:spPr bwMode="auto">
            <a:xfrm>
              <a:off x="948" y="1581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481386" name="Group 106"/>
          <p:cNvGrpSpPr>
            <a:grpSpLocks/>
          </p:cNvGrpSpPr>
          <p:nvPr/>
        </p:nvGrpSpPr>
        <p:grpSpPr bwMode="auto">
          <a:xfrm>
            <a:off x="2384426" y="4095750"/>
            <a:ext cx="1870075" cy="1079500"/>
            <a:chOff x="542" y="2580"/>
            <a:chExt cx="1178" cy="680"/>
          </a:xfrm>
        </p:grpSpPr>
        <p:grpSp>
          <p:nvGrpSpPr>
            <p:cNvPr id="481374" name="Group 94"/>
            <p:cNvGrpSpPr>
              <a:grpSpLocks/>
            </p:cNvGrpSpPr>
            <p:nvPr/>
          </p:nvGrpSpPr>
          <p:grpSpPr bwMode="auto">
            <a:xfrm>
              <a:off x="542" y="2580"/>
              <a:ext cx="1178" cy="680"/>
              <a:chOff x="542" y="2580"/>
              <a:chExt cx="1178" cy="680"/>
            </a:xfrm>
          </p:grpSpPr>
          <p:sp>
            <p:nvSpPr>
              <p:cNvPr id="481349" name="Freeform 69"/>
              <p:cNvSpPr>
                <a:spLocks/>
              </p:cNvSpPr>
              <p:nvPr/>
            </p:nvSpPr>
            <p:spPr bwMode="auto">
              <a:xfrm>
                <a:off x="1040" y="2856"/>
                <a:ext cx="680" cy="404"/>
              </a:xfrm>
              <a:custGeom>
                <a:avLst/>
                <a:gdLst>
                  <a:gd name="T0" fmla="*/ 720 w 720"/>
                  <a:gd name="T1" fmla="*/ 260 h 260"/>
                  <a:gd name="T2" fmla="*/ 0 w 720"/>
                  <a:gd name="T3" fmla="*/ 260 h 260"/>
                  <a:gd name="T4" fmla="*/ 0 w 720"/>
                  <a:gd name="T5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0" h="260">
                    <a:moveTo>
                      <a:pt x="720" y="260"/>
                    </a:moveTo>
                    <a:lnTo>
                      <a:pt x="0" y="26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81322" name="Group 42"/>
              <p:cNvGrpSpPr>
                <a:grpSpLocks/>
              </p:cNvGrpSpPr>
              <p:nvPr/>
            </p:nvGrpSpPr>
            <p:grpSpPr bwMode="auto">
              <a:xfrm>
                <a:off x="542" y="2580"/>
                <a:ext cx="1000" cy="277"/>
                <a:chOff x="502" y="2580"/>
                <a:chExt cx="1000" cy="277"/>
              </a:xfrm>
            </p:grpSpPr>
            <p:sp>
              <p:nvSpPr>
                <p:cNvPr id="481311" name="Oval 31"/>
                <p:cNvSpPr>
                  <a:spLocks noChangeArrowheads="1"/>
                </p:cNvSpPr>
                <p:nvPr/>
              </p:nvSpPr>
              <p:spPr bwMode="auto">
                <a:xfrm>
                  <a:off x="502" y="2580"/>
                  <a:ext cx="1000" cy="27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293" name="Rectangle 13"/>
                <p:cNvSpPr>
                  <a:spLocks noChangeArrowheads="1"/>
                </p:cNvSpPr>
                <p:nvPr/>
              </p:nvSpPr>
              <p:spPr bwMode="auto">
                <a:xfrm>
                  <a:off x="568" y="2595"/>
                  <a:ext cx="868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000000"/>
                      </a:solidFill>
                    </a:rPr>
                    <a:t>Direct customer to waiting room</a:t>
                  </a:r>
                </a:p>
              </p:txBody>
            </p:sp>
          </p:grpSp>
          <p:sp>
            <p:nvSpPr>
              <p:cNvPr id="481303" name="Oval 23"/>
              <p:cNvSpPr>
                <a:spLocks noChangeArrowheads="1"/>
              </p:cNvSpPr>
              <p:nvPr/>
            </p:nvSpPr>
            <p:spPr bwMode="auto">
              <a:xfrm>
                <a:off x="958" y="3032"/>
                <a:ext cx="168" cy="16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1377" name="Text Box 97"/>
            <p:cNvSpPr txBox="1">
              <a:spLocks noChangeArrowheads="1"/>
            </p:cNvSpPr>
            <p:nvPr/>
          </p:nvSpPr>
          <p:spPr bwMode="auto">
            <a:xfrm>
              <a:off x="945" y="3015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481385" name="Group 105"/>
          <p:cNvGrpSpPr>
            <a:grpSpLocks/>
          </p:cNvGrpSpPr>
          <p:nvPr/>
        </p:nvGrpSpPr>
        <p:grpSpPr bwMode="auto">
          <a:xfrm>
            <a:off x="4194176" y="5024439"/>
            <a:ext cx="3749675" cy="1601787"/>
            <a:chOff x="1682" y="3165"/>
            <a:chExt cx="2362" cy="1009"/>
          </a:xfrm>
        </p:grpSpPr>
        <p:grpSp>
          <p:nvGrpSpPr>
            <p:cNvPr id="481366" name="Group 86"/>
            <p:cNvGrpSpPr>
              <a:grpSpLocks/>
            </p:cNvGrpSpPr>
            <p:nvPr/>
          </p:nvGrpSpPr>
          <p:grpSpPr bwMode="auto">
            <a:xfrm>
              <a:off x="1682" y="3165"/>
              <a:ext cx="2362" cy="995"/>
              <a:chOff x="1682" y="3165"/>
              <a:chExt cx="2362" cy="995"/>
            </a:xfrm>
          </p:grpSpPr>
          <p:sp>
            <p:nvSpPr>
              <p:cNvPr id="481347" name="Line 67"/>
              <p:cNvSpPr>
                <a:spLocks noChangeShapeType="1"/>
              </p:cNvSpPr>
              <p:nvPr/>
            </p:nvSpPr>
            <p:spPr bwMode="auto">
              <a:xfrm>
                <a:off x="3544" y="3460"/>
                <a:ext cx="0" cy="5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81330" name="Group 50"/>
              <p:cNvGrpSpPr>
                <a:grpSpLocks/>
              </p:cNvGrpSpPr>
              <p:nvPr/>
            </p:nvGrpSpPr>
            <p:grpSpPr bwMode="auto">
              <a:xfrm>
                <a:off x="3044" y="3243"/>
                <a:ext cx="1000" cy="265"/>
                <a:chOff x="3004" y="3155"/>
                <a:chExt cx="1000" cy="265"/>
              </a:xfrm>
            </p:grpSpPr>
            <p:sp>
              <p:nvSpPr>
                <p:cNvPr id="481313" name="Oval 33"/>
                <p:cNvSpPr>
                  <a:spLocks noChangeArrowheads="1"/>
                </p:cNvSpPr>
                <p:nvPr/>
              </p:nvSpPr>
              <p:spPr bwMode="auto">
                <a:xfrm>
                  <a:off x="3004" y="3156"/>
                  <a:ext cx="1000" cy="264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298" name="Rectangle 18"/>
                <p:cNvSpPr>
                  <a:spLocks noChangeArrowheads="1"/>
                </p:cNvSpPr>
                <p:nvPr/>
              </p:nvSpPr>
              <p:spPr bwMode="auto">
                <a:xfrm>
                  <a:off x="3095" y="3155"/>
                  <a:ext cx="818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000000"/>
                      </a:solidFill>
                    </a:rPr>
                    <a:t>Perform required work</a:t>
                  </a:r>
                </a:p>
              </p:txBody>
            </p:sp>
          </p:grpSp>
          <p:grpSp>
            <p:nvGrpSpPr>
              <p:cNvPr id="481331" name="Group 51"/>
              <p:cNvGrpSpPr>
                <a:grpSpLocks/>
              </p:cNvGrpSpPr>
              <p:nvPr/>
            </p:nvGrpSpPr>
            <p:grpSpPr bwMode="auto">
              <a:xfrm>
                <a:off x="3044" y="3720"/>
                <a:ext cx="1000" cy="248"/>
                <a:chOff x="3004" y="3632"/>
                <a:chExt cx="1000" cy="248"/>
              </a:xfrm>
            </p:grpSpPr>
            <p:sp>
              <p:nvSpPr>
                <p:cNvPr id="481317" name="Oval 37"/>
                <p:cNvSpPr>
                  <a:spLocks noChangeArrowheads="1"/>
                </p:cNvSpPr>
                <p:nvPr/>
              </p:nvSpPr>
              <p:spPr bwMode="auto">
                <a:xfrm>
                  <a:off x="3004" y="3632"/>
                  <a:ext cx="1000" cy="248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1299" name="Rectangle 19"/>
                <p:cNvSpPr>
                  <a:spLocks noChangeArrowheads="1"/>
                </p:cNvSpPr>
                <p:nvPr/>
              </p:nvSpPr>
              <p:spPr bwMode="auto">
                <a:xfrm>
                  <a:off x="3088" y="3675"/>
                  <a:ext cx="830" cy="1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000000"/>
                      </a:solidFill>
                    </a:rPr>
                    <a:t>Prepare invoice</a:t>
                  </a:r>
                </a:p>
              </p:txBody>
            </p:sp>
          </p:grpSp>
          <p:sp>
            <p:nvSpPr>
              <p:cNvPr id="481302" name="Oval 22"/>
              <p:cNvSpPr>
                <a:spLocks noChangeArrowheads="1"/>
              </p:cNvSpPr>
              <p:nvPr/>
            </p:nvSpPr>
            <p:spPr bwMode="auto">
              <a:xfrm>
                <a:off x="3460" y="3528"/>
                <a:ext cx="168" cy="16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1339" name="Rectangle 59"/>
              <p:cNvSpPr>
                <a:spLocks noChangeArrowheads="1"/>
              </p:cNvSpPr>
              <p:nvPr/>
            </p:nvSpPr>
            <p:spPr bwMode="auto">
              <a:xfrm>
                <a:off x="2370" y="3165"/>
                <a:ext cx="286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Yes</a:t>
                </a:r>
              </a:p>
            </p:txBody>
          </p:sp>
          <p:sp>
            <p:nvSpPr>
              <p:cNvPr id="481340" name="Rectangle 60"/>
              <p:cNvSpPr>
                <a:spLocks noChangeArrowheads="1"/>
              </p:cNvSpPr>
              <p:nvPr/>
            </p:nvSpPr>
            <p:spPr bwMode="auto">
              <a:xfrm>
                <a:off x="1682" y="3165"/>
                <a:ext cx="286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Yes</a:t>
                </a:r>
              </a:p>
            </p:txBody>
          </p:sp>
          <p:sp>
            <p:nvSpPr>
              <p:cNvPr id="481301" name="Oval 21"/>
              <p:cNvSpPr>
                <a:spLocks noChangeArrowheads="1"/>
              </p:cNvSpPr>
              <p:nvPr/>
            </p:nvSpPr>
            <p:spPr bwMode="auto">
              <a:xfrm>
                <a:off x="3460" y="3992"/>
                <a:ext cx="168" cy="16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1350" name="Freeform 70"/>
              <p:cNvSpPr>
                <a:spLocks/>
              </p:cNvSpPr>
              <p:nvPr/>
            </p:nvSpPr>
            <p:spPr bwMode="auto">
              <a:xfrm>
                <a:off x="1824" y="3308"/>
                <a:ext cx="1216" cy="68"/>
              </a:xfrm>
              <a:custGeom>
                <a:avLst/>
                <a:gdLst>
                  <a:gd name="T0" fmla="*/ 1216 w 1216"/>
                  <a:gd name="T1" fmla="*/ 68 h 68"/>
                  <a:gd name="T2" fmla="*/ 0 w 1216"/>
                  <a:gd name="T3" fmla="*/ 68 h 68"/>
                  <a:gd name="T4" fmla="*/ 0 w 1216"/>
                  <a:gd name="T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16" h="68">
                    <a:moveTo>
                      <a:pt x="1216" y="68"/>
                    </a:moveTo>
                    <a:lnTo>
                      <a:pt x="0" y="68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triangl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1351" name="Line 71"/>
              <p:cNvSpPr>
                <a:spLocks noChangeShapeType="1"/>
              </p:cNvSpPr>
              <p:nvPr/>
            </p:nvSpPr>
            <p:spPr bwMode="auto">
              <a:xfrm>
                <a:off x="2516" y="3320"/>
                <a:ext cx="0" cy="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1378" name="Text Box 98"/>
            <p:cNvSpPr txBox="1">
              <a:spLocks noChangeArrowheads="1"/>
            </p:cNvSpPr>
            <p:nvPr/>
          </p:nvSpPr>
          <p:spPr bwMode="auto">
            <a:xfrm>
              <a:off x="3445" y="3982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481379" name="Text Box 99"/>
            <p:cNvSpPr txBox="1">
              <a:spLocks noChangeArrowheads="1"/>
            </p:cNvSpPr>
            <p:nvPr/>
          </p:nvSpPr>
          <p:spPr bwMode="auto">
            <a:xfrm>
              <a:off x="3445" y="3514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481384" name="Group 104"/>
          <p:cNvGrpSpPr>
            <a:grpSpLocks/>
          </p:cNvGrpSpPr>
          <p:nvPr/>
        </p:nvGrpSpPr>
        <p:grpSpPr bwMode="auto">
          <a:xfrm>
            <a:off x="3816350" y="2817813"/>
            <a:ext cx="2438400" cy="2273300"/>
            <a:chOff x="1444" y="1775"/>
            <a:chExt cx="1536" cy="1432"/>
          </a:xfrm>
        </p:grpSpPr>
        <p:grpSp>
          <p:nvGrpSpPr>
            <p:cNvPr id="481373" name="Group 93"/>
            <p:cNvGrpSpPr>
              <a:grpSpLocks/>
            </p:cNvGrpSpPr>
            <p:nvPr/>
          </p:nvGrpSpPr>
          <p:grpSpPr bwMode="auto">
            <a:xfrm>
              <a:off x="1444" y="1775"/>
              <a:ext cx="1536" cy="1425"/>
              <a:chOff x="1444" y="1775"/>
              <a:chExt cx="1536" cy="1425"/>
            </a:xfrm>
          </p:grpSpPr>
          <p:sp>
            <p:nvSpPr>
              <p:cNvPr id="481304" name="Oval 24"/>
              <p:cNvSpPr>
                <a:spLocks noChangeArrowheads="1"/>
              </p:cNvSpPr>
              <p:nvPr/>
            </p:nvSpPr>
            <p:spPr bwMode="auto">
              <a:xfrm>
                <a:off x="1739" y="3032"/>
                <a:ext cx="168" cy="16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b="1" i="1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81371" name="Group 91"/>
              <p:cNvGrpSpPr>
                <a:grpSpLocks/>
              </p:cNvGrpSpPr>
              <p:nvPr/>
            </p:nvGrpSpPr>
            <p:grpSpPr bwMode="auto">
              <a:xfrm>
                <a:off x="1444" y="1775"/>
                <a:ext cx="1536" cy="1425"/>
                <a:chOff x="1444" y="1775"/>
                <a:chExt cx="1536" cy="1425"/>
              </a:xfrm>
            </p:grpSpPr>
            <p:sp>
              <p:nvSpPr>
                <p:cNvPr id="481333" name="Line 53"/>
                <p:cNvSpPr>
                  <a:spLocks noChangeShapeType="1"/>
                </p:cNvSpPr>
                <p:nvPr/>
              </p:nvSpPr>
              <p:spPr bwMode="auto">
                <a:xfrm>
                  <a:off x="1824" y="2096"/>
                  <a:ext cx="0" cy="9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b="1" i="1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481354" name="Group 74"/>
                <p:cNvGrpSpPr>
                  <a:grpSpLocks/>
                </p:cNvGrpSpPr>
                <p:nvPr/>
              </p:nvGrpSpPr>
              <p:grpSpPr bwMode="auto">
                <a:xfrm>
                  <a:off x="1444" y="1775"/>
                  <a:ext cx="1536" cy="1425"/>
                  <a:chOff x="1404" y="1775"/>
                  <a:chExt cx="1536" cy="1425"/>
                </a:xfrm>
              </p:grpSpPr>
              <p:sp>
                <p:nvSpPr>
                  <p:cNvPr id="481334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2472" y="1976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b="1" i="1">
                      <a:solidFill>
                        <a:srgbClr val="000000"/>
                      </a:solidFill>
                    </a:endParaRPr>
                  </a:p>
                </p:txBody>
              </p:sp>
              <p:grpSp>
                <p:nvGrpSpPr>
                  <p:cNvPr id="481323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1404" y="2124"/>
                    <a:ext cx="760" cy="428"/>
                    <a:chOff x="1404" y="2124"/>
                    <a:chExt cx="760" cy="428"/>
                  </a:xfrm>
                </p:grpSpPr>
                <p:sp>
                  <p:nvSpPr>
                    <p:cNvPr id="481318" name="AutoShape 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04" y="2124"/>
                      <a:ext cx="760" cy="428"/>
                    </a:xfrm>
                    <a:prstGeom prst="diamond">
                      <a:avLst/>
                    </a:prstGeom>
                    <a:solidFill>
                      <a:schemeClr val="bg2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400" b="1" i="1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81290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78" y="2219"/>
                      <a:ext cx="602" cy="2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algn="ctr" eaLnBrk="0" fontAlgn="base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 i="1">
                          <a:solidFill>
                            <a:srgbClr val="F7FBFF"/>
                          </a:solidFill>
                        </a:rPr>
                        <a:t>Standard request</a:t>
                      </a:r>
                    </a:p>
                  </p:txBody>
                </p:sp>
              </p:grpSp>
              <p:grpSp>
                <p:nvGrpSpPr>
                  <p:cNvPr id="481324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2022" y="1775"/>
                    <a:ext cx="896" cy="254"/>
                    <a:chOff x="2022" y="1787"/>
                    <a:chExt cx="896" cy="254"/>
                  </a:xfrm>
                </p:grpSpPr>
                <p:sp>
                  <p:nvSpPr>
                    <p:cNvPr id="481312" name="Oval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22" y="1788"/>
                      <a:ext cx="896" cy="24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400" b="1" i="1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81291" name="Rectangl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50" y="1787"/>
                      <a:ext cx="639" cy="2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algn="ctr" eaLnBrk="0" fontAlgn="base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</a:rPr>
                        <a:t>Determine specifics</a:t>
                      </a:r>
                    </a:p>
                  </p:txBody>
                </p:sp>
              </p:grpSp>
              <p:sp>
                <p:nvSpPr>
                  <p:cNvPr id="481305" name="Oval 25"/>
                  <p:cNvSpPr>
                    <a:spLocks noChangeArrowheads="1"/>
                  </p:cNvSpPr>
                  <p:nvPr/>
                </p:nvSpPr>
                <p:spPr bwMode="auto">
                  <a:xfrm>
                    <a:off x="2386" y="3032"/>
                    <a:ext cx="168" cy="168"/>
                  </a:xfrm>
                  <a:prstGeom prst="ellipse">
                    <a:avLst/>
                  </a:prstGeom>
                  <a:solidFill>
                    <a:schemeClr val="fol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b="1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1336" name="Freeform 56"/>
                  <p:cNvSpPr>
                    <a:spLocks/>
                  </p:cNvSpPr>
                  <p:nvPr/>
                </p:nvSpPr>
                <p:spPr bwMode="auto">
                  <a:xfrm>
                    <a:off x="1776" y="1904"/>
                    <a:ext cx="236" cy="68"/>
                  </a:xfrm>
                  <a:custGeom>
                    <a:avLst/>
                    <a:gdLst>
                      <a:gd name="T0" fmla="*/ 0 w 236"/>
                      <a:gd name="T1" fmla="*/ 68 h 68"/>
                      <a:gd name="T2" fmla="*/ 0 w 236"/>
                      <a:gd name="T3" fmla="*/ 0 h 68"/>
                      <a:gd name="T4" fmla="*/ 236 w 236"/>
                      <a:gd name="T5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36" h="68">
                        <a:moveTo>
                          <a:pt x="0" y="68"/>
                        </a:moveTo>
                        <a:lnTo>
                          <a:pt x="0" y="0"/>
                        </a:lnTo>
                        <a:lnTo>
                          <a:pt x="236" y="0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round/>
                    <a:headEnd/>
                    <a:tailEnd type="triangl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b="1" i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81337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1658" y="1953"/>
                    <a:ext cx="244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1" i="1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</a:rPr>
                      <a:t>No</a:t>
                    </a:r>
                  </a:p>
                </p:txBody>
              </p:sp>
              <p:sp>
                <p:nvSpPr>
                  <p:cNvPr id="481348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2468" y="2800"/>
                    <a:ext cx="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b="1" i="1">
                      <a:solidFill>
                        <a:srgbClr val="000000"/>
                      </a:solidFill>
                    </a:endParaRPr>
                  </a:p>
                </p:txBody>
              </p:sp>
              <p:grpSp>
                <p:nvGrpSpPr>
                  <p:cNvPr id="481325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2000" y="2220"/>
                    <a:ext cx="940" cy="736"/>
                    <a:chOff x="2000" y="2220"/>
                    <a:chExt cx="940" cy="736"/>
                  </a:xfrm>
                </p:grpSpPr>
                <p:sp>
                  <p:nvSpPr>
                    <p:cNvPr id="481319" name="AutoShap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00" y="2220"/>
                      <a:ext cx="940" cy="736"/>
                    </a:xfrm>
                    <a:prstGeom prst="diamond">
                      <a:avLst/>
                    </a:prstGeom>
                    <a:solidFill>
                      <a:schemeClr val="bg2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2400" b="1" i="1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81292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54" y="2283"/>
                      <a:ext cx="831" cy="54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 algn="ctr" eaLnBrk="0" fontAlgn="base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 i="1">
                          <a:solidFill>
                            <a:srgbClr val="F7FBFF"/>
                          </a:solidFill>
                        </a:rPr>
                        <a:t>Can</a:t>
                      </a:r>
                      <a:br>
                        <a:rPr lang="en-US" sz="1200" b="1" i="1">
                          <a:solidFill>
                            <a:srgbClr val="F7FBFF"/>
                          </a:solidFill>
                        </a:rPr>
                      </a:br>
                      <a:r>
                        <a:rPr lang="en-US" sz="1200" b="1" i="1">
                          <a:solidFill>
                            <a:srgbClr val="F7FBFF"/>
                          </a:solidFill>
                        </a:rPr>
                        <a:t>service be</a:t>
                      </a:r>
                      <a:br>
                        <a:rPr lang="en-US" sz="1200" b="1" i="1">
                          <a:solidFill>
                            <a:srgbClr val="F7FBFF"/>
                          </a:solidFill>
                        </a:rPr>
                      </a:br>
                      <a:r>
                        <a:rPr lang="en-US" sz="1200" b="1" i="1">
                          <a:solidFill>
                            <a:srgbClr val="F7FBFF"/>
                          </a:solidFill>
                        </a:rPr>
                        <a:t>done and does customer approve?</a:t>
                      </a:r>
                    </a:p>
                  </p:txBody>
                </p:sp>
              </p:grpSp>
            </p:grpSp>
          </p:grpSp>
        </p:grpSp>
        <p:sp>
          <p:nvSpPr>
            <p:cNvPr id="481376" name="Text Box 96"/>
            <p:cNvSpPr txBox="1">
              <a:spLocks noChangeArrowheads="1"/>
            </p:cNvSpPr>
            <p:nvPr/>
          </p:nvSpPr>
          <p:spPr bwMode="auto">
            <a:xfrm>
              <a:off x="1724" y="3015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481380" name="Text Box 100"/>
            <p:cNvSpPr txBox="1">
              <a:spLocks noChangeArrowheads="1"/>
            </p:cNvSpPr>
            <p:nvPr/>
          </p:nvSpPr>
          <p:spPr bwMode="auto">
            <a:xfrm>
              <a:off x="2414" y="3015"/>
              <a:ext cx="1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05309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48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48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48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1000"/>
                                        <p:tgtEl>
                                          <p:spTgt spid="48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0" dur="1000"/>
                                        <p:tgtEl>
                                          <p:spTgt spid="48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1000"/>
                                        <p:tgtEl>
                                          <p:spTgt spid="48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60" grpId="0" autoUpdateAnimBg="0"/>
      <p:bldP spid="481369" grpId="0" autoUpdateAnimBg="0"/>
    </p:bld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11</TotalTime>
  <Words>71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Corbel</vt:lpstr>
      <vt:lpstr>Wingdings 2</vt:lpstr>
      <vt:lpstr>Frame</vt:lpstr>
      <vt:lpstr>Service Flowchart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2016-08-15T05:00:17Z</dcterms:created>
  <dcterms:modified xsi:type="dcterms:W3CDTF">2016-08-17T05:14:05Z</dcterms:modified>
</cp:coreProperties>
</file>