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03A3E-73BB-4872-AA86-3F85737AC0F8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3C9519-9998-40C9-9F89-6F7E165ECB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86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9050" tIns="0" rIns="19050" bIns="0" anchor="b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5542" name="Rectangle 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93700" y="692150"/>
            <a:ext cx="6070600" cy="3416300"/>
          </a:xfrm>
          <a:prstGeom prst="rect">
            <a:avLst/>
          </a:prstGeom>
          <a:noFill/>
          <a:ln w="12700" cap="flat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554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3322638"/>
            <a:ext cx="5867400" cy="513556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488" tIns="44450" rIns="90488" bIns="4445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08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113327"/>
      </p:ext>
    </p:extLst>
  </p:cSld>
  <p:clrMapOvr>
    <a:masterClrMapping/>
  </p:clrMapOvr>
  <p:transition>
    <p:strip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825685"/>
      </p:ext>
    </p:extLst>
  </p:cSld>
  <p:clrMapOvr>
    <a:masterClrMapping/>
  </p:clrMapOvr>
  <p:transition>
    <p:strip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58069677"/>
      </p:ext>
    </p:extLst>
  </p:cSld>
  <p:clrMapOvr>
    <a:masterClrMapping/>
  </p:clrMapOvr>
  <p:transition>
    <p:strip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524000"/>
            <a:ext cx="56388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524000"/>
            <a:ext cx="5638800" cy="4800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451571"/>
      </p:ext>
    </p:extLst>
  </p:cSld>
  <p:clrMapOvr>
    <a:masterClrMapping/>
  </p:clrMapOvr>
  <p:transition>
    <p:strip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467454"/>
      </p:ext>
    </p:extLst>
  </p:cSld>
  <p:clrMapOvr>
    <a:masterClrMapping/>
  </p:clrMapOvr>
  <p:transition>
    <p:strip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175931"/>
      </p:ext>
    </p:extLst>
  </p:cSld>
  <p:clrMapOvr>
    <a:masterClrMapping/>
  </p:clrMapOvr>
  <p:transition>
    <p:strip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077005"/>
      </p:ext>
    </p:extLst>
  </p:cSld>
  <p:clrMapOvr>
    <a:masterClrMapping/>
  </p:clrMapOvr>
  <p:transition>
    <p:strip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1347603"/>
      </p:ext>
    </p:extLst>
  </p:cSld>
  <p:clrMapOvr>
    <a:masterClrMapping/>
  </p:clrMapOvr>
  <p:transition>
    <p:strip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88270351"/>
      </p:ext>
    </p:extLst>
  </p:cSld>
  <p:clrMapOvr>
    <a:masterClrMapping/>
  </p:clrMapOvr>
  <p:transition>
    <p:strip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949641"/>
      </p:ext>
    </p:extLst>
  </p:cSld>
  <p:clrMapOvr>
    <a:masterClrMapping/>
  </p:clrMapOvr>
  <p:transition>
    <p:strip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25467" y="533400"/>
            <a:ext cx="2927351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9184" y="533400"/>
            <a:ext cx="8583083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92686"/>
      </p:ext>
    </p:extLst>
  </p:cSld>
  <p:clrMapOvr>
    <a:masterClrMapping/>
  </p:clrMapOvr>
  <p:transition>
    <p:strips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C:\My Documents\Chase preview\Support files\background2 copy.jp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7650"/>
            <a:ext cx="12192000" cy="638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-78317" y="-84138"/>
            <a:ext cx="6256868" cy="42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0"/>
              </a:spcAft>
              <a:buClr>
                <a:srgbClr val="063DE8"/>
              </a:buClr>
              <a:buSzPct val="75000"/>
            </a:pPr>
            <a:r>
              <a:rPr lang="en-US" sz="2400">
                <a:solidFill>
                  <a:srgbClr val="660033"/>
                </a:solidFill>
                <a:latin typeface="Times New Roman" panose="02020603050405020304" pitchFamily="18" charset="0"/>
              </a:rPr>
              <a:t>Operations Management</a:t>
            </a:r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4064000" y="0"/>
            <a:ext cx="4777317" cy="313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0"/>
              </a:spcAft>
              <a:buClr>
                <a:srgbClr val="063DE8"/>
              </a:buClr>
              <a:buSzPct val="75000"/>
            </a:pPr>
            <a:r>
              <a:rPr lang="en-US" sz="1600">
                <a:solidFill>
                  <a:srgbClr val="660033"/>
                </a:solidFill>
                <a:latin typeface="Times New Roman" panose="02020603050405020304" pitchFamily="18" charset="0"/>
              </a:rPr>
              <a:t>For Competitive Advantage</a:t>
            </a:r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239185" y="533400"/>
            <a:ext cx="11713633" cy="749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74758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6400" y="1524000"/>
            <a:ext cx="114808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74759" name="Rectangle 7"/>
          <p:cNvSpPr>
            <a:spLocks noChangeArrowheads="1"/>
          </p:cNvSpPr>
          <p:nvPr/>
        </p:nvSpPr>
        <p:spPr bwMode="auto">
          <a:xfrm>
            <a:off x="8894234" y="6669088"/>
            <a:ext cx="4161367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660033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©"/>
            </a:pPr>
            <a:r>
              <a:rPr lang="en-US" sz="1000" b="1" i="1">
                <a:solidFill>
                  <a:srgbClr val="660033"/>
                </a:solidFill>
                <a:latin typeface="Book Antiqua" panose="02040602050305030304" pitchFamily="18" charset="0"/>
              </a:rPr>
              <a:t>The McGraw-Hill Companies, Inc., 2001</a:t>
            </a:r>
          </a:p>
        </p:txBody>
      </p:sp>
      <p:sp>
        <p:nvSpPr>
          <p:cNvPr id="74760" name="Text Box 8"/>
          <p:cNvSpPr txBox="1">
            <a:spLocks noChangeArrowheads="1"/>
          </p:cNvSpPr>
          <p:nvPr/>
        </p:nvSpPr>
        <p:spPr bwMode="auto">
          <a:xfrm>
            <a:off x="3962400" y="6586538"/>
            <a:ext cx="3217612" cy="341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0"/>
              </a:spcAft>
              <a:buClr>
                <a:srgbClr val="063DE8"/>
              </a:buClr>
              <a:buSzPct val="75000"/>
            </a:pPr>
            <a:r>
              <a:rPr lang="en-US" sz="1800">
                <a:solidFill>
                  <a:srgbClr val="008000"/>
                </a:solidFill>
                <a:latin typeface="Times New Roman" panose="02020603050405020304" pitchFamily="18" charset="0"/>
              </a:rPr>
              <a:t>C</a:t>
            </a:r>
            <a:r>
              <a:rPr lang="en-US" sz="1400">
                <a:solidFill>
                  <a:srgbClr val="008000"/>
                </a:solidFill>
                <a:latin typeface="Times New Roman" panose="02020603050405020304" pitchFamily="18" charset="0"/>
              </a:rPr>
              <a:t>HASE</a:t>
            </a:r>
            <a:r>
              <a:rPr lang="en-US" sz="1800">
                <a:solidFill>
                  <a:srgbClr val="008000"/>
                </a:solidFill>
                <a:latin typeface="Times New Roman" panose="02020603050405020304" pitchFamily="18" charset="0"/>
              </a:rPr>
              <a:t>       A</a:t>
            </a:r>
            <a:r>
              <a:rPr lang="en-US" sz="1400">
                <a:solidFill>
                  <a:srgbClr val="008000"/>
                </a:solidFill>
                <a:latin typeface="Times New Roman" panose="02020603050405020304" pitchFamily="18" charset="0"/>
              </a:rPr>
              <a:t>QUILANO</a:t>
            </a:r>
            <a:r>
              <a:rPr lang="en-US" sz="1800">
                <a:solidFill>
                  <a:srgbClr val="008000"/>
                </a:solidFill>
                <a:latin typeface="Times New Roman" panose="02020603050405020304" pitchFamily="18" charset="0"/>
              </a:rPr>
              <a:t>      J</a:t>
            </a:r>
            <a:r>
              <a:rPr lang="en-US" sz="1400">
                <a:solidFill>
                  <a:srgbClr val="008000"/>
                </a:solidFill>
                <a:latin typeface="Times New Roman" panose="02020603050405020304" pitchFamily="18" charset="0"/>
              </a:rPr>
              <a:t>ACOBS</a:t>
            </a:r>
            <a:endParaRPr lang="en-US" sz="18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1" name="Text Box 9"/>
          <p:cNvSpPr txBox="1">
            <a:spLocks noChangeArrowheads="1"/>
          </p:cNvSpPr>
          <p:nvPr/>
        </p:nvSpPr>
        <p:spPr bwMode="auto">
          <a:xfrm>
            <a:off x="7289801" y="57150"/>
            <a:ext cx="835485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0"/>
              </a:spcAft>
              <a:buClr>
                <a:srgbClr val="063DE8"/>
              </a:buClr>
              <a:buSzPct val="75000"/>
            </a:pPr>
            <a:r>
              <a:rPr lang="en-US" sz="1000">
                <a:solidFill>
                  <a:srgbClr val="000000"/>
                </a:solidFill>
                <a:latin typeface="Times New Roman" panose="02020603050405020304" pitchFamily="18" charset="0"/>
              </a:rPr>
              <a:t>ninth edition</a:t>
            </a:r>
          </a:p>
        </p:txBody>
      </p:sp>
      <p:sp>
        <p:nvSpPr>
          <p:cNvPr id="74762" name="Line 10"/>
          <p:cNvSpPr>
            <a:spLocks noChangeShapeType="1"/>
          </p:cNvSpPr>
          <p:nvPr/>
        </p:nvSpPr>
        <p:spPr bwMode="auto">
          <a:xfrm>
            <a:off x="-508000" y="247650"/>
            <a:ext cx="13106400" cy="0"/>
          </a:xfrm>
          <a:prstGeom prst="line">
            <a:avLst/>
          </a:prstGeom>
          <a:noFill/>
          <a:ln w="28575">
            <a:solidFill>
              <a:srgbClr val="66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3" name="Line 11"/>
          <p:cNvSpPr>
            <a:spLocks noChangeShapeType="1"/>
          </p:cNvSpPr>
          <p:nvPr/>
        </p:nvSpPr>
        <p:spPr bwMode="auto">
          <a:xfrm>
            <a:off x="-584200" y="6629400"/>
            <a:ext cx="13106400" cy="0"/>
          </a:xfrm>
          <a:prstGeom prst="line">
            <a:avLst/>
          </a:prstGeom>
          <a:noFill/>
          <a:ln w="28575">
            <a:solidFill>
              <a:srgbClr val="66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74764" name="Object 12"/>
          <p:cNvGraphicFramePr>
            <a:graphicFrameLocks noChangeAspect="1"/>
          </p:cNvGraphicFramePr>
          <p:nvPr/>
        </p:nvGraphicFramePr>
        <p:xfrm>
          <a:off x="0" y="6650038"/>
          <a:ext cx="1016000" cy="20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Image" r:id="rId15" imgW="1308398" imgH="355681" progId="Photoshop.Image.5">
                  <p:embed/>
                </p:oleObj>
              </mc:Choice>
              <mc:Fallback>
                <p:oleObj name="Image" r:id="rId15" imgW="1308398" imgH="355681" progId="Photoshop.Image.5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650038"/>
                        <a:ext cx="1016000" cy="207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4765" name="Oval 13"/>
          <p:cNvSpPr>
            <a:spLocks noChangeArrowheads="1"/>
          </p:cNvSpPr>
          <p:nvPr/>
        </p:nvSpPr>
        <p:spPr bwMode="auto">
          <a:xfrm>
            <a:off x="5080001" y="6726238"/>
            <a:ext cx="99484" cy="74612"/>
          </a:xfrm>
          <a:prstGeom prst="ellipse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6" name="Oval 14"/>
          <p:cNvSpPr>
            <a:spLocks noChangeArrowheads="1"/>
          </p:cNvSpPr>
          <p:nvPr/>
        </p:nvSpPr>
        <p:spPr bwMode="auto">
          <a:xfrm>
            <a:off x="6927851" y="6726238"/>
            <a:ext cx="99483" cy="74612"/>
          </a:xfrm>
          <a:prstGeom prst="ellipse">
            <a:avLst/>
          </a:prstGeom>
          <a:solidFill>
            <a:srgbClr val="008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67" name="Text Box 15"/>
          <p:cNvSpPr txBox="1">
            <a:spLocks noChangeArrowheads="1"/>
          </p:cNvSpPr>
          <p:nvPr/>
        </p:nvSpPr>
        <p:spPr bwMode="auto">
          <a:xfrm>
            <a:off x="11671300" y="0"/>
            <a:ext cx="393056" cy="28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200000"/>
              </a:spcAft>
              <a:buClr>
                <a:srgbClr val="063DE8"/>
              </a:buClr>
              <a:buSzPct val="75000"/>
            </a:pPr>
            <a:fld id="{17ABC9EA-D7CB-4F31-93AB-3DE8D89E10AB}" type="slidenum">
              <a:rPr lang="en-US" sz="1400">
                <a:solidFill>
                  <a:srgbClr val="000000"/>
                </a:solidFill>
                <a:latin typeface="Times New Roman" panose="02020603050405020304" pitchFamily="18" charset="0"/>
              </a:rPr>
              <a:pPr eaLnBrk="0" fontAlgn="base" hangingPunct="0">
                <a:lnSpc>
                  <a:spcPct val="90000"/>
                </a:lnSpc>
                <a:spcBef>
                  <a:spcPct val="20000"/>
                </a:spcBef>
                <a:spcAft>
                  <a:spcPct val="200000"/>
                </a:spcAft>
                <a:buClr>
                  <a:srgbClr val="063DE8"/>
                </a:buClr>
                <a:buSzPct val="75000"/>
              </a:pPr>
              <a:t>‹#›</a:t>
            </a:fld>
            <a:endParaRPr lang="en-US" sz="1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23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strips/>
  </p:transition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rgbClr val="008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8000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660033"/>
        </a:buClr>
        <a:buSzPct val="75000"/>
        <a:buFont typeface="Symbol" panose="05050102010706020507" pitchFamily="18" charset="2"/>
        <a:buChar char="·"/>
        <a:defRPr sz="3200" kern="1200">
          <a:solidFill>
            <a:srgbClr val="660033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660033"/>
        </a:buClr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5850" indent="-228600" algn="l" rtl="0" fontAlgn="base">
        <a:spcBef>
          <a:spcPct val="20000"/>
        </a:spcBef>
        <a:spcAft>
          <a:spcPct val="0"/>
        </a:spcAft>
        <a:buClr>
          <a:srgbClr val="660033"/>
        </a:buClr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428750" indent="-228600" algn="l" rtl="0" fontAlgn="base">
        <a:spcBef>
          <a:spcPct val="20000"/>
        </a:spcBef>
        <a:spcAft>
          <a:spcPct val="0"/>
        </a:spcAft>
        <a:buClr>
          <a:srgbClr val="660033"/>
        </a:buClr>
        <a:buSzPct val="6200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771650" indent="-228600" algn="l" rtl="0" fontAlgn="base">
        <a:spcBef>
          <a:spcPct val="20000"/>
        </a:spcBef>
        <a:spcAft>
          <a:spcPct val="0"/>
        </a:spcAft>
        <a:buClr>
          <a:srgbClr val="660033"/>
        </a:buClr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26"/>
          <p:cNvSpPr>
            <a:spLocks noChangeArrowheads="1"/>
          </p:cNvSpPr>
          <p:nvPr/>
        </p:nvSpPr>
        <p:spPr bwMode="auto">
          <a:xfrm>
            <a:off x="8761413" y="6399213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 anchor="ctr"/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0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Rectangle 1027"/>
          <p:cNvSpPr>
            <a:spLocks noChangeArrowheads="1"/>
          </p:cNvSpPr>
          <p:nvPr/>
        </p:nvSpPr>
        <p:spPr bwMode="auto">
          <a:xfrm>
            <a:off x="4648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6" name="Rectangle 1028"/>
          <p:cNvSpPr>
            <a:spLocks noGrp="1" noChangeArrowheads="1"/>
          </p:cNvSpPr>
          <p:nvPr>
            <p:ph type="title"/>
          </p:nvPr>
        </p:nvSpPr>
        <p:spPr>
          <a:xfrm>
            <a:off x="1703389" y="533400"/>
            <a:ext cx="8785225" cy="990600"/>
          </a:xfrm>
          <a:noFill/>
          <a:ln/>
        </p:spPr>
        <p:txBody>
          <a:bodyPr/>
          <a:lstStyle/>
          <a:p>
            <a:pPr eaLnBrk="0" hangingPunct="0"/>
            <a:r>
              <a:rPr lang="en-US" b="1" dirty="0"/>
              <a:t>Example: Flowchart of Student Going to School</a:t>
            </a:r>
            <a:r>
              <a:rPr lang="en-US" dirty="0"/>
              <a:t> </a:t>
            </a:r>
          </a:p>
        </p:txBody>
      </p:sp>
      <p:sp>
        <p:nvSpPr>
          <p:cNvPr id="64525" name="AutoShape 1037"/>
          <p:cNvSpPr>
            <a:spLocks noChangeArrowheads="1"/>
          </p:cNvSpPr>
          <p:nvPr/>
        </p:nvSpPr>
        <p:spPr bwMode="auto">
          <a:xfrm>
            <a:off x="4572000" y="2667000"/>
            <a:ext cx="609600" cy="533400"/>
          </a:xfrm>
          <a:prstGeom prst="rightArrow">
            <a:avLst>
              <a:gd name="adj1" fmla="val 50000"/>
              <a:gd name="adj2" fmla="val 28571"/>
            </a:avLst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6" name="AutoShape 1038"/>
          <p:cNvSpPr>
            <a:spLocks noChangeArrowheads="1"/>
          </p:cNvSpPr>
          <p:nvPr/>
        </p:nvSpPr>
        <p:spPr bwMode="auto">
          <a:xfrm>
            <a:off x="2057400" y="1828800"/>
            <a:ext cx="2286000" cy="2209800"/>
          </a:xfrm>
          <a:prstGeom prst="flowChartDecision">
            <a:avLst/>
          </a:prstGeom>
          <a:solidFill>
            <a:schemeClr val="folHlink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8" name="Text Box 1040"/>
          <p:cNvSpPr txBox="1">
            <a:spLocks noChangeArrowheads="1"/>
          </p:cNvSpPr>
          <p:nvPr/>
        </p:nvSpPr>
        <p:spPr bwMode="auto">
          <a:xfrm>
            <a:off x="4419600" y="2133600"/>
            <a:ext cx="83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</a:rPr>
              <a:t>Yes</a:t>
            </a: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29" name="Text Box 1041"/>
          <p:cNvSpPr txBox="1">
            <a:spLocks noChangeArrowheads="1"/>
          </p:cNvSpPr>
          <p:nvPr/>
        </p:nvSpPr>
        <p:spPr bwMode="auto">
          <a:xfrm>
            <a:off x="2133600" y="4191000"/>
            <a:ext cx="76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</a:rPr>
              <a:t>No</a:t>
            </a: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0" name="AutoShape 1042"/>
          <p:cNvSpPr>
            <a:spLocks noChangeArrowheads="1"/>
          </p:cNvSpPr>
          <p:nvPr/>
        </p:nvSpPr>
        <p:spPr bwMode="auto">
          <a:xfrm>
            <a:off x="2971801" y="4267200"/>
            <a:ext cx="485775" cy="4572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1" name="Rectangle 1043"/>
          <p:cNvSpPr>
            <a:spLocks noChangeArrowheads="1"/>
          </p:cNvSpPr>
          <p:nvPr/>
        </p:nvSpPr>
        <p:spPr bwMode="auto">
          <a:xfrm>
            <a:off x="2514600" y="4800600"/>
            <a:ext cx="1371600" cy="1143000"/>
          </a:xfrm>
          <a:prstGeom prst="rect">
            <a:avLst/>
          </a:prstGeom>
          <a:solidFill>
            <a:srgbClr val="66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2" name="Text Box 1044"/>
          <p:cNvSpPr txBox="1">
            <a:spLocks noChangeArrowheads="1"/>
          </p:cNvSpPr>
          <p:nvPr/>
        </p:nvSpPr>
        <p:spPr bwMode="auto">
          <a:xfrm>
            <a:off x="2667000" y="4953001"/>
            <a:ext cx="1066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</a:rPr>
              <a:t>Goof off</a:t>
            </a:r>
          </a:p>
        </p:txBody>
      </p:sp>
      <p:sp>
        <p:nvSpPr>
          <p:cNvPr id="64534" name="Text Box 1046"/>
          <p:cNvSpPr txBox="1">
            <a:spLocks noChangeArrowheads="1"/>
          </p:cNvSpPr>
          <p:nvPr/>
        </p:nvSpPr>
        <p:spPr bwMode="auto">
          <a:xfrm>
            <a:off x="2438400" y="2209801"/>
            <a:ext cx="1447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</a:rPr>
              <a:t>Go to school today?</a:t>
            </a:r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6" name="Rectangle 1048"/>
          <p:cNvSpPr>
            <a:spLocks noChangeArrowheads="1"/>
          </p:cNvSpPr>
          <p:nvPr/>
        </p:nvSpPr>
        <p:spPr bwMode="auto">
          <a:xfrm>
            <a:off x="5257800" y="2209800"/>
            <a:ext cx="1524000" cy="1600200"/>
          </a:xfrm>
          <a:prstGeom prst="rect">
            <a:avLst/>
          </a:prstGeom>
          <a:solidFill>
            <a:srgbClr val="66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7" name="AutoShape 1049"/>
          <p:cNvSpPr>
            <a:spLocks noChangeArrowheads="1"/>
          </p:cNvSpPr>
          <p:nvPr/>
        </p:nvSpPr>
        <p:spPr bwMode="auto">
          <a:xfrm>
            <a:off x="7010400" y="2667000"/>
            <a:ext cx="609600" cy="533400"/>
          </a:xfrm>
          <a:prstGeom prst="rightArrow">
            <a:avLst>
              <a:gd name="adj1" fmla="val 50000"/>
              <a:gd name="adj2" fmla="val 28571"/>
            </a:avLst>
          </a:prstGeom>
          <a:solidFill>
            <a:schemeClr val="tx1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39" name="Rectangle 1051"/>
          <p:cNvSpPr>
            <a:spLocks noChangeArrowheads="1"/>
          </p:cNvSpPr>
          <p:nvPr/>
        </p:nvSpPr>
        <p:spPr bwMode="auto">
          <a:xfrm>
            <a:off x="7848600" y="2209800"/>
            <a:ext cx="1524000" cy="1600200"/>
          </a:xfrm>
          <a:prstGeom prst="rect">
            <a:avLst/>
          </a:prstGeom>
          <a:solidFill>
            <a:srgbClr val="66CCFF"/>
          </a:solidFill>
          <a:ln w="2857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40" name="Text Box 1052"/>
          <p:cNvSpPr txBox="1">
            <a:spLocks noChangeArrowheads="1"/>
          </p:cNvSpPr>
          <p:nvPr/>
        </p:nvSpPr>
        <p:spPr bwMode="auto">
          <a:xfrm>
            <a:off x="8001000" y="2438401"/>
            <a:ext cx="1295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>
                <a:solidFill>
                  <a:srgbClr val="000000"/>
                </a:solidFill>
              </a:rPr>
              <a:t>Walk to class</a:t>
            </a:r>
          </a:p>
        </p:txBody>
      </p:sp>
      <p:sp>
        <p:nvSpPr>
          <p:cNvPr id="64541" name="Text Box 1053"/>
          <p:cNvSpPr txBox="1">
            <a:spLocks noChangeArrowheads="1"/>
          </p:cNvSpPr>
          <p:nvPr/>
        </p:nvSpPr>
        <p:spPr bwMode="auto">
          <a:xfrm>
            <a:off x="5410200" y="2362201"/>
            <a:ext cx="1524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lang="en-US" sz="2400" dirty="0">
                <a:solidFill>
                  <a:srgbClr val="000000"/>
                </a:solidFill>
              </a:rPr>
              <a:t>Drive to school</a:t>
            </a:r>
          </a:p>
        </p:txBody>
      </p:sp>
    </p:spTree>
    <p:extLst>
      <p:ext uri="{BB962C8B-B14F-4D97-AF65-F5344CB8AC3E}">
        <p14:creationId xmlns:p14="http://schemas.microsoft.com/office/powerpoint/2010/main" val="957704620"/>
      </p:ext>
    </p:extLst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5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45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4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4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4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45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4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4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4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45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45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4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4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64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645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45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25" grpId="0" animBg="1" autoUpdateAnimBg="0"/>
      <p:bldP spid="64526" grpId="0" animBg="1"/>
      <p:bldP spid="64528" grpId="0" autoUpdateAnimBg="0"/>
      <p:bldP spid="64529" grpId="0" autoUpdateAnimBg="0"/>
      <p:bldP spid="64530" grpId="0" animBg="1"/>
      <p:bldP spid="64531" grpId="0" animBg="1"/>
      <p:bldP spid="64532" grpId="0" autoUpdateAnimBg="0"/>
      <p:bldP spid="64534" grpId="0" autoUpdateAnimBg="0"/>
      <p:bldP spid="64536" grpId="0" animBg="1"/>
      <p:bldP spid="64537" grpId="0" animBg="1" autoUpdateAnimBg="0"/>
      <p:bldP spid="64539" grpId="0" animBg="1"/>
      <p:bldP spid="64540" grpId="0" autoUpdateAnimBg="0"/>
      <p:bldP spid="64541" grpId="0" autoUpdateAnimBg="0"/>
    </p:bldLst>
  </p:timing>
</p:sld>
</file>

<file path=ppt/theme/theme1.xml><?xml version="1.0" encoding="utf-8"?>
<a:theme xmlns:a="http://schemas.openxmlformats.org/drawingml/2006/main" name="chase ppt">
  <a:themeElements>
    <a:clrScheme name="">
      <a:dk1>
        <a:srgbClr val="000000"/>
      </a:dk1>
      <a:lt1>
        <a:srgbClr val="FFFFFF"/>
      </a:lt1>
      <a:dk2>
        <a:srgbClr val="081D58"/>
      </a:dk2>
      <a:lt2>
        <a:srgbClr val="9234DB"/>
      </a:lt2>
      <a:accent1>
        <a:srgbClr val="FC0128"/>
      </a:accent1>
      <a:accent2>
        <a:srgbClr val="063DE8"/>
      </a:accent2>
      <a:accent3>
        <a:srgbClr val="FFFFFF"/>
      </a:accent3>
      <a:accent4>
        <a:srgbClr val="000000"/>
      </a:accent4>
      <a:accent5>
        <a:srgbClr val="FDAAAC"/>
      </a:accent5>
      <a:accent6>
        <a:srgbClr val="0536D2"/>
      </a:accent6>
      <a:hlink>
        <a:srgbClr val="00DFCA"/>
      </a:hlink>
      <a:folHlink>
        <a:srgbClr val="EAEC5E"/>
      </a:folHlink>
    </a:clrScheme>
    <a:fontScheme name="chase 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chase pp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se 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hase pp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se pp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se pp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se pp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hase pp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</Words>
  <Application>Microsoft Office PowerPoint</Application>
  <PresentationFormat>Widescreen</PresentationFormat>
  <Paragraphs>8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Book Antiqua</vt:lpstr>
      <vt:lpstr>Calibri</vt:lpstr>
      <vt:lpstr>Symbol</vt:lpstr>
      <vt:lpstr>Times New Roman</vt:lpstr>
      <vt:lpstr>chase ppt</vt:lpstr>
      <vt:lpstr>Image</vt:lpstr>
      <vt:lpstr>Example: Flowchart of Student Going to School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2016-08-15T03:52:03Z</dcterms:created>
  <dcterms:modified xsi:type="dcterms:W3CDTF">2016-08-17T01:37:34Z</dcterms:modified>
</cp:coreProperties>
</file>